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presentarme, lanzo una tarea real a tres agentes en Orca y los dejo corriendo en la pantalla de al lado. Vamos a volver a ellos más tarde. Hoy no vengo a contarles cómo usar agentes, sino cómo se construye el sistema donde trabajan.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 presento en 30 segundos: soy Rodrigo Torrico, Senior Software Engineer en Unosquare, siete años haciendo full-stack, construyo productos SaaS y mentoreo a otros devs. Todo lo que van a ver hoy lo uso en mi trabajo diario. Si quieren el material y más contenido sobre agentes: Instagram @tokidev.ai y GitHub @tokidev-ai.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 la sala: un equipo de OpenAI construyó un producto de casi un millón de líneas en cinco meses. ¿Cuántas escribieron a mano? Dejo que respondan. Cero. Eran tres personas y más de mil quinientos PRs. El trabajo humano no desapareció: se movió al entorno. Y la promesa: al final de la charla vas a saber exactamente qué hacer el lunes, y volvemos a esos tres agentes.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recorrido. Todo lo vamos a aplicar a un solo proyecto real (aquí cuento cuál es el mío). En cada parada el proyecto mejora algo visible. Y la última parada es la que más les importa: qué hacer el lunes.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2026 usar agentes dejó de ser ventaja: es el piso. Nueve de cada diez devs los usan cada semana y casi la mitad del código ya lo escribe un agente. Lo que diferencia ahora es qué tan bien está armado el sistema alrededor del agente. Verificar la cifra en la fuente original de JetBrains antes de presentar.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Casi nadie confía del todo en el código que genera la IA, pero solo la mitad lo revisa siempre antes de hacer commit. Esa brecha es el problema que vamos a resolver hoy: no con más desconfianza, sino con un sistema que verifique por nosotros. Broma posible: revisión del PR de mil líneas, LGTM.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interactivo: mano alzada. ¿Quién está en L0, autocompletado? ¿L1? ¿L2, un junior al que revisas línea por línea? ¿L3? Según Shapiro, cerca del 90% de quienes se dicen AI native está en L2 sin saberlo. Pregunta: ¿qué te impide subir uno? Casi siempre es contexto, verificación o confianza. Eso es lo que cubre el resto de la charla. En mi proyecto: le pedí una función, la hizo, pero a su manera. Funcionó, pero no era lo que quería.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mostrar el dato, la sala adivina: devs experimentados, en repos que conocen, con IA, ¿más rápidos o más lentos? Voto a mano alzada. Revelo: creían ser 20% más rápidos y fueron 19% más lentos. La lección no es que la IA frene: es que la percepción no es medición. Matiz honesto: el propio METR, en su seguimiento de febrero de 2026 con 57 devs y más de 800 tareas, dice que probablemente hoy hay más aceleración. No citar el 19% como hecho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DORA 2025: más del 80% reporta mejor productividad, pero varios análisis ven que la ganancia individual se diluye a nivel de equipo y la estabilidad puede empeorar. La IA es un amplificador. El cuello de botella se movió de escribir código a revisar y dar contexto. Para los estudiantes: ganan más velocidad bruta pero arriesgan su aprendizaje. Usen los agentes para entender, no solo para producir.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agente es un modelo dentro de un harness: todo lo que decide qué ve el modelo, qué herramientas usa, cómo recuerda, cómo se verifica su trabajo y qué tiene permitido hacer. Analogía: el arnés de un caballo, o el tablero de un auto. El término lo popularizó Mitchell Hashimoto y lo desarrolló OpenAI con el experimento de cero líneas.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capas que son la línea de tiempo de estos años. Prompt engineering: cómo redactas la petición. Context engineering: qué información ve el modelo. Harness engineering: cómo actúa y se corrige el agente. La lección central de OpenAI: cuando un agente falla, no es un problema de prompt; es una capacidad, un contexto o una estructura que falta en el entorno.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interactivo: que levante la mano quien le haya explicado lo mismo dos veces a un agente. Casi todos. Esta regla es harness engineering en una frase. En mi proyecto: el agente me preguntó por tercera vez cómo correr los tests. Lo escribí en AGENTS.md y dejó de preguntar.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modelo mental útil. Las guías actúan antes de que el agente actúe: AGENTS.md, skills, convenciones, documentos de diseño. Los sensores actúan durante o después: lint, tipos, tests, revisión por otro agente. Un buen harness tiene las dos cosas. Aquí va el fallo en vivo: muestro un caso preparado donde el agente cambia algo fuera de alcance y un test o una regla lo detecta.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AGENTS.md en la raíz del repo: qué es el proyecto, cómo correrlo, convenciones y decisiones ya tomadas. Funciona en Claude Code, Codex y la mayoría de agentes. La regla de Brockman: actualízalo cada vez que el agente falle. Cambiar el ejemplo por el AGENTS.md real de mi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construir un harness, paso a paso. Uno: AGENTS.md. Dos: repo legible para agentes, el conocimiento vive en el repo y no en tu cabeza. Tres: sensores rápidos que el agente corre solo antes de pedir revisión. Cuatro: que pueda ejecutar y observar la app. Cinco: un agente revisor, con la decisión final en un humano. Seis: itera el harness, no el prompt. Cada fallo repetido se convierte en una regla, un test o una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MD dan contexto, las skills dan habilidades. Una skill es una carpeta con un SKILL.md que dice qué hace y cuándo, más scripts, referencias y plantillas. Es un estándar abierto que funciona en varios agentes. Se cargan por divulgación progresiva: el agente lee solo nombre y descripción, unos 100 tokens, y abre el resto cuando la tarea coincide. Analogía: las recetas de una cocina. El cocinero sabe cocinar; la receta le dice cómo lo hace tu restaurante.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más recomendadas en los rankings de 2026. Superpowers, de obra: brainstorming, planes, TDD, revisión de código. systematic-debugging, que cambia el comportamiento más frustrante de los agentes. frontend-design de Anthropic, para evitar el look genérico. Las skills de documentos. Y la que más importa para esta charla: skill-creator y mcp-builder, la puerta de entrada a pasar de usuario a constructor. No pongo número de estrellas: varían muchísimo entre fuentes. Dato meta: estas diapositivas se hicieron con una skill (slizdeck).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elegir: que resuelva un fallo que ya viste repetirse, no uno hipotético; que tenga una descripción precisa de cuándo se activa; manejo de errores y criterio de terminado. Instala dos o tres: cada una compite por la atención del agente. Y léela antes de instalarla: es instrucción que tu agente ejecuta con tus permisos. Demo de 2 minutos: misma tarea en dos agentes, con y sin la skill. En mi proyecto: empaqueté mi forma de planear y revisar en una skill. Ahora lo hace como lo haría 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engineering: diseñar el sistema de retroalimentación que deja al agente planear, actuar, observar y corregirse hasta cumplir una meta, sin que dirijas cada turno. Cinco partes: meta verificable, acción, observación, decisión y parada, que siempre incluye un tope. Analogía del termostato: no le dices la temperatura cada minuto. Advertencia honesta: es una práctica emergente, aún no es un estándar. Un loop con contexto malo solo falla más rápido y más caro.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tipos que aparecen en las guías de 2026. El loop de meta, que itera hasta cumplir una condición verificable. El recurrente, que repite una tarea cada cierto tiempo. El de evaluador y optimizador: uno genera y otro critica. Fallo típico: los dos convergen en la misma respuesta equivocada, o el evaluador se vuelve más permisivo. Y el de monitoreo. Cuándo no usar un loop: si una sola llamada bien armada resuelve la tarea. Empieza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mínima de 3 minutos: un /goal con una meta verificable, por ejemplo que pasen los tests de un módulo, con tope de 3 iteraciones, y mostrar que se corta y por qué. La salida de la terminal es ilustrativa: ajustar a la sintaxis real del agente que use. Guardrails no negociables: topes, salida verificable por una máquina, sandbox y permisos mínimos porque todo lo que lee el agente es entrada no confiable, compuertas humanas antes de lo irreversible y trazas. En mi proyecto: trabajó mientras yo tomaba un café.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un solo agente trabajas en secuencia y esperas mucho. Con una flota, coordinas: tú defines, los agentes ejecutan en paralelo y los humanos deciden en las compuertas. Es el nivel 4 de Shapiro. Analogía: dirigir una orquesta. Y sí, la herramienta se llama Orca, de orquesta (chiste suave). Ahora volvemos a los tres agentes del inicio.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Orca es un ADE, Agent Development Environment, open source de Stably AI, licencia MIT, para macOS, Windows y Linux, con app móvil. Corre Claude Code, Codex, OpenCode, Gemini y cualquier agente de CLI, cada uno en su propio git worktree. No revende cómputo: usas tus propias suscripciones. También tiene SSH, navegador integrado y flujos con GitHub y 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Volvemos a los tres agentes que lancé al inicio. Momento de juego: la sala vota cuál va a ganar, A, B o C. Abro Orca, comparamos los diffs lado a lado y hacemos merge del mejor. Las barras de la diapositiva son ilustrativas: los nombres de los agentes se ajustan a los que se usen en vivo. Si algo falla, plan B: video grabado 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Orquestación de verdad: Orca trae una skill de orquestación. Defines el trabajo como un DAG de tareas con dependencias y estados; despachas cada tarea a un trabajador en una terminal; los trabajadores preguntan al coordinador y esperan respuesta; y las compuertas de decisión bloquean una tarea hasta que un humano la resuelve. Esto es loop engineering aplicado. Demo: disparo una compuerta y la respondo desde el teléfono con la app móvil. Antes de la charla: correr orca orchestration --help y confirmar si la versión usa run o run-create.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de equilibrio: orquestar no reemplaza revisar. Cuantos más agentes en paralelo, más importa el harness y las compuertas humanas. Kori aquí representa a quien recibe cinco PRs de mil líneas un viernes. En mi proyecto: pasé de programar a dirigir, pero sigo decidiendo. Otras opciones de pasada: Claude Squad, Warp, Composio, Symphony.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 tienes casi todo: los agentes son software y fallan como software. Lo nuevo es aceptar que la salida es probabilística y aprender a medirla. Nivel A: usuario avanzado. Nivel B: constructor de harness, diseñas el entorno donde trabajan los agentes de tu equipo. Nivel C: constructor de agentes como producto, con bucle, herramientas, memoria, evaluaciones y guardrails. Frameworks para elegir uno y construir: LangGraph, Claude Agent SDK, OpenAI Agents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de 90 días. Primer mes: sube un nivel como usuario. Segundo mes: construye tu harness. Tercer mes: construye un agente pequeño y completo con un framework, con evaluaciones y trazas, y publícalo como repositorio, servidor MCP o artículo. Para estudiantes: lo que pusiste en producción vale más que las credenciales.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prometido al inicio. Cada persona elige una de estas tres acciones y la dice en voz alta a quien tiene al lado, o la anota. Comprometerse en público sube la probabilidad de hacerlo.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ideas para llevarse: ubica tu nivel y sube uno; escribe el entorno antes que el código; deja de dirigir cada turno, diseña loops y orquesta, con un humano en las compuertas. Me encuentran en Instagram @tokidev.ai y en GitHub @tokidev-ai. Gracias, y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lizdeck-bg-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zdeck-bg-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825879" cy="6857829"/>
          </a:xfrm>
          <a:prstGeom prst="rect">
            <a:avLst/>
          </a:prstGeom>
        </p:spPr>
      </p:pic>
      <p:pic>
        <p:nvPicPr>
          <p:cNvPr id="3" name="Image 1" descr="Kori, mascota del Student Community Day">    </p:cNvPr>
          <p:cNvPicPr>
            <a:picLocks noChangeAspect="1"/>
          </p:cNvPicPr>
          <p:nvPr/>
        </p:nvPicPr>
        <p:blipFill>
          <a:blip r:embed="rId2"/>
          <a:stretch>
            <a:fillRect/>
          </a:stretch>
        </p:blipFill>
        <p:spPr>
          <a:xfrm>
            <a:off x="9842254" y="4941367"/>
            <a:ext cx="1460463" cy="1090982"/>
          </a:xfrm>
          <a:prstGeom prst="rect">
            <a:avLst/>
          </a:prstGeom>
        </p:spPr>
      </p:pic>
      <p:sp>
        <p:nvSpPr>
          <p:cNvPr id="4" name="Text 0"/>
          <p:cNvSpPr/>
          <p:nvPr/>
        </p:nvSpPr>
        <p:spPr>
          <a:xfrm>
            <a:off x="4286143" y="1835342"/>
            <a:ext cx="5067030"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FFFFFF">
                    <a:alpha val="90000"/>
                  </a:srgbClr>
                </a:solidFill>
                <a:latin typeface="Share Tech Mono" pitchFamily="34" charset="0"/>
                <a:ea typeface="Share Tech Mono" pitchFamily="34" charset="-122"/>
                <a:cs typeface="Share Tech Mono" pitchFamily="34" charset="-120"/>
              </a:rPr>
              <a:t>STUDENT COMMUNITY DAY · COCHABAMBA</a:t>
            </a:r>
            <a:endParaRPr lang="en-US" sz="1200" dirty="0"/>
          </a:p>
        </p:txBody>
      </p:sp>
      <p:sp>
        <p:nvSpPr>
          <p:cNvPr id="5" name="Text 1"/>
          <p:cNvSpPr/>
          <p:nvPr/>
        </p:nvSpPr>
        <p:spPr>
          <a:xfrm>
            <a:off x="4063898" y="2278688"/>
            <a:ext cx="7390580" cy="1734499"/>
          </a:xfrm>
          <a:prstGeom prst="rect">
            <a:avLst/>
          </a:prstGeom>
          <a:noFill/>
          <a:ln/>
        </p:spPr>
        <p:txBody>
          <a:bodyPr wrap="square" lIns="0" tIns="0" rIns="0" bIns="0" rtlCol="0" anchor="t"/>
          <a:lstStyle/>
          <a:p>
            <a:pPr algn="l" indent="0" marL="0">
              <a:lnSpc>
                <a:spcPts val="5510"/>
              </a:lnSpc>
              <a:buNone/>
            </a:pPr>
            <a:r>
              <a:rPr lang="en-US" sz="5400" spc="30" kern="0" dirty="0">
                <a:solidFill>
                  <a:srgbClr val="FFFFFF"/>
                </a:solidFill>
                <a:latin typeface="Anton" pitchFamily="34" charset="0"/>
                <a:ea typeface="Anton" pitchFamily="34" charset="-122"/>
                <a:cs typeface="Anton" pitchFamily="34" charset="-120"/>
              </a:rPr>
              <a:t>DE PROGRAMAR CON IA</a:t>
            </a:r>
            <a:endParaRPr lang="en-US" sz="5400" dirty="0"/>
          </a:p>
          <a:p>
            <a:pPr algn="l" indent="0" marL="0">
              <a:lnSpc>
                <a:spcPts val="5510"/>
              </a:lnSpc>
              <a:buNone/>
            </a:pPr>
            <a:r>
              <a:rPr lang="en-US" sz="5400" spc="30" kern="0" dirty="0">
                <a:solidFill>
                  <a:srgbClr val="FFFFFF"/>
                </a:solidFill>
                <a:latin typeface="Anton" pitchFamily="34" charset="0"/>
                <a:ea typeface="Anton" pitchFamily="34" charset="-122"/>
                <a:cs typeface="Anton" pitchFamily="34" charset="-120"/>
              </a:rPr>
              <a:t>A CONSTRUIR CON </a:t>
            </a:r>
            <a:r>
              <a:rPr lang="en-US" sz="5400" spc="30" kern="0" dirty="0">
                <a:solidFill>
                  <a:srgbClr val="FFFFFF"/>
                </a:solidFill>
                <a:latin typeface="Anton" pitchFamily="34" charset="0"/>
                <a:ea typeface="Anton" pitchFamily="34" charset="-122"/>
                <a:cs typeface="Anton" pitchFamily="34" charset="-120"/>
              </a:rPr>
              <a:t>AGENTES</a:t>
            </a:r>
            <a:endParaRPr lang="en-US" sz="5400" dirty="0"/>
          </a:p>
        </p:txBody>
      </p:sp>
      <p:sp>
        <p:nvSpPr>
          <p:cNvPr id="6" name="Text 2"/>
          <p:cNvSpPr/>
          <p:nvPr/>
        </p:nvSpPr>
        <p:spPr>
          <a:xfrm>
            <a:off x="4063898" y="3894675"/>
            <a:ext cx="6630520" cy="284473"/>
          </a:xfrm>
          <a:prstGeom prst="rect">
            <a:avLst/>
          </a:prstGeom>
          <a:noFill/>
          <a:ln/>
        </p:spPr>
        <p:txBody>
          <a:bodyPr wrap="none" lIns="0" tIns="0" rIns="0" bIns="0" rtlCol="0" anchor="t"/>
          <a:lstStyle/>
          <a:p>
            <a:pPr algn="l" indent="0" marL="0">
              <a:lnSpc>
                <a:spcPts val="2240"/>
              </a:lnSpc>
              <a:buNone/>
            </a:pPr>
            <a:r>
              <a:rPr lang="en-US" sz="1600" spc="100" kern="0" dirty="0">
                <a:solidFill>
                  <a:srgbClr val="C9D6EA"/>
                </a:solidFill>
                <a:latin typeface="Share Tech Mono" pitchFamily="34" charset="0"/>
                <a:ea typeface="Share Tech Mono" pitchFamily="34" charset="-122"/>
                <a:cs typeface="Share Tech Mono" pitchFamily="34" charset="-120"/>
              </a:rPr>
              <a:t>Harness · Skills · Loops · Orquestación con Orca</a:t>
            </a:r>
            <a:endParaRPr lang="en-US" sz="1600" dirty="0"/>
          </a:p>
        </p:txBody>
      </p:sp>
      <p:sp>
        <p:nvSpPr>
          <p:cNvPr id="7" name="Text 3"/>
          <p:cNvSpPr/>
          <p:nvPr/>
        </p:nvSpPr>
        <p:spPr>
          <a:xfrm>
            <a:off x="4063898" y="4461061"/>
            <a:ext cx="1932384" cy="266693"/>
          </a:xfrm>
          <a:prstGeom prst="rect">
            <a:avLst/>
          </a:prstGeom>
          <a:noFill/>
          <a:ln/>
        </p:spPr>
        <p:txBody>
          <a:bodyPr wrap="none" lIns="0" tIns="0" rIns="0" bIns="0" rtlCol="0" anchor="t"/>
          <a:lstStyle/>
          <a:p>
            <a:pPr algn="l" indent="0" marL="0">
              <a:lnSpc>
                <a:spcPts val="2100"/>
              </a:lnSpc>
              <a:buNone/>
            </a:pPr>
            <a:r>
              <a:rPr lang="en-US" sz="1500" b="1" spc="60" kern="0" dirty="0">
                <a:solidFill>
                  <a:srgbClr val="1FD3F5"/>
                </a:solidFill>
                <a:latin typeface="Share Tech Mono" pitchFamily="34" charset="0"/>
                <a:ea typeface="Share Tech Mono" pitchFamily="34" charset="-122"/>
                <a:cs typeface="Share Tech Mono" pitchFamily="34" charset="-120"/>
              </a:rPr>
              <a:t>10 OCTUBRE 2026</a:t>
            </a:r>
            <a:endParaRPr lang="en-US" sz="1500" dirty="0"/>
          </a:p>
        </p:txBody>
      </p:sp>
      <p:sp>
        <p:nvSpPr>
          <p:cNvPr id="8" name="Text 4"/>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9" name="Text 5"/>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FFFFFF">
                    <a:alpha val="60000"/>
                  </a:srgbClr>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80000"/>
                  </a:srgbClr>
                </a:solidFill>
                <a:latin typeface="Share Tech Mono" pitchFamily="34" charset="0"/>
                <a:ea typeface="Share Tech Mono" pitchFamily="34" charset="-122"/>
                <a:cs typeface="Share Tech Mono"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460463" y="1269968"/>
            <a:ext cx="3936902" cy="3936902"/>
          </a:xfrm>
          <a:prstGeom prst="roundRect">
            <a:avLst>
              <a:gd name="adj" fmla="val 8065"/>
            </a:avLst>
          </a:prstGeom>
          <a:solidFill>
            <a:srgbClr val="1FD3F5"/>
          </a:solidFill>
          <a:ln/>
        </p:spPr>
      </p:sp>
      <p:pic>
        <p:nvPicPr>
          <p:cNvPr id="3" name="Image 0" descr="Foto de Rodrigo Torrico">    </p:cNvPr>
          <p:cNvPicPr>
            <a:picLocks noChangeAspect="1"/>
          </p:cNvPicPr>
          <p:nvPr/>
        </p:nvPicPr>
        <p:blipFill>
          <a:blip r:embed="rId1"/>
          <a:stretch>
            <a:fillRect/>
          </a:stretch>
        </p:blipFill>
        <p:spPr>
          <a:xfrm>
            <a:off x="1536662" y="1346166"/>
            <a:ext cx="3784505" cy="3784505"/>
          </a:xfrm>
          <a:prstGeom prst="rect">
            <a:avLst/>
          </a:prstGeom>
        </p:spPr>
      </p:pic>
      <p:pic>
        <p:nvPicPr>
          <p:cNvPr id="4" name="Image 1" descr="Kori, mascota del Student Community Day">    </p:cNvPr>
          <p:cNvPicPr>
            <a:picLocks noChangeAspect="1"/>
          </p:cNvPicPr>
          <p:nvPr/>
        </p:nvPicPr>
        <p:blipFill>
          <a:blip r:embed="rId2"/>
          <a:stretch>
            <a:fillRect/>
          </a:stretch>
        </p:blipFill>
        <p:spPr>
          <a:xfrm>
            <a:off x="2730432" y="666733"/>
            <a:ext cx="1460463" cy="957536"/>
          </a:xfrm>
          <a:prstGeom prst="rect">
            <a:avLst/>
          </a:prstGeom>
        </p:spPr>
      </p:pic>
      <p:sp>
        <p:nvSpPr>
          <p:cNvPr id="5" name="Text 1"/>
          <p:cNvSpPr/>
          <p:nvPr/>
        </p:nvSpPr>
        <p:spPr>
          <a:xfrm>
            <a:off x="6318092" y="1248379"/>
            <a:ext cx="2131292"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QUIÉN TE HABLA</a:t>
            </a:r>
            <a:endParaRPr lang="en-US" sz="1200" dirty="0"/>
          </a:p>
        </p:txBody>
      </p:sp>
      <p:sp>
        <p:nvSpPr>
          <p:cNvPr id="6" name="Text 2"/>
          <p:cNvSpPr/>
          <p:nvPr/>
        </p:nvSpPr>
        <p:spPr>
          <a:xfrm>
            <a:off x="6095848" y="1695408"/>
            <a:ext cx="5297673" cy="1904952"/>
          </a:xfrm>
          <a:prstGeom prst="rect">
            <a:avLst/>
          </a:prstGeom>
          <a:noFill/>
          <a:ln/>
        </p:spPr>
        <p:txBody>
          <a:bodyPr wrap="square" lIns="0" tIns="0" rIns="0" bIns="0" rtlCol="0" anchor="t"/>
          <a:lstStyle/>
          <a:p>
            <a:pPr algn="l" indent="0" marL="0">
              <a:lnSpc>
                <a:spcPts val="6000"/>
              </a:lnSpc>
              <a:buNone/>
            </a:pPr>
            <a:r>
              <a:rPr lang="en-US" sz="6000" spc="30" kern="0" dirty="0">
                <a:solidFill>
                  <a:srgbClr val="FFFFFF"/>
                </a:solidFill>
                <a:latin typeface="Anton" pitchFamily="34" charset="0"/>
                <a:ea typeface="Anton" pitchFamily="34" charset="-122"/>
                <a:cs typeface="Anton" pitchFamily="34" charset="-120"/>
              </a:rPr>
              <a:t>RODRIGO</a:t>
            </a:r>
            <a:endParaRPr lang="en-US" sz="6000" dirty="0"/>
          </a:p>
          <a:p>
            <a:pPr algn="l" indent="0" marL="0">
              <a:lnSpc>
                <a:spcPts val="6000"/>
              </a:lnSpc>
              <a:buNone/>
            </a:pPr>
            <a:r>
              <a:rPr lang="en-US" sz="6000" spc="30" kern="0" dirty="0">
                <a:solidFill>
                  <a:srgbClr val="FFFFFF"/>
                </a:solidFill>
                <a:latin typeface="Anton" pitchFamily="34" charset="0"/>
                <a:ea typeface="Anton" pitchFamily="34" charset="-122"/>
                <a:cs typeface="Anton" pitchFamily="34" charset="-120"/>
              </a:rPr>
              <a:t>TORRICO</a:t>
            </a:r>
            <a:endParaRPr lang="en-US" sz="6000" dirty="0"/>
          </a:p>
        </p:txBody>
      </p:sp>
      <p:sp>
        <p:nvSpPr>
          <p:cNvPr id="7" name="Text 3"/>
          <p:cNvSpPr/>
          <p:nvPr/>
        </p:nvSpPr>
        <p:spPr>
          <a:xfrm>
            <a:off x="6095848" y="3406690"/>
            <a:ext cx="5297673" cy="914377"/>
          </a:xfrm>
          <a:prstGeom prst="rect">
            <a:avLst/>
          </a:prstGeom>
          <a:noFill/>
          <a:ln/>
        </p:spPr>
        <p:txBody>
          <a:bodyPr wrap="square" lIns="0" tIns="0" rIns="0" bIns="0" rtlCol="0" anchor="t"/>
          <a:lstStyle/>
          <a:p>
            <a:pPr algn="l" indent="0" marL="0">
              <a:lnSpc>
                <a:spcPts val="2400"/>
              </a:lnSpc>
              <a:buNone/>
            </a:pPr>
            <a:r>
              <a:rPr lang="en-US" sz="1600" dirty="0">
                <a:solidFill>
                  <a:srgbClr val="FFFFFF"/>
                </a:solidFill>
                <a:latin typeface="Arial" pitchFamily="34" charset="0"/>
                <a:ea typeface="Arial" pitchFamily="34" charset="-122"/>
                <a:cs typeface="Arial" pitchFamily="34" charset="-120"/>
              </a:rPr>
              <a:t>Senior Software Engineer · Unosquare</a:t>
            </a:r>
            <a:endParaRPr lang="en-US" sz="1600" dirty="0"/>
          </a:p>
          <a:p>
            <a:pPr algn="l" indent="0" marL="0">
              <a:lnSpc>
                <a:spcPts val="2400"/>
              </a:lnSpc>
              <a:buNone/>
            </a:pPr>
            <a:r>
              <a:rPr lang="en-US" sz="1600" dirty="0">
                <a:solidFill>
                  <a:srgbClr val="C9D6EA"/>
                </a:solidFill>
                <a:latin typeface="Arial" pitchFamily="34" charset="0"/>
                <a:ea typeface="Arial" pitchFamily="34" charset="-122"/>
                <a:cs typeface="Arial" pitchFamily="34" charset="-120"/>
              </a:rPr>
              <a:t>7 años full-stack · Founder SaaS</a:t>
            </a:r>
            <a:endParaRPr lang="en-US" sz="1600" dirty="0"/>
          </a:p>
          <a:p>
            <a:pPr algn="l" indent="0" marL="0">
              <a:lnSpc>
                <a:spcPts val="2400"/>
              </a:lnSpc>
              <a:buNone/>
            </a:pPr>
            <a:r>
              <a:rPr lang="en-US" sz="1600" dirty="0">
                <a:solidFill>
                  <a:srgbClr val="C9D6EA"/>
                </a:solidFill>
                <a:latin typeface="Arial" pitchFamily="34" charset="0"/>
                <a:ea typeface="Arial" pitchFamily="34" charset="-122"/>
                <a:cs typeface="Arial" pitchFamily="34" charset="-120"/>
              </a:rPr>
              <a:t>Mentor de otros devs</a:t>
            </a:r>
            <a:endParaRPr lang="en-US" sz="1600" dirty="0"/>
          </a:p>
        </p:txBody>
      </p:sp>
      <p:sp>
        <p:nvSpPr>
          <p:cNvPr id="8" name="Shape 4"/>
          <p:cNvSpPr/>
          <p:nvPr/>
        </p:nvSpPr>
        <p:spPr>
          <a:xfrm>
            <a:off x="6095848" y="4616335"/>
            <a:ext cx="1020836" cy="292093"/>
          </a:xfrm>
          <a:prstGeom prst="rect">
            <a:avLst/>
          </a:prstGeom>
          <a:ln w="6350">
            <a:solidFill>
              <a:srgbClr val="D2F21E"/>
            </a:solidFill>
            <a:prstDash val="solid"/>
          </a:ln>
        </p:spPr>
      </p:sp>
      <p:sp>
        <p:nvSpPr>
          <p:cNvPr id="9" name="Text 5"/>
          <p:cNvSpPr/>
          <p:nvPr/>
        </p:nvSpPr>
        <p:spPr>
          <a:xfrm>
            <a:off x="6131623" y="4678563"/>
            <a:ext cx="949285" cy="167636"/>
          </a:xfrm>
          <a:prstGeom prst="rect">
            <a:avLst/>
          </a:prstGeom>
          <a:noFill/>
          <a:ln/>
        </p:spPr>
        <p:txBody>
          <a:bodyPr wrap="none" lIns="0" tIns="0" rIns="0" bIns="0" rtlCol="0" anchor="t"/>
          <a:lstStyle/>
          <a:p>
            <a:pPr algn="ctr" indent="0" marL="0">
              <a:lnSpc>
                <a:spcPts val="1320"/>
              </a:lnSpc>
              <a:buNone/>
            </a:pPr>
            <a:r>
              <a:rPr lang="en-US" sz="1100" spc="90" kern="0" dirty="0">
                <a:solidFill>
                  <a:srgbClr val="D2F21E"/>
                </a:solidFill>
                <a:latin typeface="Share Tech Mono" pitchFamily="34" charset="0"/>
                <a:ea typeface="Share Tech Mono" pitchFamily="34" charset="-122"/>
                <a:cs typeface="Share Tech Mono" pitchFamily="34" charset="-120"/>
              </a:rPr>
              <a:t>Instagram</a:t>
            </a:r>
            <a:endParaRPr lang="en-US" sz="1100" dirty="0"/>
          </a:p>
        </p:txBody>
      </p:sp>
      <p:sp>
        <p:nvSpPr>
          <p:cNvPr id="10" name="Text 6"/>
          <p:cNvSpPr/>
          <p:nvPr/>
        </p:nvSpPr>
        <p:spPr>
          <a:xfrm>
            <a:off x="7256380" y="4609985"/>
            <a:ext cx="1766034" cy="304792"/>
          </a:xfrm>
          <a:prstGeom prst="rect">
            <a:avLst/>
          </a:prstGeom>
          <a:noFill/>
          <a:ln/>
        </p:spPr>
        <p:txBody>
          <a:bodyPr wrap="none" lIns="0" tIns="0" rIns="0" bIns="0" rtlCol="0" anchor="t"/>
          <a:lstStyle/>
          <a:p>
            <a:pPr algn="l" indent="0" marL="0">
              <a:lnSpc>
                <a:spcPts val="2400"/>
              </a:lnSpc>
              <a:buNone/>
            </a:pPr>
            <a:r>
              <a:rPr lang="en-US" sz="2000" dirty="0">
                <a:solidFill>
                  <a:srgbClr val="1FD3F5"/>
                </a:solidFill>
                <a:latin typeface="Share Tech Mono" pitchFamily="34" charset="0"/>
                <a:ea typeface="Share Tech Mono" pitchFamily="34" charset="-122"/>
                <a:cs typeface="Share Tech Mono" pitchFamily="34" charset="-120"/>
              </a:rPr>
              <a:t>@tokidev.ai</a:t>
            </a:r>
            <a:endParaRPr lang="en-US" sz="2000" dirty="0"/>
          </a:p>
        </p:txBody>
      </p:sp>
      <p:sp>
        <p:nvSpPr>
          <p:cNvPr id="11" name="Shape 7"/>
          <p:cNvSpPr/>
          <p:nvPr/>
        </p:nvSpPr>
        <p:spPr>
          <a:xfrm>
            <a:off x="6095848" y="5022724"/>
            <a:ext cx="952476" cy="292093"/>
          </a:xfrm>
          <a:prstGeom prst="rect">
            <a:avLst/>
          </a:prstGeom>
          <a:ln w="6350">
            <a:solidFill>
              <a:srgbClr val="20D3F5">
                <a:alpha val="50000"/>
              </a:srgbClr>
            </a:solidFill>
            <a:prstDash val="solid"/>
          </a:ln>
        </p:spPr>
      </p:sp>
      <p:sp>
        <p:nvSpPr>
          <p:cNvPr id="12" name="Text 8"/>
          <p:cNvSpPr/>
          <p:nvPr/>
        </p:nvSpPr>
        <p:spPr>
          <a:xfrm>
            <a:off x="6242958" y="5084953"/>
            <a:ext cx="658256" cy="167636"/>
          </a:xfrm>
          <a:prstGeom prst="rect">
            <a:avLst/>
          </a:prstGeom>
          <a:noFill/>
          <a:ln/>
        </p:spPr>
        <p:txBody>
          <a:bodyPr wrap="none" lIns="0" tIns="0" rIns="0" bIns="0" rtlCol="0" anchor="t"/>
          <a:lstStyle/>
          <a:p>
            <a:pPr algn="ctr"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GitHub</a:t>
            </a:r>
            <a:endParaRPr lang="en-US" sz="1100" dirty="0"/>
          </a:p>
        </p:txBody>
      </p:sp>
      <p:sp>
        <p:nvSpPr>
          <p:cNvPr id="13" name="Text 9"/>
          <p:cNvSpPr/>
          <p:nvPr/>
        </p:nvSpPr>
        <p:spPr>
          <a:xfrm>
            <a:off x="7188020" y="5016375"/>
            <a:ext cx="1766034" cy="304792"/>
          </a:xfrm>
          <a:prstGeom prst="rect">
            <a:avLst/>
          </a:prstGeom>
          <a:noFill/>
          <a:ln/>
        </p:spPr>
        <p:txBody>
          <a:bodyPr wrap="none" lIns="0" tIns="0" rIns="0" bIns="0" rtlCol="0" anchor="t"/>
          <a:lstStyle/>
          <a:p>
            <a:pPr algn="l" indent="0" marL="0">
              <a:lnSpc>
                <a:spcPts val="2400"/>
              </a:lnSpc>
              <a:buNone/>
            </a:pPr>
            <a:r>
              <a:rPr lang="en-US" sz="2000" dirty="0">
                <a:solidFill>
                  <a:srgbClr val="1FD3F5"/>
                </a:solidFill>
                <a:latin typeface="Share Tech Mono" pitchFamily="34" charset="0"/>
                <a:ea typeface="Share Tech Mono" pitchFamily="34" charset="-122"/>
                <a:cs typeface="Share Tech Mono" pitchFamily="34" charset="-120"/>
              </a:rPr>
              <a:t>@tokidev-ai</a:t>
            </a:r>
            <a:endParaRPr lang="en-US" sz="2000" dirty="0"/>
          </a:p>
        </p:txBody>
      </p:sp>
      <p:sp>
        <p:nvSpPr>
          <p:cNvPr id="14" name="Text 10"/>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15" name="Text 11"/>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8826279" y="3370079"/>
            <a:ext cx="2412940" cy="2471775"/>
          </a:xfrm>
          <a:prstGeom prst="rect">
            <a:avLst/>
          </a:prstGeom>
        </p:spPr>
      </p:pic>
      <p:sp>
        <p:nvSpPr>
          <p:cNvPr id="3" name="Text 0"/>
          <p:cNvSpPr/>
          <p:nvPr/>
        </p:nvSpPr>
        <p:spPr>
          <a:xfrm>
            <a:off x="1174721" y="784840"/>
            <a:ext cx="2424877"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ANTES DE EMPEZAR</a:t>
            </a:r>
            <a:endParaRPr lang="en-US" sz="1200" dirty="0"/>
          </a:p>
        </p:txBody>
      </p:sp>
      <p:sp>
        <p:nvSpPr>
          <p:cNvPr id="4" name="Text 1"/>
          <p:cNvSpPr/>
          <p:nvPr/>
        </p:nvSpPr>
        <p:spPr>
          <a:xfrm>
            <a:off x="952476" y="1231869"/>
            <a:ext cx="8502437" cy="1460463"/>
          </a:xfrm>
          <a:prstGeom prst="rect">
            <a:avLst/>
          </a:prstGeom>
          <a:noFill/>
          <a:ln/>
        </p:spPr>
        <p:txBody>
          <a:bodyPr wrap="squar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UN MILLÓN DE LÍNEAS. ¿CUÁNTAS A MANO?</a:t>
            </a:r>
            <a:endParaRPr lang="en-US" sz="4600" dirty="0"/>
          </a:p>
        </p:txBody>
      </p:sp>
      <p:sp>
        <p:nvSpPr>
          <p:cNvPr id="5" name="Text 2"/>
          <p:cNvSpPr/>
          <p:nvPr/>
        </p:nvSpPr>
        <p:spPr>
          <a:xfrm>
            <a:off x="952476" y="2705032"/>
            <a:ext cx="1130526" cy="2870128"/>
          </a:xfrm>
          <a:prstGeom prst="rect">
            <a:avLst/>
          </a:prstGeom>
          <a:noFill/>
          <a:ln/>
        </p:spPr>
        <p:txBody>
          <a:bodyPr wrap="none" lIns="0" tIns="0" rIns="0" bIns="0" rtlCol="0" anchor="t"/>
          <a:lstStyle/>
          <a:p>
            <a:pPr algn="l" indent="0" marL="0">
              <a:lnSpc>
                <a:spcPts val="15300"/>
              </a:lnSpc>
              <a:buNone/>
            </a:pPr>
            <a:r>
              <a:rPr lang="en-US" sz="15000" dirty="0">
                <a:solidFill>
                  <a:srgbClr val="D2F21E"/>
                </a:solidFill>
                <a:latin typeface="Anton" pitchFamily="34" charset="0"/>
                <a:ea typeface="Anton" pitchFamily="34" charset="-122"/>
                <a:cs typeface="Anton" pitchFamily="34" charset="-120"/>
              </a:rPr>
              <a:t>0</a:t>
            </a:r>
            <a:endParaRPr lang="en-US" sz="15000" dirty="0"/>
          </a:p>
        </p:txBody>
      </p:sp>
      <p:sp>
        <p:nvSpPr>
          <p:cNvPr id="6" name="Text 3"/>
          <p:cNvSpPr/>
          <p:nvPr/>
        </p:nvSpPr>
        <p:spPr>
          <a:xfrm>
            <a:off x="2401827" y="3710232"/>
            <a:ext cx="3982255" cy="260343"/>
          </a:xfrm>
          <a:prstGeom prst="rect">
            <a:avLst/>
          </a:prstGeom>
          <a:noFill/>
          <a:ln/>
        </p:spPr>
        <p:txBody>
          <a:bodyPr wrap="none" lIns="0" tIns="0" rIns="0" bIns="0" rtlCol="0" anchor="t"/>
          <a:lstStyle/>
          <a:p>
            <a:pPr algn="l" indent="0" marL="0">
              <a:lnSpc>
                <a:spcPts val="2040"/>
              </a:lnSpc>
              <a:buNone/>
            </a:pPr>
            <a:r>
              <a:rPr lang="en-US" sz="1700" dirty="0">
                <a:solidFill>
                  <a:srgbClr val="1FD3F5"/>
                </a:solidFill>
                <a:latin typeface="Share Tech Mono" pitchFamily="34" charset="0"/>
                <a:ea typeface="Share Tech Mono" pitchFamily="34" charset="-122"/>
                <a:cs typeface="Share Tech Mono" pitchFamily="34" charset="-120"/>
              </a:rPr>
              <a:t>3</a:t>
            </a:r>
            <a:r>
              <a:rPr lang="en-US" sz="1700" dirty="0">
                <a:solidFill>
                  <a:srgbClr val="FFFFFF"/>
                </a:solidFill>
                <a:latin typeface="Arial" pitchFamily="34" charset="0"/>
                <a:ea typeface="Arial" pitchFamily="34" charset="-122"/>
                <a:cs typeface="Arial" pitchFamily="34" charset="-120"/>
              </a:rPr>
              <a:t> personas · </a:t>
            </a:r>
            <a:r>
              <a:rPr lang="en-US" sz="1700" dirty="0">
                <a:solidFill>
                  <a:srgbClr val="1FD3F5"/>
                </a:solidFill>
                <a:latin typeface="Share Tech Mono" pitchFamily="34" charset="0"/>
                <a:ea typeface="Share Tech Mono" pitchFamily="34" charset="-122"/>
                <a:cs typeface="Share Tech Mono" pitchFamily="34" charset="-120"/>
              </a:rPr>
              <a:t>5</a:t>
            </a:r>
            <a:r>
              <a:rPr lang="en-US" sz="1700" dirty="0">
                <a:solidFill>
                  <a:srgbClr val="FFFFFF"/>
                </a:solidFill>
                <a:latin typeface="Arial" pitchFamily="34" charset="0"/>
                <a:ea typeface="Arial" pitchFamily="34" charset="-122"/>
                <a:cs typeface="Arial" pitchFamily="34" charset="-120"/>
              </a:rPr>
              <a:t> meses · </a:t>
            </a:r>
            <a:r>
              <a:rPr lang="en-US" sz="1700" dirty="0">
                <a:solidFill>
                  <a:srgbClr val="1FD3F5"/>
                </a:solidFill>
                <a:latin typeface="Share Tech Mono" pitchFamily="34" charset="0"/>
                <a:ea typeface="Share Tech Mono" pitchFamily="34" charset="-122"/>
                <a:cs typeface="Share Tech Mono" pitchFamily="34" charset="-120"/>
              </a:rPr>
              <a:t>+1.500</a:t>
            </a:r>
            <a:r>
              <a:rPr lang="en-US" sz="1700" dirty="0">
                <a:solidFill>
                  <a:srgbClr val="FFFFFF"/>
                </a:solidFill>
                <a:latin typeface="Arial" pitchFamily="34" charset="0"/>
                <a:ea typeface="Arial" pitchFamily="34" charset="-122"/>
                <a:cs typeface="Arial" pitchFamily="34" charset="-120"/>
              </a:rPr>
              <a:t> PRs</a:t>
            </a:r>
            <a:endParaRPr lang="en-US" sz="1700" dirty="0"/>
          </a:p>
        </p:txBody>
      </p:sp>
      <p:sp>
        <p:nvSpPr>
          <p:cNvPr id="7" name="Text 4"/>
          <p:cNvSpPr/>
          <p:nvPr/>
        </p:nvSpPr>
        <p:spPr>
          <a:xfrm>
            <a:off x="2401827" y="4259493"/>
            <a:ext cx="4369516" cy="195575"/>
          </a:xfrm>
          <a:prstGeom prst="rect">
            <a:avLst/>
          </a:prstGeom>
          <a:noFill/>
          <a:ln/>
        </p:spPr>
        <p:txBody>
          <a:bodyPr wrap="none" lIns="0" tIns="0" rIns="0" bIns="0" rtlCol="0" anchor="t"/>
          <a:lstStyle/>
          <a:p>
            <a:pPr algn="l" indent="0" marL="0">
              <a:lnSpc>
                <a:spcPts val="1540"/>
              </a:lnSpc>
              <a:buNone/>
            </a:pPr>
            <a:r>
              <a:rPr lang="en-US" sz="1100" spc="20" kern="0" dirty="0">
                <a:solidFill>
                  <a:srgbClr val="93A4C2"/>
                </a:solidFill>
                <a:latin typeface="Share Tech Mono" pitchFamily="34" charset="0"/>
                <a:ea typeface="Share Tech Mono" pitchFamily="34" charset="-122"/>
                <a:cs typeface="Share Tech Mono" pitchFamily="34" charset="-120"/>
              </a:rPr>
              <a:t>Fuente: OpenAI, Harness engineering, febrero 2026</a:t>
            </a:r>
            <a:endParaRPr lang="en-US" sz="1100" dirty="0"/>
          </a:p>
        </p:txBody>
      </p:sp>
      <p:sp>
        <p:nvSpPr>
          <p:cNvPr id="8" name="Text 5"/>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9" name="Text 6"/>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334267" y="698483"/>
            <a:ext cx="1904952" cy="2094654"/>
          </a:xfrm>
          <a:prstGeom prst="rect">
            <a:avLst/>
          </a:prstGeom>
        </p:spPr>
      </p:pic>
      <p:sp>
        <p:nvSpPr>
          <p:cNvPr id="3" name="Text 0"/>
          <p:cNvSpPr/>
          <p:nvPr/>
        </p:nvSpPr>
        <p:spPr>
          <a:xfrm>
            <a:off x="1174721" y="1559521"/>
            <a:ext cx="2278085"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EL VIAJE DE HOY</a:t>
            </a:r>
            <a:endParaRPr lang="en-US" sz="1200" dirty="0"/>
          </a:p>
        </p:txBody>
      </p:sp>
      <p:sp>
        <p:nvSpPr>
          <p:cNvPr id="4" name="Text 1"/>
          <p:cNvSpPr/>
          <p:nvPr/>
        </p:nvSpPr>
        <p:spPr>
          <a:xfrm>
            <a:off x="952476" y="2006550"/>
            <a:ext cx="7005669"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SEIS PARADAS, UN PROYECTO</a:t>
            </a:r>
            <a:endParaRPr lang="en-US" sz="4600" dirty="0"/>
          </a:p>
        </p:txBody>
      </p:sp>
      <p:sp>
        <p:nvSpPr>
          <p:cNvPr id="5" name="Shape 2"/>
          <p:cNvSpPr/>
          <p:nvPr/>
        </p:nvSpPr>
        <p:spPr>
          <a:xfrm>
            <a:off x="1587460" y="3403515"/>
            <a:ext cx="9016775" cy="50799"/>
          </a:xfrm>
          <a:prstGeom prst="rect">
            <a:avLst/>
          </a:prstGeom>
          <a:solidFill>
            <a:srgbClr val="1FD3F5">
              <a:alpha val="50000"/>
            </a:srgbClr>
          </a:solidFill>
          <a:ln/>
        </p:spPr>
      </p:sp>
      <p:sp>
        <p:nvSpPr>
          <p:cNvPr id="6" name="Shape 3"/>
          <p:cNvSpPr/>
          <p:nvPr/>
        </p:nvSpPr>
        <p:spPr>
          <a:xfrm>
            <a:off x="1295368" y="3149521"/>
            <a:ext cx="584185" cy="584185"/>
          </a:xfrm>
          <a:prstGeom prst="roundRect">
            <a:avLst>
              <a:gd name="adj" fmla="val 50000"/>
            </a:avLst>
          </a:prstGeom>
          <a:solidFill>
            <a:srgbClr val="06183A"/>
          </a:solidFill>
          <a:ln/>
        </p:spPr>
      </p:sp>
      <p:sp>
        <p:nvSpPr>
          <p:cNvPr id="7" name="Text 4"/>
          <p:cNvSpPr/>
          <p:nvPr/>
        </p:nvSpPr>
        <p:spPr>
          <a:xfrm>
            <a:off x="1477727" y="3319697"/>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01</a:t>
            </a:r>
            <a:endParaRPr lang="en-US" sz="1600" dirty="0"/>
          </a:p>
        </p:txBody>
      </p:sp>
      <p:sp>
        <p:nvSpPr>
          <p:cNvPr id="8" name="Text 5"/>
          <p:cNvSpPr/>
          <p:nvPr/>
        </p:nvSpPr>
        <p:spPr>
          <a:xfrm>
            <a:off x="933427" y="3861973"/>
            <a:ext cx="1308067" cy="431789"/>
          </a:xfrm>
          <a:prstGeom prst="rect">
            <a:avLst/>
          </a:prstGeom>
          <a:noFill/>
          <a:ln/>
        </p:spPr>
        <p:txBody>
          <a:bodyPr wrap="square" lIns="0" tIns="0" rIns="0" bIns="0" rtlCol="0" anchor="t"/>
          <a:lstStyle/>
          <a:p>
            <a:pPr algn="ctr" indent="0" marL="0">
              <a:lnSpc>
                <a:spcPts val="1680"/>
              </a:lnSpc>
              <a:buNone/>
            </a:pPr>
            <a:r>
              <a:rPr lang="en-US" sz="1400" dirty="0">
                <a:solidFill>
                  <a:srgbClr val="FFFFFF"/>
                </a:solidFill>
                <a:latin typeface="Arial" pitchFamily="34" charset="0"/>
                <a:ea typeface="Arial" pitchFamily="34" charset="-122"/>
                <a:cs typeface="Arial" pitchFamily="34" charset="-120"/>
              </a:rPr>
              <a:t>Dónde estamos</a:t>
            </a:r>
            <a:endParaRPr lang="en-US" sz="1400" dirty="0"/>
          </a:p>
        </p:txBody>
      </p:sp>
      <p:sp>
        <p:nvSpPr>
          <p:cNvPr id="9" name="Shape 6"/>
          <p:cNvSpPr/>
          <p:nvPr/>
        </p:nvSpPr>
        <p:spPr>
          <a:xfrm>
            <a:off x="3098723" y="3149521"/>
            <a:ext cx="584185" cy="584185"/>
          </a:xfrm>
          <a:prstGeom prst="roundRect">
            <a:avLst>
              <a:gd name="adj" fmla="val 50000"/>
            </a:avLst>
          </a:prstGeom>
          <a:solidFill>
            <a:srgbClr val="06183A"/>
          </a:solidFill>
          <a:ln/>
        </p:spPr>
      </p:sp>
      <p:sp>
        <p:nvSpPr>
          <p:cNvPr id="10" name="Text 7"/>
          <p:cNvSpPr/>
          <p:nvPr/>
        </p:nvSpPr>
        <p:spPr>
          <a:xfrm>
            <a:off x="3281082" y="3319697"/>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02</a:t>
            </a:r>
            <a:endParaRPr lang="en-US" sz="1600" dirty="0"/>
          </a:p>
        </p:txBody>
      </p:sp>
      <p:sp>
        <p:nvSpPr>
          <p:cNvPr id="11" name="Text 8"/>
          <p:cNvSpPr/>
          <p:nvPr/>
        </p:nvSpPr>
        <p:spPr>
          <a:xfrm>
            <a:off x="2961788" y="3861973"/>
            <a:ext cx="858054" cy="215895"/>
          </a:xfrm>
          <a:prstGeom prst="rect">
            <a:avLst/>
          </a:prstGeom>
          <a:noFill/>
          <a:ln/>
        </p:spPr>
        <p:txBody>
          <a:bodyPr wrap="none" lIns="0" tIns="0" rIns="0" bIns="0" rtlCol="0" anchor="t"/>
          <a:lstStyle/>
          <a:p>
            <a:pPr algn="ctr" indent="0" marL="0">
              <a:lnSpc>
                <a:spcPts val="1680"/>
              </a:lnSpc>
              <a:buNone/>
            </a:pPr>
            <a:r>
              <a:rPr lang="en-US" sz="1400" dirty="0">
                <a:solidFill>
                  <a:srgbClr val="FFFFFF"/>
                </a:solidFill>
                <a:latin typeface="Arial" pitchFamily="34" charset="0"/>
                <a:ea typeface="Arial" pitchFamily="34" charset="-122"/>
                <a:cs typeface="Arial" pitchFamily="34" charset="-120"/>
              </a:rPr>
              <a:t>Harness</a:t>
            </a:r>
            <a:endParaRPr lang="en-US" sz="1400" dirty="0"/>
          </a:p>
        </p:txBody>
      </p:sp>
      <p:sp>
        <p:nvSpPr>
          <p:cNvPr id="12" name="Shape 9"/>
          <p:cNvSpPr/>
          <p:nvPr/>
        </p:nvSpPr>
        <p:spPr>
          <a:xfrm>
            <a:off x="4902077" y="3149521"/>
            <a:ext cx="584185" cy="584185"/>
          </a:xfrm>
          <a:prstGeom prst="roundRect">
            <a:avLst>
              <a:gd name="adj" fmla="val 50000"/>
            </a:avLst>
          </a:prstGeom>
          <a:solidFill>
            <a:srgbClr val="06183A"/>
          </a:solidFill>
          <a:ln/>
        </p:spPr>
      </p:sp>
      <p:sp>
        <p:nvSpPr>
          <p:cNvPr id="13" name="Text 10"/>
          <p:cNvSpPr/>
          <p:nvPr/>
        </p:nvSpPr>
        <p:spPr>
          <a:xfrm>
            <a:off x="5084437" y="3319697"/>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03</a:t>
            </a:r>
            <a:endParaRPr lang="en-US" sz="1600" dirty="0"/>
          </a:p>
        </p:txBody>
      </p:sp>
      <p:sp>
        <p:nvSpPr>
          <p:cNvPr id="14" name="Text 11"/>
          <p:cNvSpPr/>
          <p:nvPr/>
        </p:nvSpPr>
        <p:spPr>
          <a:xfrm>
            <a:off x="4912602" y="3861973"/>
            <a:ext cx="563136" cy="215895"/>
          </a:xfrm>
          <a:prstGeom prst="rect">
            <a:avLst/>
          </a:prstGeom>
          <a:noFill/>
          <a:ln/>
        </p:spPr>
        <p:txBody>
          <a:bodyPr wrap="none" lIns="0" tIns="0" rIns="0" bIns="0" rtlCol="0" anchor="t"/>
          <a:lstStyle/>
          <a:p>
            <a:pPr algn="ctr" indent="0" marL="0">
              <a:lnSpc>
                <a:spcPts val="1680"/>
              </a:lnSpc>
              <a:buNone/>
            </a:pPr>
            <a:r>
              <a:rPr lang="en-US" sz="1400" dirty="0">
                <a:solidFill>
                  <a:srgbClr val="FFFFFF"/>
                </a:solidFill>
                <a:latin typeface="Arial" pitchFamily="34" charset="0"/>
                <a:ea typeface="Arial" pitchFamily="34" charset="-122"/>
                <a:cs typeface="Arial" pitchFamily="34" charset="-120"/>
              </a:rPr>
              <a:t>Skills</a:t>
            </a:r>
            <a:endParaRPr lang="en-US" sz="1400" dirty="0"/>
          </a:p>
        </p:txBody>
      </p:sp>
      <p:sp>
        <p:nvSpPr>
          <p:cNvPr id="15" name="Shape 12"/>
          <p:cNvSpPr/>
          <p:nvPr/>
        </p:nvSpPr>
        <p:spPr>
          <a:xfrm>
            <a:off x="6705432" y="3149521"/>
            <a:ext cx="584185" cy="584185"/>
          </a:xfrm>
          <a:prstGeom prst="roundRect">
            <a:avLst>
              <a:gd name="adj" fmla="val 50000"/>
            </a:avLst>
          </a:prstGeom>
          <a:solidFill>
            <a:srgbClr val="06183A"/>
          </a:solidFill>
          <a:ln/>
        </p:spPr>
      </p:sp>
      <p:sp>
        <p:nvSpPr>
          <p:cNvPr id="16" name="Text 13"/>
          <p:cNvSpPr/>
          <p:nvPr/>
        </p:nvSpPr>
        <p:spPr>
          <a:xfrm>
            <a:off x="6887792" y="3319697"/>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04</a:t>
            </a:r>
            <a:endParaRPr lang="en-US" sz="1600" dirty="0"/>
          </a:p>
        </p:txBody>
      </p:sp>
      <p:sp>
        <p:nvSpPr>
          <p:cNvPr id="17" name="Text 14"/>
          <p:cNvSpPr/>
          <p:nvPr/>
        </p:nvSpPr>
        <p:spPr>
          <a:xfrm>
            <a:off x="6670175" y="3861973"/>
            <a:ext cx="654700" cy="215895"/>
          </a:xfrm>
          <a:prstGeom prst="rect">
            <a:avLst/>
          </a:prstGeom>
          <a:noFill/>
          <a:ln/>
        </p:spPr>
        <p:txBody>
          <a:bodyPr wrap="none" lIns="0" tIns="0" rIns="0" bIns="0" rtlCol="0" anchor="t"/>
          <a:lstStyle/>
          <a:p>
            <a:pPr algn="ctr" indent="0" marL="0">
              <a:lnSpc>
                <a:spcPts val="1680"/>
              </a:lnSpc>
              <a:buNone/>
            </a:pPr>
            <a:r>
              <a:rPr lang="en-US" sz="1400" dirty="0">
                <a:solidFill>
                  <a:srgbClr val="FFFFFF"/>
                </a:solidFill>
                <a:latin typeface="Arial" pitchFamily="34" charset="0"/>
                <a:ea typeface="Arial" pitchFamily="34" charset="-122"/>
                <a:cs typeface="Arial" pitchFamily="34" charset="-120"/>
              </a:rPr>
              <a:t>Loops</a:t>
            </a:r>
            <a:endParaRPr lang="en-US" sz="1400" dirty="0"/>
          </a:p>
        </p:txBody>
      </p:sp>
      <p:sp>
        <p:nvSpPr>
          <p:cNvPr id="18" name="Shape 15"/>
          <p:cNvSpPr/>
          <p:nvPr/>
        </p:nvSpPr>
        <p:spPr>
          <a:xfrm>
            <a:off x="8508787" y="3149521"/>
            <a:ext cx="584185" cy="584185"/>
          </a:xfrm>
          <a:prstGeom prst="roundRect">
            <a:avLst>
              <a:gd name="adj" fmla="val 50000"/>
            </a:avLst>
          </a:prstGeom>
          <a:solidFill>
            <a:srgbClr val="06183A"/>
          </a:solidFill>
          <a:ln/>
        </p:spPr>
      </p:sp>
      <p:sp>
        <p:nvSpPr>
          <p:cNvPr id="19" name="Text 16"/>
          <p:cNvSpPr/>
          <p:nvPr/>
        </p:nvSpPr>
        <p:spPr>
          <a:xfrm>
            <a:off x="8691147" y="3319697"/>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05</a:t>
            </a:r>
            <a:endParaRPr lang="en-US" sz="1600" dirty="0"/>
          </a:p>
        </p:txBody>
      </p:sp>
      <p:sp>
        <p:nvSpPr>
          <p:cNvPr id="20" name="Text 17"/>
          <p:cNvSpPr/>
          <p:nvPr/>
        </p:nvSpPr>
        <p:spPr>
          <a:xfrm>
            <a:off x="8536987" y="3861973"/>
            <a:ext cx="527688" cy="215895"/>
          </a:xfrm>
          <a:prstGeom prst="rect">
            <a:avLst/>
          </a:prstGeom>
          <a:noFill/>
          <a:ln/>
        </p:spPr>
        <p:txBody>
          <a:bodyPr wrap="none" lIns="0" tIns="0" rIns="0" bIns="0" rtlCol="0" anchor="t"/>
          <a:lstStyle/>
          <a:p>
            <a:pPr algn="ctr" indent="0" marL="0">
              <a:lnSpc>
                <a:spcPts val="1680"/>
              </a:lnSpc>
              <a:buNone/>
            </a:pPr>
            <a:r>
              <a:rPr lang="en-US" sz="1400" dirty="0">
                <a:solidFill>
                  <a:srgbClr val="FFFFFF"/>
                </a:solidFill>
                <a:latin typeface="Arial" pitchFamily="34" charset="0"/>
                <a:ea typeface="Arial" pitchFamily="34" charset="-122"/>
                <a:cs typeface="Arial" pitchFamily="34" charset="-120"/>
              </a:rPr>
              <a:t>Orca</a:t>
            </a:r>
            <a:endParaRPr lang="en-US" sz="1400" dirty="0"/>
          </a:p>
        </p:txBody>
      </p:sp>
      <p:sp>
        <p:nvSpPr>
          <p:cNvPr id="21" name="Shape 18"/>
          <p:cNvSpPr/>
          <p:nvPr/>
        </p:nvSpPr>
        <p:spPr>
          <a:xfrm>
            <a:off x="10312142" y="3149521"/>
            <a:ext cx="584185" cy="584185"/>
          </a:xfrm>
          <a:prstGeom prst="roundRect">
            <a:avLst>
              <a:gd name="adj" fmla="val 50000"/>
            </a:avLst>
          </a:prstGeom>
          <a:solidFill>
            <a:srgbClr val="06183A"/>
          </a:solidFill>
          <a:ln/>
        </p:spPr>
      </p:sp>
      <p:sp>
        <p:nvSpPr>
          <p:cNvPr id="22" name="Text 19"/>
          <p:cNvSpPr/>
          <p:nvPr/>
        </p:nvSpPr>
        <p:spPr>
          <a:xfrm>
            <a:off x="10494502" y="3319697"/>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06</a:t>
            </a:r>
            <a:endParaRPr lang="en-US" sz="1600" dirty="0"/>
          </a:p>
        </p:txBody>
      </p:sp>
      <p:sp>
        <p:nvSpPr>
          <p:cNvPr id="23" name="Text 20"/>
          <p:cNvSpPr/>
          <p:nvPr/>
        </p:nvSpPr>
        <p:spPr>
          <a:xfrm>
            <a:off x="10236992" y="3861973"/>
            <a:ext cx="734486" cy="215895"/>
          </a:xfrm>
          <a:prstGeom prst="rect">
            <a:avLst/>
          </a:prstGeom>
          <a:noFill/>
          <a:ln/>
        </p:spPr>
        <p:txBody>
          <a:bodyPr wrap="none" lIns="0" tIns="0" rIns="0" bIns="0" rtlCol="0" anchor="t"/>
          <a:lstStyle/>
          <a:p>
            <a:pPr algn="ctr" indent="0" marL="0">
              <a:lnSpc>
                <a:spcPts val="1680"/>
              </a:lnSpc>
              <a:buNone/>
            </a:pPr>
            <a:r>
              <a:rPr lang="en-US" sz="1400" dirty="0">
                <a:solidFill>
                  <a:srgbClr val="FFFFFF"/>
                </a:solidFill>
                <a:latin typeface="Arial" pitchFamily="34" charset="0"/>
                <a:ea typeface="Arial" pitchFamily="34" charset="-122"/>
                <a:cs typeface="Arial" pitchFamily="34" charset="-120"/>
              </a:rPr>
              <a:t>Tu ruta</a:t>
            </a:r>
            <a:endParaRPr lang="en-US" sz="1400" dirty="0"/>
          </a:p>
        </p:txBody>
      </p:sp>
      <p:sp>
        <p:nvSpPr>
          <p:cNvPr id="24" name="Text 21"/>
          <p:cNvSpPr/>
          <p:nvPr/>
        </p:nvSpPr>
        <p:spPr>
          <a:xfrm>
            <a:off x="952476" y="4736982"/>
            <a:ext cx="3912359" cy="266693"/>
          </a:xfrm>
          <a:prstGeom prst="rect">
            <a:avLst/>
          </a:prstGeom>
          <a:noFill/>
          <a:ln/>
        </p:spPr>
        <p:txBody>
          <a:bodyPr wrap="none" lIns="0" tIns="0" rIns="0" bIns="0" rtlCol="0" anchor="t"/>
          <a:lstStyle/>
          <a:p>
            <a:pPr algn="l" indent="0" marL="0">
              <a:lnSpc>
                <a:spcPts val="2100"/>
              </a:lnSpc>
              <a:buNone/>
            </a:pPr>
            <a:r>
              <a:rPr lang="en-US" sz="1500" b="1" spc="60" kern="0" dirty="0">
                <a:solidFill>
                  <a:srgbClr val="D2F21E"/>
                </a:solidFill>
                <a:latin typeface="Share Tech Mono" pitchFamily="34" charset="0"/>
                <a:ea typeface="Share Tech Mono" pitchFamily="34" charset="-122"/>
                <a:cs typeface="Share Tech Mono" pitchFamily="34" charset="-120"/>
              </a:rPr>
              <a:t>Al final: tu plan para el lunes</a:t>
            </a:r>
            <a:endParaRPr lang="en-US" sz="1500" dirty="0"/>
          </a:p>
        </p:txBody>
      </p:sp>
      <p:sp>
        <p:nvSpPr>
          <p:cNvPr id="25" name="Text 22"/>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6" name="Text 23"/>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esarrollador trabajando en una laptop con código">    </p:cNvPr>
          <p:cNvPicPr>
            <a:picLocks noChangeAspect="1"/>
          </p:cNvPicPr>
          <p:nvPr/>
        </p:nvPicPr>
        <p:blipFill>
          <a:blip r:embed="rId1"/>
          <a:stretch>
            <a:fillRect/>
          </a:stretch>
        </p:blipFill>
        <p:spPr>
          <a:xfrm>
            <a:off x="5651359" y="1587460"/>
            <a:ext cx="5587860" cy="3555911"/>
          </a:xfrm>
          <a:prstGeom prst="rect">
            <a:avLst/>
          </a:prstGeom>
        </p:spPr>
      </p:pic>
      <p:pic>
        <p:nvPicPr>
          <p:cNvPr id="3" name="Image 1" descr="Kori, mascota del Student Community Day">    </p:cNvPr>
          <p:cNvPicPr>
            <a:picLocks noChangeAspect="1"/>
          </p:cNvPicPr>
          <p:nvPr/>
        </p:nvPicPr>
        <p:blipFill>
          <a:blip r:embed="rId2"/>
          <a:stretch>
            <a:fillRect/>
          </a:stretch>
        </p:blipFill>
        <p:spPr>
          <a:xfrm>
            <a:off x="6984825" y="952476"/>
            <a:ext cx="1650959" cy="1082450"/>
          </a:xfrm>
          <a:prstGeom prst="rect">
            <a:avLst/>
          </a:prstGeom>
        </p:spPr>
      </p:pic>
      <p:sp>
        <p:nvSpPr>
          <p:cNvPr id="4" name="Text 0"/>
          <p:cNvSpPr/>
          <p:nvPr/>
        </p:nvSpPr>
        <p:spPr>
          <a:xfrm>
            <a:off x="1174721" y="784840"/>
            <a:ext cx="2718462"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01 · DÓNDE ESTAMOS</a:t>
            </a:r>
            <a:endParaRPr lang="en-US" sz="1200" dirty="0"/>
          </a:p>
        </p:txBody>
      </p:sp>
      <p:sp>
        <p:nvSpPr>
          <p:cNvPr id="5" name="Text 1"/>
          <p:cNvSpPr/>
          <p:nvPr/>
        </p:nvSpPr>
        <p:spPr>
          <a:xfrm>
            <a:off x="952476" y="1231869"/>
            <a:ext cx="5232269" cy="1460463"/>
          </a:xfrm>
          <a:prstGeom prst="rect">
            <a:avLst/>
          </a:prstGeom>
          <a:noFill/>
          <a:ln/>
        </p:spPr>
        <p:txBody>
          <a:bodyPr wrap="squar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USAR AGENTES</a:t>
            </a:r>
            <a:endParaRPr lang="en-US" sz="4600" dirty="0"/>
          </a:p>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YA ES EL PISO</a:t>
            </a:r>
            <a:endParaRPr lang="en-US" sz="4600" dirty="0"/>
          </a:p>
        </p:txBody>
      </p:sp>
      <p:sp>
        <p:nvSpPr>
          <p:cNvPr id="6" name="Text 2"/>
          <p:cNvSpPr/>
          <p:nvPr/>
        </p:nvSpPr>
        <p:spPr>
          <a:xfrm>
            <a:off x="952476" y="2701222"/>
            <a:ext cx="1091214" cy="1424904"/>
          </a:xfrm>
          <a:prstGeom prst="rect">
            <a:avLst/>
          </a:prstGeom>
          <a:noFill/>
          <a:ln/>
        </p:spPr>
        <p:txBody>
          <a:bodyPr wrap="square" lIns="0" tIns="0" rIns="0" bIns="0" rtlCol="0" anchor="t"/>
          <a:lstStyle/>
          <a:p>
            <a:pPr algn="l" indent="0" marL="0">
              <a:lnSpc>
                <a:spcPts val="5610"/>
              </a:lnSpc>
              <a:buNone/>
            </a:pPr>
            <a:r>
              <a:rPr lang="en-US" sz="5500" dirty="0">
                <a:solidFill>
                  <a:srgbClr val="FFFFFF"/>
                </a:solidFill>
                <a:latin typeface="Anton" pitchFamily="34" charset="0"/>
                <a:ea typeface="Anton" pitchFamily="34" charset="-122"/>
                <a:cs typeface="Anton" pitchFamily="34" charset="-120"/>
              </a:rPr>
              <a:t>90</a:t>
            </a:r>
            <a:r>
              <a:rPr lang="en-US" sz="2750" dirty="0">
                <a:solidFill>
                  <a:srgbClr val="FFFFFF"/>
                </a:solidFill>
                <a:latin typeface="Anton" pitchFamily="34" charset="0"/>
                <a:ea typeface="Anton" pitchFamily="34" charset="-122"/>
                <a:cs typeface="Anton" pitchFamily="34" charset="-120"/>
              </a:rPr>
              <a:t>%</a:t>
            </a:r>
            <a:endParaRPr lang="en-US" sz="5500" dirty="0"/>
          </a:p>
        </p:txBody>
      </p:sp>
      <p:sp>
        <p:nvSpPr>
          <p:cNvPr id="7" name="Text 3"/>
          <p:cNvSpPr/>
          <p:nvPr/>
        </p:nvSpPr>
        <p:spPr>
          <a:xfrm>
            <a:off x="2189703" y="3182540"/>
            <a:ext cx="3524098" cy="215895"/>
          </a:xfrm>
          <a:prstGeom prst="rect">
            <a:avLst/>
          </a:prstGeom>
          <a:noFill/>
          <a:ln/>
        </p:spPr>
        <p:txBody>
          <a:bodyPr wrap="none" lIns="0" tIns="0" rIns="0" bIns="0" rtlCol="0" anchor="t"/>
          <a:lstStyle/>
          <a:p>
            <a:pPr algn="l" indent="0" marL="0">
              <a:lnSpc>
                <a:spcPts val="1680"/>
              </a:lnSpc>
              <a:buNone/>
            </a:pPr>
            <a:r>
              <a:rPr lang="en-US" sz="1400" dirty="0">
                <a:solidFill>
                  <a:srgbClr val="C9D6EA"/>
                </a:solidFill>
                <a:latin typeface="Arial" pitchFamily="34" charset="0"/>
                <a:ea typeface="Arial" pitchFamily="34" charset="-122"/>
                <a:cs typeface="Arial" pitchFamily="34" charset="-120"/>
              </a:rPr>
              <a:t>usa agentes de código cada semana</a:t>
            </a:r>
            <a:endParaRPr lang="en-US" sz="1400" dirty="0"/>
          </a:p>
        </p:txBody>
      </p:sp>
      <p:sp>
        <p:nvSpPr>
          <p:cNvPr id="8" name="Text 4"/>
          <p:cNvSpPr/>
          <p:nvPr/>
        </p:nvSpPr>
        <p:spPr>
          <a:xfrm>
            <a:off x="952476" y="3578691"/>
            <a:ext cx="1091214" cy="1424904"/>
          </a:xfrm>
          <a:prstGeom prst="rect">
            <a:avLst/>
          </a:prstGeom>
          <a:noFill/>
          <a:ln/>
        </p:spPr>
        <p:txBody>
          <a:bodyPr wrap="square" lIns="0" tIns="0" rIns="0" bIns="0" rtlCol="0" anchor="t"/>
          <a:lstStyle/>
          <a:p>
            <a:pPr algn="l" indent="0" marL="0">
              <a:lnSpc>
                <a:spcPts val="5610"/>
              </a:lnSpc>
              <a:buNone/>
            </a:pPr>
            <a:r>
              <a:rPr lang="en-US" sz="5500" dirty="0">
                <a:solidFill>
                  <a:srgbClr val="FFFFFF"/>
                </a:solidFill>
                <a:latin typeface="Anton" pitchFamily="34" charset="0"/>
                <a:ea typeface="Anton" pitchFamily="34" charset="-122"/>
                <a:cs typeface="Anton" pitchFamily="34" charset="-120"/>
              </a:rPr>
              <a:t>68</a:t>
            </a:r>
            <a:r>
              <a:rPr lang="en-US" sz="2750" dirty="0">
                <a:solidFill>
                  <a:srgbClr val="FFFFFF"/>
                </a:solidFill>
                <a:latin typeface="Anton" pitchFamily="34" charset="0"/>
                <a:ea typeface="Anton" pitchFamily="34" charset="-122"/>
                <a:cs typeface="Anton" pitchFamily="34" charset="-120"/>
              </a:rPr>
              <a:t>%</a:t>
            </a:r>
            <a:endParaRPr lang="en-US" sz="5500" dirty="0"/>
          </a:p>
        </p:txBody>
      </p:sp>
      <p:sp>
        <p:nvSpPr>
          <p:cNvPr id="9" name="Text 5"/>
          <p:cNvSpPr/>
          <p:nvPr/>
        </p:nvSpPr>
        <p:spPr>
          <a:xfrm>
            <a:off x="2189703" y="4060009"/>
            <a:ext cx="2096511" cy="215895"/>
          </a:xfrm>
          <a:prstGeom prst="rect">
            <a:avLst/>
          </a:prstGeom>
          <a:noFill/>
          <a:ln/>
        </p:spPr>
        <p:txBody>
          <a:bodyPr wrap="none" lIns="0" tIns="0" rIns="0" bIns="0" rtlCol="0" anchor="t"/>
          <a:lstStyle/>
          <a:p>
            <a:pPr algn="l" indent="0" marL="0">
              <a:lnSpc>
                <a:spcPts val="1680"/>
              </a:lnSpc>
              <a:buNone/>
            </a:pPr>
            <a:r>
              <a:rPr lang="en-US" sz="1400" dirty="0">
                <a:solidFill>
                  <a:srgbClr val="C9D6EA"/>
                </a:solidFill>
                <a:latin typeface="Arial" pitchFamily="34" charset="0"/>
                <a:ea typeface="Arial" pitchFamily="34" charset="-122"/>
                <a:cs typeface="Arial" pitchFamily="34" charset="-120"/>
              </a:rPr>
              <a:t>los usa todos los días</a:t>
            </a:r>
            <a:endParaRPr lang="en-US" sz="1400" dirty="0"/>
          </a:p>
        </p:txBody>
      </p:sp>
      <p:sp>
        <p:nvSpPr>
          <p:cNvPr id="10" name="Text 6"/>
          <p:cNvSpPr/>
          <p:nvPr/>
        </p:nvSpPr>
        <p:spPr>
          <a:xfrm>
            <a:off x="952476" y="4456160"/>
            <a:ext cx="1091214" cy="1424904"/>
          </a:xfrm>
          <a:prstGeom prst="rect">
            <a:avLst/>
          </a:prstGeom>
          <a:noFill/>
          <a:ln/>
        </p:spPr>
        <p:txBody>
          <a:bodyPr wrap="square" lIns="0" tIns="0" rIns="0" bIns="0" rtlCol="0" anchor="t"/>
          <a:lstStyle/>
          <a:p>
            <a:pPr algn="l" indent="0" marL="0">
              <a:lnSpc>
                <a:spcPts val="5610"/>
              </a:lnSpc>
              <a:buNone/>
            </a:pPr>
            <a:r>
              <a:rPr lang="en-US" sz="5500" dirty="0">
                <a:solidFill>
                  <a:srgbClr val="D2F21E"/>
                </a:solidFill>
                <a:latin typeface="Anton" pitchFamily="34" charset="0"/>
                <a:ea typeface="Anton" pitchFamily="34" charset="-122"/>
                <a:cs typeface="Anton" pitchFamily="34" charset="-120"/>
              </a:rPr>
              <a:t>47</a:t>
            </a:r>
            <a:r>
              <a:rPr lang="en-US" sz="2750" dirty="0">
                <a:solidFill>
                  <a:srgbClr val="D2F21E"/>
                </a:solidFill>
                <a:latin typeface="Anton" pitchFamily="34" charset="0"/>
                <a:ea typeface="Anton" pitchFamily="34" charset="-122"/>
                <a:cs typeface="Anton" pitchFamily="34" charset="-120"/>
              </a:rPr>
              <a:t>%</a:t>
            </a:r>
            <a:endParaRPr lang="en-US" sz="5500" dirty="0"/>
          </a:p>
        </p:txBody>
      </p:sp>
      <p:sp>
        <p:nvSpPr>
          <p:cNvPr id="11" name="Text 7"/>
          <p:cNvSpPr/>
          <p:nvPr/>
        </p:nvSpPr>
        <p:spPr>
          <a:xfrm>
            <a:off x="2189703" y="4937478"/>
            <a:ext cx="3267295" cy="215895"/>
          </a:xfrm>
          <a:prstGeom prst="rect">
            <a:avLst/>
          </a:prstGeom>
          <a:noFill/>
          <a:ln/>
        </p:spPr>
        <p:txBody>
          <a:bodyPr wrap="none" lIns="0" tIns="0" rIns="0" bIns="0" rtlCol="0" anchor="t"/>
          <a:lstStyle/>
          <a:p>
            <a:pPr algn="l" indent="0" marL="0">
              <a:lnSpc>
                <a:spcPts val="1680"/>
              </a:lnSpc>
              <a:buNone/>
            </a:pPr>
            <a:r>
              <a:rPr lang="en-US" sz="1400" dirty="0">
                <a:solidFill>
                  <a:srgbClr val="C9D6EA"/>
                </a:solidFill>
                <a:latin typeface="Arial" pitchFamily="34" charset="0"/>
                <a:ea typeface="Arial" pitchFamily="34" charset="-122"/>
                <a:cs typeface="Arial" pitchFamily="34" charset="-120"/>
              </a:rPr>
              <a:t>de su código lo escribe un agente</a:t>
            </a:r>
            <a:endParaRPr lang="en-US" sz="1400" dirty="0"/>
          </a:p>
        </p:txBody>
      </p:sp>
      <p:sp>
        <p:nvSpPr>
          <p:cNvPr id="12" name="Text 8"/>
          <p:cNvSpPr/>
          <p:nvPr/>
        </p:nvSpPr>
        <p:spPr>
          <a:xfrm>
            <a:off x="952476" y="5309499"/>
            <a:ext cx="4807560" cy="195575"/>
          </a:xfrm>
          <a:prstGeom prst="rect">
            <a:avLst/>
          </a:prstGeom>
          <a:noFill/>
          <a:ln/>
        </p:spPr>
        <p:txBody>
          <a:bodyPr wrap="none" lIns="0" tIns="0" rIns="0" bIns="0" rtlCol="0" anchor="t"/>
          <a:lstStyle/>
          <a:p>
            <a:pPr algn="l" indent="0" marL="0">
              <a:lnSpc>
                <a:spcPts val="1540"/>
              </a:lnSpc>
              <a:buNone/>
            </a:pPr>
            <a:r>
              <a:rPr lang="en-US" sz="1100" spc="20" kern="0" dirty="0">
                <a:solidFill>
                  <a:srgbClr val="93A4C2"/>
                </a:solidFill>
                <a:latin typeface="Share Tech Mono" pitchFamily="34" charset="0"/>
                <a:ea typeface="Share Tech Mono" pitchFamily="34" charset="-122"/>
                <a:cs typeface="Share Tech Mono" pitchFamily="34" charset="-120"/>
              </a:rPr>
              <a:t>JetBrains, 2026, +15.000 devs (vía charla Agent First)</a:t>
            </a:r>
            <a:endParaRPr lang="en-US" sz="1100" dirty="0"/>
          </a:p>
        </p:txBody>
      </p:sp>
      <p:sp>
        <p:nvSpPr>
          <p:cNvPr id="13" name="Text 9"/>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14" name="Text 10"/>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74721" y="784840"/>
            <a:ext cx="2718462"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01 · DÓNDE ESTAMOS</a:t>
            </a:r>
            <a:endParaRPr lang="en-US" sz="1200" dirty="0"/>
          </a:p>
        </p:txBody>
      </p:sp>
      <p:sp>
        <p:nvSpPr>
          <p:cNvPr id="3" name="Text 1"/>
          <p:cNvSpPr/>
          <p:nvPr/>
        </p:nvSpPr>
        <p:spPr>
          <a:xfrm>
            <a:off x="952476" y="1231869"/>
            <a:ext cx="9598817"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CONFIAMOS POCO Y REVISAMOS MENOS</a:t>
            </a:r>
            <a:endParaRPr lang="en-US" sz="4600" dirty="0"/>
          </a:p>
        </p:txBody>
      </p:sp>
      <p:sp>
        <p:nvSpPr>
          <p:cNvPr id="4" name="Text 2"/>
          <p:cNvSpPr/>
          <p:nvPr/>
        </p:nvSpPr>
        <p:spPr>
          <a:xfrm>
            <a:off x="952476" y="2244669"/>
            <a:ext cx="5068761" cy="2590735"/>
          </a:xfrm>
          <a:prstGeom prst="rect">
            <a:avLst/>
          </a:prstGeom>
          <a:noFill/>
          <a:ln/>
        </p:spPr>
        <p:txBody>
          <a:bodyPr wrap="square" lIns="0" tIns="0" rIns="0" bIns="0" rtlCol="0" anchor="t"/>
          <a:lstStyle/>
          <a:p>
            <a:pPr algn="l" indent="0" marL="0">
              <a:lnSpc>
                <a:spcPts val="10200"/>
              </a:lnSpc>
              <a:buNone/>
            </a:pPr>
            <a:r>
              <a:rPr lang="en-US" sz="10000" dirty="0">
                <a:solidFill>
                  <a:srgbClr val="1FD3F5"/>
                </a:solidFill>
                <a:latin typeface="Anton" pitchFamily="34" charset="0"/>
                <a:ea typeface="Anton" pitchFamily="34" charset="-122"/>
                <a:cs typeface="Anton" pitchFamily="34" charset="-120"/>
              </a:rPr>
              <a:t>96</a:t>
            </a:r>
            <a:r>
              <a:rPr lang="en-US" sz="5000" dirty="0">
                <a:solidFill>
                  <a:srgbClr val="1FD3F5"/>
                </a:solidFill>
                <a:latin typeface="Anton" pitchFamily="34" charset="0"/>
                <a:ea typeface="Anton" pitchFamily="34" charset="-122"/>
                <a:cs typeface="Anton" pitchFamily="34" charset="-120"/>
              </a:rPr>
              <a:t>%</a:t>
            </a:r>
            <a:endParaRPr lang="en-US" sz="10000" dirty="0"/>
          </a:p>
        </p:txBody>
      </p:sp>
      <p:sp>
        <p:nvSpPr>
          <p:cNvPr id="5" name="Shape 3"/>
          <p:cNvSpPr/>
          <p:nvPr/>
        </p:nvSpPr>
        <p:spPr>
          <a:xfrm>
            <a:off x="952476" y="3670208"/>
            <a:ext cx="4724282" cy="215895"/>
          </a:xfrm>
          <a:prstGeom prst="rect">
            <a:avLst/>
          </a:prstGeom>
          <a:solidFill>
            <a:srgbClr val="1FD3F5"/>
          </a:solidFill>
          <a:ln/>
        </p:spPr>
      </p:sp>
      <p:sp>
        <p:nvSpPr>
          <p:cNvPr id="6" name="Text 4"/>
          <p:cNvSpPr/>
          <p:nvPr/>
        </p:nvSpPr>
        <p:spPr>
          <a:xfrm>
            <a:off x="952476" y="4027704"/>
            <a:ext cx="4267839" cy="24764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Arial" pitchFamily="34" charset="0"/>
                <a:ea typeface="Arial" pitchFamily="34" charset="-122"/>
                <a:cs typeface="Arial" pitchFamily="34" charset="-120"/>
              </a:rPr>
              <a:t>no confía del todo en el código de la IA</a:t>
            </a:r>
            <a:endParaRPr lang="en-US" sz="1600" dirty="0"/>
          </a:p>
        </p:txBody>
      </p:sp>
      <p:sp>
        <p:nvSpPr>
          <p:cNvPr id="7" name="Text 5"/>
          <p:cNvSpPr/>
          <p:nvPr/>
        </p:nvSpPr>
        <p:spPr>
          <a:xfrm>
            <a:off x="6318092" y="2244669"/>
            <a:ext cx="5068761" cy="2590735"/>
          </a:xfrm>
          <a:prstGeom prst="rect">
            <a:avLst/>
          </a:prstGeom>
          <a:noFill/>
          <a:ln/>
        </p:spPr>
        <p:txBody>
          <a:bodyPr wrap="square" lIns="0" tIns="0" rIns="0" bIns="0" rtlCol="0" anchor="t"/>
          <a:lstStyle/>
          <a:p>
            <a:pPr algn="l" indent="0" marL="0">
              <a:lnSpc>
                <a:spcPts val="10200"/>
              </a:lnSpc>
              <a:buNone/>
            </a:pPr>
            <a:r>
              <a:rPr lang="en-US" sz="10000" dirty="0">
                <a:solidFill>
                  <a:srgbClr val="FF4B3A"/>
                </a:solidFill>
                <a:latin typeface="Anton" pitchFamily="34" charset="0"/>
                <a:ea typeface="Anton" pitchFamily="34" charset="-122"/>
                <a:cs typeface="Anton" pitchFamily="34" charset="-120"/>
              </a:rPr>
              <a:t>48</a:t>
            </a:r>
            <a:r>
              <a:rPr lang="en-US" sz="5000" dirty="0">
                <a:solidFill>
                  <a:srgbClr val="FF4B3A"/>
                </a:solidFill>
                <a:latin typeface="Anton" pitchFamily="34" charset="0"/>
                <a:ea typeface="Anton" pitchFamily="34" charset="-122"/>
                <a:cs typeface="Anton" pitchFamily="34" charset="-120"/>
              </a:rPr>
              <a:t>%</a:t>
            </a:r>
            <a:endParaRPr lang="en-US" sz="10000" dirty="0"/>
          </a:p>
        </p:txBody>
      </p:sp>
      <p:sp>
        <p:nvSpPr>
          <p:cNvPr id="8" name="Shape 6"/>
          <p:cNvSpPr/>
          <p:nvPr/>
        </p:nvSpPr>
        <p:spPr>
          <a:xfrm>
            <a:off x="6318092" y="3670208"/>
            <a:ext cx="2362141" cy="215895"/>
          </a:xfrm>
          <a:prstGeom prst="rect">
            <a:avLst/>
          </a:prstGeom>
          <a:solidFill>
            <a:srgbClr val="FF4B3A"/>
          </a:solidFill>
          <a:ln/>
        </p:spPr>
      </p:sp>
      <p:sp>
        <p:nvSpPr>
          <p:cNvPr id="9" name="Text 7"/>
          <p:cNvSpPr/>
          <p:nvPr/>
        </p:nvSpPr>
        <p:spPr>
          <a:xfrm>
            <a:off x="6318092" y="4027704"/>
            <a:ext cx="3799237" cy="24764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Arial" pitchFamily="34" charset="0"/>
                <a:ea typeface="Arial" pitchFamily="34" charset="-122"/>
                <a:cs typeface="Arial" pitchFamily="34" charset="-120"/>
              </a:rPr>
              <a:t>lo revisa siempre antes del commit</a:t>
            </a:r>
            <a:endParaRPr lang="en-US" sz="1600" dirty="0"/>
          </a:p>
        </p:txBody>
      </p:sp>
      <p:sp>
        <p:nvSpPr>
          <p:cNvPr id="10" name="Text 8"/>
          <p:cNvSpPr/>
          <p:nvPr/>
        </p:nvSpPr>
        <p:spPr>
          <a:xfrm>
            <a:off x="952476" y="4524897"/>
            <a:ext cx="1565791" cy="195575"/>
          </a:xfrm>
          <a:prstGeom prst="rect">
            <a:avLst/>
          </a:prstGeom>
          <a:noFill/>
          <a:ln/>
        </p:spPr>
        <p:txBody>
          <a:bodyPr wrap="none" lIns="0" tIns="0" rIns="0" bIns="0" rtlCol="0" anchor="t"/>
          <a:lstStyle/>
          <a:p>
            <a:pPr algn="l" indent="0" marL="0">
              <a:lnSpc>
                <a:spcPts val="1540"/>
              </a:lnSpc>
              <a:buNone/>
            </a:pPr>
            <a:r>
              <a:rPr lang="en-US" sz="1100" spc="20" kern="0" dirty="0">
                <a:solidFill>
                  <a:srgbClr val="93A4C2"/>
                </a:solidFill>
                <a:latin typeface="Share Tech Mono" pitchFamily="34" charset="0"/>
                <a:ea typeface="Share Tech Mono" pitchFamily="34" charset="-122"/>
                <a:cs typeface="Share Tech Mono" pitchFamily="34" charset="-120"/>
              </a:rPr>
              <a:t>Sonar, enero 2026</a:t>
            </a:r>
            <a:endParaRPr lang="en-US" sz="1100" dirty="0"/>
          </a:p>
        </p:txBody>
      </p:sp>
      <p:sp>
        <p:nvSpPr>
          <p:cNvPr id="11" name="Text 9"/>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12" name="Text 10"/>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334267" y="3532595"/>
            <a:ext cx="1904952" cy="2309259"/>
          </a:xfrm>
          <a:prstGeom prst="rect">
            <a:avLst/>
          </a:prstGeom>
        </p:spPr>
      </p:pic>
      <p:sp>
        <p:nvSpPr>
          <p:cNvPr id="3" name="Text 0"/>
          <p:cNvSpPr/>
          <p:nvPr/>
        </p:nvSpPr>
        <p:spPr>
          <a:xfrm>
            <a:off x="1174721" y="784840"/>
            <a:ext cx="2718462"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01 · DÓNDE ESTAMOS</a:t>
            </a:r>
            <a:endParaRPr lang="en-US" sz="1200" dirty="0"/>
          </a:p>
        </p:txBody>
      </p:sp>
      <p:sp>
        <p:nvSpPr>
          <p:cNvPr id="4" name="Text 1"/>
          <p:cNvSpPr/>
          <p:nvPr/>
        </p:nvSpPr>
        <p:spPr>
          <a:xfrm>
            <a:off x="952476" y="1231869"/>
            <a:ext cx="5495184"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¿EN QUÉ NIVEL ESTÁS?</a:t>
            </a:r>
            <a:endParaRPr lang="en-US" sz="4600" dirty="0"/>
          </a:p>
        </p:txBody>
      </p:sp>
      <p:sp>
        <p:nvSpPr>
          <p:cNvPr id="5" name="Text 2"/>
          <p:cNvSpPr/>
          <p:nvPr/>
        </p:nvSpPr>
        <p:spPr>
          <a:xfrm>
            <a:off x="952476" y="4290588"/>
            <a:ext cx="444013" cy="552436"/>
          </a:xfrm>
          <a:prstGeom prst="rect">
            <a:avLst/>
          </a:prstGeom>
          <a:noFill/>
          <a:ln/>
        </p:spPr>
        <p:txBody>
          <a:bodyPr wrap="none" lIns="0" tIns="0" rIns="0" bIns="0" rtlCol="0" anchor="t"/>
          <a:lstStyle/>
          <a:p>
            <a:pPr algn="l" indent="0" marL="0">
              <a:lnSpc>
                <a:spcPts val="3480"/>
              </a:lnSpc>
              <a:buNone/>
            </a:pPr>
            <a:r>
              <a:rPr lang="en-US" sz="2900" dirty="0">
                <a:solidFill>
                  <a:srgbClr val="1FD3F5"/>
                </a:solidFill>
                <a:latin typeface="Anton" pitchFamily="34" charset="0"/>
                <a:ea typeface="Anton" pitchFamily="34" charset="-122"/>
                <a:cs typeface="Anton" pitchFamily="34" charset="-120"/>
              </a:rPr>
              <a:t>L0</a:t>
            </a:r>
            <a:endParaRPr lang="en-US" sz="2900" dirty="0"/>
          </a:p>
        </p:txBody>
      </p:sp>
      <p:sp>
        <p:nvSpPr>
          <p:cNvPr id="6" name="Text 3"/>
          <p:cNvSpPr/>
          <p:nvPr/>
        </p:nvSpPr>
        <p:spPr>
          <a:xfrm>
            <a:off x="952476" y="4785399"/>
            <a:ext cx="1350214" cy="182558"/>
          </a:xfrm>
          <a:prstGeom prst="rect">
            <a:avLst/>
          </a:prstGeom>
          <a:noFill/>
          <a:ln/>
        </p:spPr>
        <p:txBody>
          <a:bodyPr wrap="none" lIns="0" tIns="0" rIns="0" bIns="0" rtlCol="0" anchor="t"/>
          <a:lstStyle/>
          <a:p>
            <a:pPr algn="l" indent="0" marL="0">
              <a:lnSpc>
                <a:spcPts val="1440"/>
              </a:lnSpc>
              <a:buNone/>
            </a:pPr>
            <a:r>
              <a:rPr lang="en-US" sz="1150" dirty="0">
                <a:solidFill>
                  <a:srgbClr val="C9D6EA"/>
                </a:solidFill>
                <a:latin typeface="Arial" pitchFamily="34" charset="0"/>
                <a:ea typeface="Arial" pitchFamily="34" charset="-122"/>
                <a:cs typeface="Arial" pitchFamily="34" charset="-120"/>
              </a:rPr>
              <a:t>Autocompletado</a:t>
            </a:r>
            <a:endParaRPr lang="en-US" sz="1150" dirty="0"/>
          </a:p>
        </p:txBody>
      </p:sp>
      <p:sp>
        <p:nvSpPr>
          <p:cNvPr id="7" name="Shape 4"/>
          <p:cNvSpPr/>
          <p:nvPr/>
        </p:nvSpPr>
        <p:spPr>
          <a:xfrm>
            <a:off x="952476" y="5232269"/>
            <a:ext cx="1238219" cy="63498"/>
          </a:xfrm>
          <a:prstGeom prst="rect">
            <a:avLst/>
          </a:prstGeom>
          <a:solidFill>
            <a:srgbClr val="1FD3F5"/>
          </a:solidFill>
          <a:ln/>
        </p:spPr>
      </p:sp>
      <p:sp>
        <p:nvSpPr>
          <p:cNvPr id="8" name="Text 5"/>
          <p:cNvSpPr/>
          <p:nvPr/>
        </p:nvSpPr>
        <p:spPr>
          <a:xfrm>
            <a:off x="2254194" y="3896898"/>
            <a:ext cx="376561" cy="552436"/>
          </a:xfrm>
          <a:prstGeom prst="rect">
            <a:avLst/>
          </a:prstGeom>
          <a:noFill/>
          <a:ln/>
        </p:spPr>
        <p:txBody>
          <a:bodyPr wrap="none" lIns="0" tIns="0" rIns="0" bIns="0" rtlCol="0" anchor="t"/>
          <a:lstStyle/>
          <a:p>
            <a:pPr algn="l" indent="0" marL="0">
              <a:lnSpc>
                <a:spcPts val="3480"/>
              </a:lnSpc>
              <a:buNone/>
            </a:pPr>
            <a:r>
              <a:rPr lang="en-US" sz="2900" dirty="0">
                <a:solidFill>
                  <a:srgbClr val="1FD3F5"/>
                </a:solidFill>
                <a:latin typeface="Anton" pitchFamily="34" charset="0"/>
                <a:ea typeface="Anton" pitchFamily="34" charset="-122"/>
                <a:cs typeface="Anton" pitchFamily="34" charset="-120"/>
              </a:rPr>
              <a:t>L1</a:t>
            </a:r>
            <a:endParaRPr lang="en-US" sz="2900" dirty="0"/>
          </a:p>
        </p:txBody>
      </p:sp>
      <p:sp>
        <p:nvSpPr>
          <p:cNvPr id="9" name="Text 6"/>
          <p:cNvSpPr/>
          <p:nvPr/>
        </p:nvSpPr>
        <p:spPr>
          <a:xfrm>
            <a:off x="2254194" y="4391709"/>
            <a:ext cx="694704" cy="182558"/>
          </a:xfrm>
          <a:prstGeom prst="rect">
            <a:avLst/>
          </a:prstGeom>
          <a:noFill/>
          <a:ln/>
        </p:spPr>
        <p:txBody>
          <a:bodyPr wrap="none" lIns="0" tIns="0" rIns="0" bIns="0" rtlCol="0" anchor="t"/>
          <a:lstStyle/>
          <a:p>
            <a:pPr algn="l" indent="0" marL="0">
              <a:lnSpc>
                <a:spcPts val="1440"/>
              </a:lnSpc>
              <a:buNone/>
            </a:pPr>
            <a:r>
              <a:rPr lang="en-US" sz="1150" dirty="0">
                <a:solidFill>
                  <a:srgbClr val="C9D6EA"/>
                </a:solidFill>
                <a:latin typeface="Arial" pitchFamily="34" charset="0"/>
                <a:ea typeface="Arial" pitchFamily="34" charset="-122"/>
                <a:cs typeface="Arial" pitchFamily="34" charset="-120"/>
              </a:rPr>
              <a:t>Pasante</a:t>
            </a:r>
            <a:endParaRPr lang="en-US" sz="1150" dirty="0"/>
          </a:p>
        </p:txBody>
      </p:sp>
      <p:sp>
        <p:nvSpPr>
          <p:cNvPr id="10" name="Shape 7"/>
          <p:cNvSpPr/>
          <p:nvPr/>
        </p:nvSpPr>
        <p:spPr>
          <a:xfrm>
            <a:off x="2254194" y="4838579"/>
            <a:ext cx="1238219" cy="63498"/>
          </a:xfrm>
          <a:prstGeom prst="rect">
            <a:avLst/>
          </a:prstGeom>
          <a:solidFill>
            <a:srgbClr val="1FD3F5"/>
          </a:solidFill>
          <a:ln/>
        </p:spPr>
      </p:sp>
      <p:sp>
        <p:nvSpPr>
          <p:cNvPr id="11" name="Text 8"/>
          <p:cNvSpPr/>
          <p:nvPr/>
        </p:nvSpPr>
        <p:spPr>
          <a:xfrm>
            <a:off x="3555911" y="3285725"/>
            <a:ext cx="444013" cy="552436"/>
          </a:xfrm>
          <a:prstGeom prst="rect">
            <a:avLst/>
          </a:prstGeom>
          <a:noFill/>
          <a:ln/>
        </p:spPr>
        <p:txBody>
          <a:bodyPr wrap="none" lIns="0" tIns="0" rIns="0" bIns="0" rtlCol="0" anchor="t"/>
          <a:lstStyle/>
          <a:p>
            <a:pPr algn="l" indent="0" marL="0">
              <a:lnSpc>
                <a:spcPts val="3480"/>
              </a:lnSpc>
              <a:buNone/>
            </a:pPr>
            <a:r>
              <a:rPr lang="en-US" sz="2900" dirty="0">
                <a:solidFill>
                  <a:srgbClr val="D2F21E"/>
                </a:solidFill>
                <a:latin typeface="Anton" pitchFamily="34" charset="0"/>
                <a:ea typeface="Anton" pitchFamily="34" charset="-122"/>
                <a:cs typeface="Anton" pitchFamily="34" charset="-120"/>
              </a:rPr>
              <a:t>L2</a:t>
            </a:r>
            <a:endParaRPr lang="en-US" sz="2900" dirty="0"/>
          </a:p>
        </p:txBody>
      </p:sp>
      <p:sp>
        <p:nvSpPr>
          <p:cNvPr id="12" name="Text 9"/>
          <p:cNvSpPr/>
          <p:nvPr/>
        </p:nvSpPr>
        <p:spPr>
          <a:xfrm>
            <a:off x="3555911" y="3780537"/>
            <a:ext cx="1275366" cy="547674"/>
          </a:xfrm>
          <a:prstGeom prst="rect">
            <a:avLst/>
          </a:prstGeom>
          <a:noFill/>
          <a:ln/>
        </p:spPr>
        <p:txBody>
          <a:bodyPr wrap="square" lIns="0" tIns="0" rIns="0" bIns="0" rtlCol="0" anchor="t"/>
          <a:lstStyle/>
          <a:p>
            <a:pPr algn="l" indent="0" marL="0">
              <a:lnSpc>
                <a:spcPts val="1440"/>
              </a:lnSpc>
              <a:buNone/>
            </a:pPr>
            <a:r>
              <a:rPr lang="en-US" sz="1150" dirty="0">
                <a:solidFill>
                  <a:srgbClr val="FFFFFF"/>
                </a:solidFill>
                <a:latin typeface="Arial" pitchFamily="34" charset="0"/>
                <a:ea typeface="Arial" pitchFamily="34" charset="-122"/>
                <a:cs typeface="Arial" pitchFamily="34" charset="-120"/>
              </a:rPr>
              <a:t>Junior que revisas línea a línea</a:t>
            </a:r>
            <a:endParaRPr lang="en-US" sz="1150" dirty="0"/>
          </a:p>
        </p:txBody>
      </p:sp>
      <p:sp>
        <p:nvSpPr>
          <p:cNvPr id="13" name="Shape 10"/>
          <p:cNvSpPr/>
          <p:nvPr/>
        </p:nvSpPr>
        <p:spPr>
          <a:xfrm>
            <a:off x="3555911" y="4394090"/>
            <a:ext cx="1238219" cy="114297"/>
          </a:xfrm>
          <a:prstGeom prst="rect">
            <a:avLst/>
          </a:prstGeom>
          <a:solidFill>
            <a:srgbClr val="D2F21E"/>
          </a:solidFill>
          <a:ln/>
        </p:spPr>
      </p:sp>
      <p:sp>
        <p:nvSpPr>
          <p:cNvPr id="14" name="Text 11"/>
          <p:cNvSpPr/>
          <p:nvPr/>
        </p:nvSpPr>
        <p:spPr>
          <a:xfrm>
            <a:off x="4857629" y="3109517"/>
            <a:ext cx="444013" cy="552436"/>
          </a:xfrm>
          <a:prstGeom prst="rect">
            <a:avLst/>
          </a:prstGeom>
          <a:noFill/>
          <a:ln/>
        </p:spPr>
        <p:txBody>
          <a:bodyPr wrap="none" lIns="0" tIns="0" rIns="0" bIns="0" rtlCol="0" anchor="t"/>
          <a:lstStyle/>
          <a:p>
            <a:pPr algn="l" indent="0" marL="0">
              <a:lnSpc>
                <a:spcPts val="3480"/>
              </a:lnSpc>
              <a:buNone/>
            </a:pPr>
            <a:r>
              <a:rPr lang="en-US" sz="2900" dirty="0">
                <a:solidFill>
                  <a:srgbClr val="1FD3F5"/>
                </a:solidFill>
                <a:latin typeface="Anton" pitchFamily="34" charset="0"/>
                <a:ea typeface="Anton" pitchFamily="34" charset="-122"/>
                <a:cs typeface="Anton" pitchFamily="34" charset="-120"/>
              </a:rPr>
              <a:t>L3</a:t>
            </a:r>
            <a:endParaRPr lang="en-US" sz="2900" dirty="0"/>
          </a:p>
        </p:txBody>
      </p:sp>
      <p:sp>
        <p:nvSpPr>
          <p:cNvPr id="15" name="Text 12"/>
          <p:cNvSpPr/>
          <p:nvPr/>
        </p:nvSpPr>
        <p:spPr>
          <a:xfrm>
            <a:off x="4857629" y="3604329"/>
            <a:ext cx="1275366" cy="365116"/>
          </a:xfrm>
          <a:prstGeom prst="rect">
            <a:avLst/>
          </a:prstGeom>
          <a:noFill/>
          <a:ln/>
        </p:spPr>
        <p:txBody>
          <a:bodyPr wrap="square" lIns="0" tIns="0" rIns="0" bIns="0" rtlCol="0" anchor="t"/>
          <a:lstStyle/>
          <a:p>
            <a:pPr algn="l" indent="0" marL="0">
              <a:lnSpc>
                <a:spcPts val="1440"/>
              </a:lnSpc>
              <a:buNone/>
            </a:pPr>
            <a:r>
              <a:rPr lang="en-US" sz="1150" dirty="0">
                <a:solidFill>
                  <a:srgbClr val="C9D6EA"/>
                </a:solidFill>
                <a:latin typeface="Arial" pitchFamily="34" charset="0"/>
                <a:ea typeface="Arial" pitchFamily="34" charset="-122"/>
                <a:cs typeface="Arial" pitchFamily="34" charset="-120"/>
              </a:rPr>
              <a:t>Dev que revisas sin escribir</a:t>
            </a:r>
            <a:endParaRPr lang="en-US" sz="1150" dirty="0"/>
          </a:p>
        </p:txBody>
      </p:sp>
      <p:sp>
        <p:nvSpPr>
          <p:cNvPr id="16" name="Shape 13"/>
          <p:cNvSpPr/>
          <p:nvPr/>
        </p:nvSpPr>
        <p:spPr>
          <a:xfrm>
            <a:off x="4857629" y="4051199"/>
            <a:ext cx="1238219" cy="63498"/>
          </a:xfrm>
          <a:prstGeom prst="rect">
            <a:avLst/>
          </a:prstGeom>
          <a:solidFill>
            <a:srgbClr val="1FD3F5"/>
          </a:solidFill>
          <a:ln/>
        </p:spPr>
      </p:sp>
      <p:sp>
        <p:nvSpPr>
          <p:cNvPr id="17" name="Text 14"/>
          <p:cNvSpPr/>
          <p:nvPr/>
        </p:nvSpPr>
        <p:spPr>
          <a:xfrm>
            <a:off x="6159346" y="2715827"/>
            <a:ext cx="444013" cy="552436"/>
          </a:xfrm>
          <a:prstGeom prst="rect">
            <a:avLst/>
          </a:prstGeom>
          <a:noFill/>
          <a:ln/>
        </p:spPr>
        <p:txBody>
          <a:bodyPr wrap="none" lIns="0" tIns="0" rIns="0" bIns="0" rtlCol="0" anchor="t"/>
          <a:lstStyle/>
          <a:p>
            <a:pPr algn="l" indent="0" marL="0">
              <a:lnSpc>
                <a:spcPts val="3480"/>
              </a:lnSpc>
              <a:buNone/>
            </a:pPr>
            <a:r>
              <a:rPr lang="en-US" sz="2900" dirty="0">
                <a:solidFill>
                  <a:srgbClr val="1FD3F5"/>
                </a:solidFill>
                <a:latin typeface="Anton" pitchFamily="34" charset="0"/>
                <a:ea typeface="Anton" pitchFamily="34" charset="-122"/>
                <a:cs typeface="Anton" pitchFamily="34" charset="-120"/>
              </a:rPr>
              <a:t>L4</a:t>
            </a:r>
            <a:endParaRPr lang="en-US" sz="2900" dirty="0"/>
          </a:p>
        </p:txBody>
      </p:sp>
      <p:sp>
        <p:nvSpPr>
          <p:cNvPr id="18" name="Text 15"/>
          <p:cNvSpPr/>
          <p:nvPr/>
        </p:nvSpPr>
        <p:spPr>
          <a:xfrm>
            <a:off x="6159346" y="3210638"/>
            <a:ext cx="1275366" cy="365116"/>
          </a:xfrm>
          <a:prstGeom prst="rect">
            <a:avLst/>
          </a:prstGeom>
          <a:noFill/>
          <a:ln/>
        </p:spPr>
        <p:txBody>
          <a:bodyPr wrap="square" lIns="0" tIns="0" rIns="0" bIns="0" rtlCol="0" anchor="t"/>
          <a:lstStyle/>
          <a:p>
            <a:pPr algn="l" indent="0" marL="0">
              <a:lnSpc>
                <a:spcPts val="1440"/>
              </a:lnSpc>
              <a:buNone/>
            </a:pPr>
            <a:r>
              <a:rPr lang="en-US" sz="1150" dirty="0">
                <a:solidFill>
                  <a:srgbClr val="C9D6EA"/>
                </a:solidFill>
                <a:latin typeface="Arial" pitchFamily="34" charset="0"/>
                <a:ea typeface="Arial" pitchFamily="34" charset="-122"/>
                <a:cs typeface="Arial" pitchFamily="34" charset="-120"/>
              </a:rPr>
              <a:t>Equipo: tú escribes specs</a:t>
            </a:r>
            <a:endParaRPr lang="en-US" sz="1150" dirty="0"/>
          </a:p>
        </p:txBody>
      </p:sp>
      <p:sp>
        <p:nvSpPr>
          <p:cNvPr id="19" name="Shape 16"/>
          <p:cNvSpPr/>
          <p:nvPr/>
        </p:nvSpPr>
        <p:spPr>
          <a:xfrm>
            <a:off x="6159346" y="3657509"/>
            <a:ext cx="1238219" cy="63498"/>
          </a:xfrm>
          <a:prstGeom prst="rect">
            <a:avLst/>
          </a:prstGeom>
          <a:solidFill>
            <a:srgbClr val="1FD3F5"/>
          </a:solidFill>
          <a:ln/>
        </p:spPr>
      </p:sp>
      <p:sp>
        <p:nvSpPr>
          <p:cNvPr id="20" name="Text 17"/>
          <p:cNvSpPr/>
          <p:nvPr/>
        </p:nvSpPr>
        <p:spPr>
          <a:xfrm>
            <a:off x="7461063" y="2322137"/>
            <a:ext cx="444013" cy="552436"/>
          </a:xfrm>
          <a:prstGeom prst="rect">
            <a:avLst/>
          </a:prstGeom>
          <a:noFill/>
          <a:ln/>
        </p:spPr>
        <p:txBody>
          <a:bodyPr wrap="none" lIns="0" tIns="0" rIns="0" bIns="0" rtlCol="0" anchor="t"/>
          <a:lstStyle/>
          <a:p>
            <a:pPr algn="l" indent="0" marL="0">
              <a:lnSpc>
                <a:spcPts val="3480"/>
              </a:lnSpc>
              <a:buNone/>
            </a:pPr>
            <a:r>
              <a:rPr lang="en-US" sz="2900" dirty="0">
                <a:solidFill>
                  <a:srgbClr val="1FD3F5"/>
                </a:solidFill>
                <a:latin typeface="Anton" pitchFamily="34" charset="0"/>
                <a:ea typeface="Anton" pitchFamily="34" charset="-122"/>
                <a:cs typeface="Anton" pitchFamily="34" charset="-120"/>
              </a:rPr>
              <a:t>L5</a:t>
            </a:r>
            <a:endParaRPr lang="en-US" sz="2900" dirty="0"/>
          </a:p>
        </p:txBody>
      </p:sp>
      <p:sp>
        <p:nvSpPr>
          <p:cNvPr id="21" name="Text 18"/>
          <p:cNvSpPr/>
          <p:nvPr/>
        </p:nvSpPr>
        <p:spPr>
          <a:xfrm>
            <a:off x="7461063" y="2816948"/>
            <a:ext cx="1225535" cy="182558"/>
          </a:xfrm>
          <a:prstGeom prst="rect">
            <a:avLst/>
          </a:prstGeom>
          <a:noFill/>
          <a:ln/>
        </p:spPr>
        <p:txBody>
          <a:bodyPr wrap="none" lIns="0" tIns="0" rIns="0" bIns="0" rtlCol="0" anchor="t"/>
          <a:lstStyle/>
          <a:p>
            <a:pPr algn="l" indent="0" marL="0">
              <a:lnSpc>
                <a:spcPts val="1440"/>
              </a:lnSpc>
              <a:buNone/>
            </a:pPr>
            <a:r>
              <a:rPr lang="en-US" sz="1150" dirty="0">
                <a:solidFill>
                  <a:srgbClr val="C9D6EA"/>
                </a:solidFill>
                <a:latin typeface="Arial" pitchFamily="34" charset="0"/>
                <a:ea typeface="Arial" pitchFamily="34" charset="-122"/>
                <a:cs typeface="Arial" pitchFamily="34" charset="-120"/>
              </a:rPr>
              <a:t>Fábrica oscura</a:t>
            </a:r>
            <a:endParaRPr lang="en-US" sz="1150" dirty="0"/>
          </a:p>
        </p:txBody>
      </p:sp>
      <p:sp>
        <p:nvSpPr>
          <p:cNvPr id="22" name="Shape 19"/>
          <p:cNvSpPr/>
          <p:nvPr/>
        </p:nvSpPr>
        <p:spPr>
          <a:xfrm>
            <a:off x="7461063" y="3263818"/>
            <a:ext cx="1238219" cy="63498"/>
          </a:xfrm>
          <a:prstGeom prst="rect">
            <a:avLst/>
          </a:prstGeom>
          <a:solidFill>
            <a:srgbClr val="1FD3F5"/>
          </a:solidFill>
          <a:ln/>
        </p:spPr>
      </p:sp>
      <p:sp>
        <p:nvSpPr>
          <p:cNvPr id="23" name="Shape 20"/>
          <p:cNvSpPr/>
          <p:nvPr/>
        </p:nvSpPr>
        <p:spPr>
          <a:xfrm>
            <a:off x="3555911" y="4876678"/>
            <a:ext cx="1453915" cy="292093"/>
          </a:xfrm>
          <a:prstGeom prst="rect">
            <a:avLst/>
          </a:prstGeom>
          <a:solidFill>
            <a:srgbClr val="020D22">
              <a:alpha val="90000"/>
            </a:srgbClr>
          </a:solidFill>
          <a:ln w="6350">
            <a:solidFill>
              <a:srgbClr val="D2F21E"/>
            </a:solidFill>
            <a:prstDash val="solid"/>
          </a:ln>
        </p:spPr>
      </p:sp>
      <p:sp>
        <p:nvSpPr>
          <p:cNvPr id="24" name="Text 21"/>
          <p:cNvSpPr/>
          <p:nvPr/>
        </p:nvSpPr>
        <p:spPr>
          <a:xfrm>
            <a:off x="3676558" y="4938907"/>
            <a:ext cx="1434334"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D2F21E"/>
                </a:solidFill>
                <a:latin typeface="Share Tech Mono" pitchFamily="34" charset="0"/>
                <a:ea typeface="Share Tech Mono" pitchFamily="34" charset="-122"/>
                <a:cs typeface="Share Tech Mono" pitchFamily="34" charset="-120"/>
              </a:rPr>
              <a:t>~90% está aquí</a:t>
            </a:r>
            <a:endParaRPr lang="en-US" sz="1100" dirty="0"/>
          </a:p>
        </p:txBody>
      </p:sp>
      <p:sp>
        <p:nvSpPr>
          <p:cNvPr id="25" name="Text 22"/>
          <p:cNvSpPr/>
          <p:nvPr/>
        </p:nvSpPr>
        <p:spPr>
          <a:xfrm>
            <a:off x="952476" y="5445624"/>
            <a:ext cx="3055274" cy="195575"/>
          </a:xfrm>
          <a:prstGeom prst="rect">
            <a:avLst/>
          </a:prstGeom>
          <a:noFill/>
          <a:ln/>
        </p:spPr>
        <p:txBody>
          <a:bodyPr wrap="none" lIns="0" tIns="0" rIns="0" bIns="0" rtlCol="0" anchor="t"/>
          <a:lstStyle/>
          <a:p>
            <a:pPr algn="l" indent="0" marL="0">
              <a:lnSpc>
                <a:spcPts val="1540"/>
              </a:lnSpc>
              <a:buNone/>
            </a:pPr>
            <a:r>
              <a:rPr lang="en-US" sz="1100" spc="20" kern="0" dirty="0">
                <a:solidFill>
                  <a:srgbClr val="93A4C2"/>
                </a:solidFill>
                <a:latin typeface="Share Tech Mono" pitchFamily="34" charset="0"/>
                <a:ea typeface="Share Tech Mono" pitchFamily="34" charset="-122"/>
                <a:cs typeface="Share Tech Mono" pitchFamily="34" charset="-120"/>
              </a:rPr>
              <a:t>Niveles de Dan Shapiro, enero 2026</a:t>
            </a:r>
            <a:endParaRPr lang="en-US" sz="1100" dirty="0"/>
          </a:p>
        </p:txBody>
      </p:sp>
      <p:sp>
        <p:nvSpPr>
          <p:cNvPr id="26" name="Text 23"/>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7" name="Text 24"/>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524762" y="698483"/>
            <a:ext cx="1714457" cy="2717236"/>
          </a:xfrm>
          <a:prstGeom prst="rect">
            <a:avLst/>
          </a:prstGeom>
        </p:spPr>
      </p:pic>
      <p:sp>
        <p:nvSpPr>
          <p:cNvPr id="3" name="Text 0"/>
          <p:cNvSpPr/>
          <p:nvPr/>
        </p:nvSpPr>
        <p:spPr>
          <a:xfrm>
            <a:off x="1174721" y="784840"/>
            <a:ext cx="2571670"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01 · IMPACTO REAL</a:t>
            </a:r>
            <a:endParaRPr lang="en-US" sz="1200" dirty="0"/>
          </a:p>
        </p:txBody>
      </p:sp>
      <p:sp>
        <p:nvSpPr>
          <p:cNvPr id="4" name="Text 1"/>
          <p:cNvSpPr/>
          <p:nvPr/>
        </p:nvSpPr>
        <p:spPr>
          <a:xfrm>
            <a:off x="952476" y="1231869"/>
            <a:ext cx="8502437" cy="1460463"/>
          </a:xfrm>
          <a:prstGeom prst="rect">
            <a:avLst/>
          </a:prstGeom>
          <a:noFill/>
          <a:ln/>
        </p:spPr>
        <p:txBody>
          <a:bodyPr wrap="squar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DEVS EXPERTOS CON IA: ¿MÁS RÁPIDOS O MÁS LENTOS?</a:t>
            </a:r>
            <a:endParaRPr lang="en-US" sz="4600" dirty="0"/>
          </a:p>
        </p:txBody>
      </p:sp>
      <p:sp>
        <p:nvSpPr>
          <p:cNvPr id="5" name="Shape 2"/>
          <p:cNvSpPr/>
          <p:nvPr/>
        </p:nvSpPr>
        <p:spPr>
          <a:xfrm>
            <a:off x="952476" y="2705032"/>
            <a:ext cx="4425839" cy="1977281"/>
          </a:xfrm>
          <a:prstGeom prst="rect">
            <a:avLst/>
          </a:prstGeom>
          <a:solidFill>
            <a:srgbClr val="0A285A">
              <a:alpha val="72000"/>
            </a:srgbClr>
          </a:solidFill>
          <a:ln w="12700">
            <a:solidFill>
              <a:srgbClr val="1FD3F4">
                <a:alpha val="45000"/>
              </a:srgbClr>
            </a:solidFill>
            <a:prstDash val="solid"/>
          </a:ln>
        </p:spPr>
      </p:sp>
      <p:sp>
        <p:nvSpPr>
          <p:cNvPr id="6" name="Text 3"/>
          <p:cNvSpPr/>
          <p:nvPr/>
        </p:nvSpPr>
        <p:spPr>
          <a:xfrm>
            <a:off x="1244569" y="2964106"/>
            <a:ext cx="1581349"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1FD3F5"/>
                </a:solidFill>
                <a:latin typeface="Share Tech Mono" pitchFamily="34" charset="0"/>
                <a:ea typeface="Share Tech Mono" pitchFamily="34" charset="-122"/>
                <a:cs typeface="Share Tech Mono" pitchFamily="34" charset="-120"/>
              </a:rPr>
              <a:t>LO QUE CREÍAN</a:t>
            </a:r>
            <a:endParaRPr lang="en-US" sz="1100" dirty="0"/>
          </a:p>
        </p:txBody>
      </p:sp>
      <p:sp>
        <p:nvSpPr>
          <p:cNvPr id="7" name="Text 4"/>
          <p:cNvSpPr/>
          <p:nvPr/>
        </p:nvSpPr>
        <p:spPr>
          <a:xfrm>
            <a:off x="1244569" y="3213020"/>
            <a:ext cx="3956904" cy="1943051"/>
          </a:xfrm>
          <a:prstGeom prst="rect">
            <a:avLst/>
          </a:prstGeom>
          <a:noFill/>
          <a:ln/>
        </p:spPr>
        <p:txBody>
          <a:bodyPr wrap="square" lIns="0" tIns="0" rIns="0" bIns="0" rtlCol="0" anchor="t"/>
          <a:lstStyle/>
          <a:p>
            <a:pPr algn="l" indent="0" marL="0">
              <a:lnSpc>
                <a:spcPts val="7650"/>
              </a:lnSpc>
              <a:buNone/>
            </a:pPr>
            <a:r>
              <a:rPr lang="en-US" sz="7500" dirty="0">
                <a:solidFill>
                  <a:srgbClr val="1FD3F5"/>
                </a:solidFill>
                <a:latin typeface="Anton" pitchFamily="34" charset="0"/>
                <a:ea typeface="Anton" pitchFamily="34" charset="-122"/>
                <a:cs typeface="Anton" pitchFamily="34" charset="-120"/>
              </a:rPr>
              <a:t>+20</a:t>
            </a:r>
            <a:r>
              <a:rPr lang="en-US" sz="3750" dirty="0">
                <a:solidFill>
                  <a:srgbClr val="1FD3F5"/>
                </a:solidFill>
                <a:latin typeface="Anton" pitchFamily="34" charset="0"/>
                <a:ea typeface="Anton" pitchFamily="34" charset="-122"/>
                <a:cs typeface="Anton" pitchFamily="34" charset="-120"/>
              </a:rPr>
              <a:t>%</a:t>
            </a:r>
            <a:endParaRPr lang="en-US" sz="7500" dirty="0"/>
          </a:p>
        </p:txBody>
      </p:sp>
      <p:sp>
        <p:nvSpPr>
          <p:cNvPr id="8" name="Text 5"/>
          <p:cNvSpPr/>
          <p:nvPr/>
        </p:nvSpPr>
        <p:spPr>
          <a:xfrm>
            <a:off x="1244569" y="4180100"/>
            <a:ext cx="1144749"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más rápidos</a:t>
            </a:r>
            <a:endParaRPr lang="en-US" sz="1300" dirty="0"/>
          </a:p>
        </p:txBody>
      </p:sp>
      <p:sp>
        <p:nvSpPr>
          <p:cNvPr id="9" name="Shape 6"/>
          <p:cNvSpPr/>
          <p:nvPr/>
        </p:nvSpPr>
        <p:spPr>
          <a:xfrm>
            <a:off x="5733907" y="2705032"/>
            <a:ext cx="4425839" cy="1977281"/>
          </a:xfrm>
          <a:prstGeom prst="rect">
            <a:avLst/>
          </a:prstGeom>
          <a:solidFill>
            <a:srgbClr val="0A285A">
              <a:alpha val="72000"/>
            </a:srgbClr>
          </a:solidFill>
          <a:ln w="12700">
            <a:solidFill>
              <a:srgbClr val="FF4B3A">
                <a:alpha val="55000"/>
              </a:srgbClr>
            </a:solidFill>
            <a:prstDash val="solid"/>
          </a:ln>
        </p:spPr>
      </p:sp>
      <p:sp>
        <p:nvSpPr>
          <p:cNvPr id="10" name="Text 7"/>
          <p:cNvSpPr/>
          <p:nvPr/>
        </p:nvSpPr>
        <p:spPr>
          <a:xfrm>
            <a:off x="6025999" y="2964106"/>
            <a:ext cx="1812927"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FF4B3A"/>
                </a:solidFill>
                <a:latin typeface="Share Tech Mono" pitchFamily="34" charset="0"/>
                <a:ea typeface="Share Tech Mono" pitchFamily="34" charset="-122"/>
                <a:cs typeface="Share Tech Mono" pitchFamily="34" charset="-120"/>
              </a:rPr>
              <a:t>LO QUE SE MIDIÓ</a:t>
            </a:r>
            <a:endParaRPr lang="en-US" sz="1100" dirty="0"/>
          </a:p>
        </p:txBody>
      </p:sp>
      <p:sp>
        <p:nvSpPr>
          <p:cNvPr id="11" name="Text 8"/>
          <p:cNvSpPr/>
          <p:nvPr/>
        </p:nvSpPr>
        <p:spPr>
          <a:xfrm>
            <a:off x="6025999" y="3213020"/>
            <a:ext cx="3956904" cy="1943051"/>
          </a:xfrm>
          <a:prstGeom prst="rect">
            <a:avLst/>
          </a:prstGeom>
          <a:noFill/>
          <a:ln/>
        </p:spPr>
        <p:txBody>
          <a:bodyPr wrap="square" lIns="0" tIns="0" rIns="0" bIns="0" rtlCol="0" anchor="t"/>
          <a:lstStyle/>
          <a:p>
            <a:pPr algn="l" indent="0" marL="0">
              <a:lnSpc>
                <a:spcPts val="7650"/>
              </a:lnSpc>
              <a:buNone/>
            </a:pPr>
            <a:r>
              <a:rPr lang="en-US" sz="7500" dirty="0">
                <a:solidFill>
                  <a:srgbClr val="FF4B3A"/>
                </a:solidFill>
                <a:latin typeface="Anton" pitchFamily="34" charset="0"/>
                <a:ea typeface="Anton" pitchFamily="34" charset="-122"/>
                <a:cs typeface="Anton" pitchFamily="34" charset="-120"/>
              </a:rPr>
              <a:t>−19</a:t>
            </a:r>
            <a:r>
              <a:rPr lang="en-US" sz="3750" dirty="0">
                <a:solidFill>
                  <a:srgbClr val="FF4B3A"/>
                </a:solidFill>
                <a:latin typeface="Anton" pitchFamily="34" charset="0"/>
                <a:ea typeface="Anton" pitchFamily="34" charset="-122"/>
                <a:cs typeface="Anton" pitchFamily="34" charset="-120"/>
              </a:rPr>
              <a:t>%</a:t>
            </a:r>
            <a:endParaRPr lang="en-US" sz="7500" dirty="0"/>
          </a:p>
        </p:txBody>
      </p:sp>
      <p:sp>
        <p:nvSpPr>
          <p:cNvPr id="12" name="Text 9"/>
          <p:cNvSpPr/>
          <p:nvPr/>
        </p:nvSpPr>
        <p:spPr>
          <a:xfrm>
            <a:off x="6025999" y="4180100"/>
            <a:ext cx="1020626"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más lentos</a:t>
            </a:r>
            <a:endParaRPr lang="en-US" sz="1300" dirty="0"/>
          </a:p>
        </p:txBody>
      </p:sp>
      <p:sp>
        <p:nvSpPr>
          <p:cNvPr id="13" name="Text 10"/>
          <p:cNvSpPr/>
          <p:nvPr/>
        </p:nvSpPr>
        <p:spPr>
          <a:xfrm>
            <a:off x="952476" y="4870269"/>
            <a:ext cx="5946674" cy="195575"/>
          </a:xfrm>
          <a:prstGeom prst="rect">
            <a:avLst/>
          </a:prstGeom>
          <a:noFill/>
          <a:ln/>
        </p:spPr>
        <p:txBody>
          <a:bodyPr wrap="none" lIns="0" tIns="0" rIns="0" bIns="0" rtlCol="0" anchor="t"/>
          <a:lstStyle/>
          <a:p>
            <a:pPr algn="l" indent="0" marL="0">
              <a:lnSpc>
                <a:spcPts val="1540"/>
              </a:lnSpc>
              <a:buNone/>
            </a:pPr>
            <a:r>
              <a:rPr lang="en-US" sz="1100" spc="20" kern="0" dirty="0">
                <a:solidFill>
                  <a:srgbClr val="93A4C2"/>
                </a:solidFill>
                <a:latin typeface="Share Tech Mono" pitchFamily="34" charset="0"/>
                <a:ea typeface="Share Tech Mono" pitchFamily="34" charset="-122"/>
                <a:cs typeface="Share Tech Mono" pitchFamily="34" charset="-120"/>
              </a:rPr>
              <a:t>METR, 2025. Su seguimiento de feb. 2026 sugiere más aceleración hoy</a:t>
            </a:r>
            <a:endParaRPr lang="en-US" sz="1100" dirty="0"/>
          </a:p>
        </p:txBody>
      </p:sp>
      <p:sp>
        <p:nvSpPr>
          <p:cNvPr id="14" name="Text 11"/>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15" name="Text 12"/>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334267" y="2163411"/>
            <a:ext cx="1904952" cy="3678443"/>
          </a:xfrm>
          <a:prstGeom prst="rect">
            <a:avLst/>
          </a:prstGeom>
        </p:spPr>
      </p:pic>
      <p:sp>
        <p:nvSpPr>
          <p:cNvPr id="3" name="Shape 0"/>
          <p:cNvSpPr/>
          <p:nvPr/>
        </p:nvSpPr>
        <p:spPr>
          <a:xfrm>
            <a:off x="952476" y="4118070"/>
            <a:ext cx="7810305" cy="12700"/>
          </a:xfrm>
          <a:prstGeom prst="rect">
            <a:avLst/>
          </a:prstGeom>
          <a:solidFill>
            <a:srgbClr val="20D3F5">
              <a:alpha val="50000"/>
            </a:srgbClr>
          </a:solidFill>
          <a:ln/>
        </p:spPr>
      </p:sp>
      <p:sp>
        <p:nvSpPr>
          <p:cNvPr id="4" name="Text 1"/>
          <p:cNvSpPr/>
          <p:nvPr/>
        </p:nvSpPr>
        <p:spPr>
          <a:xfrm>
            <a:off x="1714457" y="1925736"/>
            <a:ext cx="7259774" cy="1915866"/>
          </a:xfrm>
          <a:prstGeom prst="rect">
            <a:avLst/>
          </a:prstGeom>
          <a:noFill/>
          <a:ln/>
        </p:spPr>
        <p:txBody>
          <a:bodyPr wrap="square" lIns="0" tIns="0" rIns="0" bIns="0" rtlCol="0" anchor="t"/>
          <a:lstStyle/>
          <a:p>
            <a:pPr algn="l" indent="0" marL="0">
              <a:lnSpc>
                <a:spcPts val="4370"/>
              </a:lnSpc>
              <a:buNone/>
            </a:pPr>
            <a:r>
              <a:rPr lang="en-US" sz="4200" dirty="0">
                <a:solidFill>
                  <a:srgbClr val="FFFFFF"/>
                </a:solidFill>
                <a:latin typeface="Anton" pitchFamily="34" charset="0"/>
                <a:ea typeface="Anton" pitchFamily="34" charset="-122"/>
                <a:cs typeface="Anton" pitchFamily="34" charset="-120"/>
              </a:rPr>
              <a:t>LA IA AMPLIFICA: SI TU BASE ES BUENA, MEJOR. SI ES CAOS, MÁS CAOS</a:t>
            </a:r>
            <a:endParaRPr lang="en-US" sz="4200" dirty="0"/>
          </a:p>
        </p:txBody>
      </p:sp>
      <p:sp>
        <p:nvSpPr>
          <p:cNvPr id="5" name="Text 2"/>
          <p:cNvSpPr/>
          <p:nvPr/>
        </p:nvSpPr>
        <p:spPr>
          <a:xfrm>
            <a:off x="1714457" y="3750415"/>
            <a:ext cx="3326079" cy="182875"/>
          </a:xfrm>
          <a:prstGeom prst="rect">
            <a:avLst/>
          </a:prstGeom>
          <a:noFill/>
          <a:ln/>
        </p:spPr>
        <p:txBody>
          <a:bodyPr wrap="none" lIns="0" tIns="0" rIns="0" bIns="0" rtlCol="0" anchor="t"/>
          <a:lstStyle/>
          <a:p>
            <a:pPr algn="l" indent="0" marL="0">
              <a:lnSpc>
                <a:spcPts val="1440"/>
              </a:lnSpc>
              <a:buNone/>
            </a:pPr>
            <a:r>
              <a:rPr lang="en-US" sz="1200" spc="170" kern="0" dirty="0">
                <a:solidFill>
                  <a:srgbClr val="1FD3F5"/>
                </a:solidFill>
                <a:latin typeface="Share Tech Mono" pitchFamily="34" charset="0"/>
                <a:ea typeface="Share Tech Mono" pitchFamily="34" charset="-122"/>
                <a:cs typeface="Share Tech Mono" pitchFamily="34" charset="-120"/>
              </a:rPr>
              <a:t>DORA 2025 · FAROS · STANFORD</a:t>
            </a:r>
            <a:endParaRPr lang="en-US" sz="1200" dirty="0"/>
          </a:p>
        </p:txBody>
      </p:sp>
      <p:sp>
        <p:nvSpPr>
          <p:cNvPr id="6" name="Text 3"/>
          <p:cNvSpPr/>
          <p:nvPr/>
        </p:nvSpPr>
        <p:spPr>
          <a:xfrm>
            <a:off x="952476" y="4448262"/>
            <a:ext cx="6634743" cy="266693"/>
          </a:xfrm>
          <a:prstGeom prst="rect">
            <a:avLst/>
          </a:prstGeom>
          <a:noFill/>
          <a:ln/>
        </p:spPr>
        <p:txBody>
          <a:bodyPr wrap="none" lIns="0" tIns="0" rIns="0" bIns="0" rtlCol="0" anchor="t"/>
          <a:lstStyle/>
          <a:p>
            <a:pPr algn="l" indent="0" marL="0">
              <a:lnSpc>
                <a:spcPts val="2100"/>
              </a:lnSpc>
              <a:buNone/>
            </a:pPr>
            <a:r>
              <a:rPr lang="en-US" sz="1500" b="1" spc="60" kern="0" dirty="0">
                <a:solidFill>
                  <a:srgbClr val="1FD3F5"/>
                </a:solidFill>
                <a:latin typeface="Share Tech Mono" pitchFamily="34" charset="0"/>
                <a:ea typeface="Share Tech Mono" pitchFamily="34" charset="-122"/>
                <a:cs typeface="Share Tech Mono" pitchFamily="34" charset="-120"/>
              </a:rPr>
              <a:t>Mide entrega con DORA o DX Core 4, no con sensaciones</a:t>
            </a:r>
            <a:endParaRPr lang="en-US" sz="1500" dirty="0"/>
          </a:p>
        </p:txBody>
      </p:sp>
      <p:sp>
        <p:nvSpPr>
          <p:cNvPr id="7" name="Text 4"/>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8" name="Text 5"/>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588260" y="3943152"/>
            <a:ext cx="1587460" cy="1962200"/>
          </a:xfrm>
          <a:prstGeom prst="rect">
            <a:avLst/>
          </a:prstGeom>
        </p:spPr>
      </p:pic>
      <p:sp>
        <p:nvSpPr>
          <p:cNvPr id="3" name="Text 0"/>
          <p:cNvSpPr/>
          <p:nvPr/>
        </p:nvSpPr>
        <p:spPr>
          <a:xfrm>
            <a:off x="5176994" y="2157101"/>
            <a:ext cx="1837708" cy="182875"/>
          </a:xfrm>
          <a:prstGeom prst="rect">
            <a:avLst/>
          </a:prstGeom>
          <a:noFill/>
          <a:ln/>
        </p:spPr>
        <p:txBody>
          <a:bodyPr wrap="none" lIns="0" tIns="0" rIns="0" bIns="0" rtlCol="0" anchor="t"/>
          <a:lstStyle/>
          <a:p>
            <a:pPr algn="ctr"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02 · HARNESS</a:t>
            </a:r>
            <a:endParaRPr lang="en-US" sz="1200" dirty="0"/>
          </a:p>
        </p:txBody>
      </p:sp>
      <p:sp>
        <p:nvSpPr>
          <p:cNvPr id="4" name="Text 1"/>
          <p:cNvSpPr/>
          <p:nvPr/>
        </p:nvSpPr>
        <p:spPr>
          <a:xfrm>
            <a:off x="818453" y="2604129"/>
            <a:ext cx="10554690" cy="1428714"/>
          </a:xfrm>
          <a:prstGeom prst="rect">
            <a:avLst/>
          </a:prstGeom>
          <a:noFill/>
          <a:ln/>
        </p:spPr>
        <p:txBody>
          <a:bodyPr wrap="none" lIns="0" tIns="0" rIns="0" bIns="0" rtlCol="0" anchor="t"/>
          <a:lstStyle/>
          <a:p>
            <a:pPr algn="ctr" indent="0" marL="0">
              <a:lnSpc>
                <a:spcPts val="7350"/>
              </a:lnSpc>
              <a:buNone/>
            </a:pPr>
            <a:r>
              <a:rPr lang="en-US" sz="7500" spc="40" kern="0" dirty="0">
                <a:solidFill>
                  <a:srgbClr val="FFFFFF"/>
                </a:solidFill>
                <a:latin typeface="Anton" pitchFamily="34" charset="0"/>
                <a:ea typeface="Anton" pitchFamily="34" charset="-122"/>
                <a:cs typeface="Anton" pitchFamily="34" charset="-120"/>
              </a:rPr>
              <a:t>AGENT = MODEL + </a:t>
            </a:r>
            <a:r>
              <a:rPr lang="en-US" sz="7500" spc="40" kern="0" dirty="0">
                <a:solidFill>
                  <a:srgbClr val="1FD3F5"/>
                </a:solidFill>
                <a:latin typeface="Anton" pitchFamily="34" charset="0"/>
                <a:ea typeface="Anton" pitchFamily="34" charset="-122"/>
                <a:cs typeface="Anton" pitchFamily="34" charset="-120"/>
              </a:rPr>
              <a:t>HARNESS</a:t>
            </a:r>
            <a:endParaRPr lang="en-US" sz="7500" dirty="0"/>
          </a:p>
        </p:txBody>
      </p:sp>
      <p:sp>
        <p:nvSpPr>
          <p:cNvPr id="5" name="Text 2"/>
          <p:cNvSpPr/>
          <p:nvPr/>
        </p:nvSpPr>
        <p:spPr>
          <a:xfrm>
            <a:off x="2662171" y="3764880"/>
            <a:ext cx="6867353" cy="640064"/>
          </a:xfrm>
          <a:prstGeom prst="rect">
            <a:avLst/>
          </a:prstGeom>
          <a:noFill/>
          <a:ln/>
        </p:spPr>
        <p:txBody>
          <a:bodyPr wrap="square" lIns="0" tIns="0" rIns="0" bIns="0" rtlCol="0" anchor="t"/>
          <a:lstStyle/>
          <a:p>
            <a:pPr algn="ctr" indent="0" marL="0">
              <a:lnSpc>
                <a:spcPts val="2520"/>
              </a:lnSpc>
              <a:buNone/>
            </a:pPr>
            <a:r>
              <a:rPr lang="en-US" sz="1800" dirty="0">
                <a:solidFill>
                  <a:srgbClr val="C9D6EA"/>
                </a:solidFill>
                <a:latin typeface="Arial" pitchFamily="34" charset="0"/>
                <a:ea typeface="Arial" pitchFamily="34" charset="-122"/>
                <a:cs typeface="Arial" pitchFamily="34" charset="-120"/>
              </a:rPr>
              <a:t>El caballo es fuerte. Sin arnés, no tira del carro hacia donde quieres</a:t>
            </a:r>
            <a:endParaRPr lang="en-US" sz="1800" dirty="0"/>
          </a:p>
        </p:txBody>
      </p:sp>
      <p:sp>
        <p:nvSpPr>
          <p:cNvPr id="6" name="Text 3"/>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7" name="Text 4"/>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174721" y="784840"/>
            <a:ext cx="1837708"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02 · HARNESS</a:t>
            </a:r>
            <a:endParaRPr lang="en-US" sz="1200" dirty="0"/>
          </a:p>
        </p:txBody>
      </p:sp>
      <p:sp>
        <p:nvSpPr>
          <p:cNvPr id="3" name="Text 1"/>
          <p:cNvSpPr/>
          <p:nvPr/>
        </p:nvSpPr>
        <p:spPr>
          <a:xfrm>
            <a:off x="952476" y="1231869"/>
            <a:ext cx="6157473"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DEL PROMPT AL ENTORNO</a:t>
            </a:r>
            <a:endParaRPr lang="en-US" sz="4600" dirty="0"/>
          </a:p>
        </p:txBody>
      </p:sp>
      <p:sp>
        <p:nvSpPr>
          <p:cNvPr id="4" name="Shape 2"/>
          <p:cNvSpPr/>
          <p:nvPr/>
        </p:nvSpPr>
        <p:spPr>
          <a:xfrm>
            <a:off x="952476" y="2120847"/>
            <a:ext cx="3094258" cy="2095448"/>
          </a:xfrm>
          <a:prstGeom prst="rect">
            <a:avLst/>
          </a:prstGeom>
          <a:solidFill>
            <a:srgbClr val="0A285A">
              <a:alpha val="72000"/>
            </a:srgbClr>
          </a:solidFill>
          <a:ln w="12700">
            <a:solidFill>
              <a:srgbClr val="1FD3F4">
                <a:alpha val="45000"/>
              </a:srgbClr>
            </a:solidFill>
            <a:prstDash val="solid"/>
          </a:ln>
        </p:spPr>
      </p:sp>
      <p:sp>
        <p:nvSpPr>
          <p:cNvPr id="5" name="Text 3"/>
          <p:cNvSpPr/>
          <p:nvPr/>
        </p:nvSpPr>
        <p:spPr>
          <a:xfrm>
            <a:off x="1244569" y="2379921"/>
            <a:ext cx="1002513"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1FD3F5"/>
                </a:solidFill>
                <a:latin typeface="Share Tech Mono" pitchFamily="34" charset="0"/>
                <a:ea typeface="Share Tech Mono" pitchFamily="34" charset="-122"/>
                <a:cs typeface="Share Tech Mono" pitchFamily="34" charset="-120"/>
              </a:rPr>
              <a:t>LENGUAJE</a:t>
            </a:r>
            <a:endParaRPr lang="en-US" sz="1100" dirty="0"/>
          </a:p>
        </p:txBody>
      </p:sp>
      <p:sp>
        <p:nvSpPr>
          <p:cNvPr id="6" name="Text 4"/>
          <p:cNvSpPr/>
          <p:nvPr/>
        </p:nvSpPr>
        <p:spPr>
          <a:xfrm>
            <a:off x="1244569" y="2597339"/>
            <a:ext cx="2723352" cy="438139"/>
          </a:xfrm>
          <a:prstGeom prst="rect">
            <a:avLst/>
          </a:prstGeom>
          <a:noFill/>
          <a:ln/>
        </p:spPr>
        <p:txBody>
          <a:bodyPr wrap="none" lIns="0" tIns="0" rIns="0" bIns="0" rtlCol="0" anchor="t"/>
          <a:lstStyle/>
          <a:p>
            <a:pPr algn="l" indent="0" marL="0">
              <a:lnSpc>
                <a:spcPts val="2350"/>
              </a:lnSpc>
              <a:buNone/>
            </a:pPr>
            <a:r>
              <a:rPr lang="en-US" sz="2300" spc="20" kern="0" dirty="0">
                <a:solidFill>
                  <a:srgbClr val="FFFFFF"/>
                </a:solidFill>
                <a:latin typeface="Anton" pitchFamily="34" charset="0"/>
                <a:ea typeface="Anton" pitchFamily="34" charset="-122"/>
                <a:cs typeface="Anton" pitchFamily="34" charset="-120"/>
              </a:rPr>
              <a:t>PROMPT ENGINEERING</a:t>
            </a:r>
            <a:endParaRPr lang="en-US" sz="2300" dirty="0"/>
          </a:p>
        </p:txBody>
      </p:sp>
      <p:sp>
        <p:nvSpPr>
          <p:cNvPr id="7" name="Text 5"/>
          <p:cNvSpPr/>
          <p:nvPr/>
        </p:nvSpPr>
        <p:spPr>
          <a:xfrm>
            <a:off x="1244569" y="2985735"/>
            <a:ext cx="1123636"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Cómo pides</a:t>
            </a:r>
            <a:endParaRPr lang="en-US" sz="1300" dirty="0"/>
          </a:p>
        </p:txBody>
      </p:sp>
      <p:sp>
        <p:nvSpPr>
          <p:cNvPr id="8" name="Text 6"/>
          <p:cNvSpPr/>
          <p:nvPr/>
        </p:nvSpPr>
        <p:spPr>
          <a:xfrm>
            <a:off x="4224530" y="2939976"/>
            <a:ext cx="240214" cy="457189"/>
          </a:xfrm>
          <a:prstGeom prst="rect">
            <a:avLst/>
          </a:prstGeom>
          <a:noFill/>
          <a:ln/>
        </p:spPr>
        <p:txBody>
          <a:bodyPr wrap="none" lIns="0" tIns="0" rIns="0" bIns="0" rtlCol="0" anchor="t"/>
          <a:lstStyle/>
          <a:p>
            <a:pPr algn="l" indent="0" marL="0">
              <a:lnSpc>
                <a:spcPts val="3600"/>
              </a:lnSpc>
              <a:buNone/>
            </a:pPr>
            <a:r>
              <a:rPr lang="en-US" sz="3000" dirty="0">
                <a:solidFill>
                  <a:srgbClr val="1FD3F5"/>
                </a:solidFill>
                <a:latin typeface="Arial" pitchFamily="34" charset="0"/>
                <a:ea typeface="Arial" pitchFamily="34" charset="-122"/>
                <a:cs typeface="Arial" pitchFamily="34" charset="-120"/>
              </a:rPr>
              <a:t>›</a:t>
            </a:r>
            <a:endParaRPr lang="en-US" sz="3000" dirty="0"/>
          </a:p>
        </p:txBody>
      </p:sp>
      <p:sp>
        <p:nvSpPr>
          <p:cNvPr id="9" name="Shape 7"/>
          <p:cNvSpPr/>
          <p:nvPr/>
        </p:nvSpPr>
        <p:spPr>
          <a:xfrm>
            <a:off x="4548768" y="2120847"/>
            <a:ext cx="3094258" cy="2095448"/>
          </a:xfrm>
          <a:prstGeom prst="rect">
            <a:avLst/>
          </a:prstGeom>
          <a:solidFill>
            <a:srgbClr val="0A285A">
              <a:alpha val="72000"/>
            </a:srgbClr>
          </a:solidFill>
          <a:ln w="12700">
            <a:solidFill>
              <a:srgbClr val="1FD3F4">
                <a:alpha val="45000"/>
              </a:srgbClr>
            </a:solidFill>
            <a:prstDash val="solid"/>
          </a:ln>
        </p:spPr>
      </p:sp>
      <p:sp>
        <p:nvSpPr>
          <p:cNvPr id="10" name="Text 8"/>
          <p:cNvSpPr/>
          <p:nvPr/>
        </p:nvSpPr>
        <p:spPr>
          <a:xfrm>
            <a:off x="4840861" y="2379921"/>
            <a:ext cx="1349881"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1FD3F5"/>
                </a:solidFill>
                <a:latin typeface="Share Tech Mono" pitchFamily="34" charset="0"/>
                <a:ea typeface="Share Tech Mono" pitchFamily="34" charset="-122"/>
                <a:cs typeface="Share Tech Mono" pitchFamily="34" charset="-120"/>
              </a:rPr>
              <a:t>INFORMACIÓN</a:t>
            </a:r>
            <a:endParaRPr lang="en-US" sz="1100" dirty="0"/>
          </a:p>
        </p:txBody>
      </p:sp>
      <p:sp>
        <p:nvSpPr>
          <p:cNvPr id="11" name="Text 9"/>
          <p:cNvSpPr/>
          <p:nvPr/>
        </p:nvSpPr>
        <p:spPr>
          <a:xfrm>
            <a:off x="4840861" y="2597339"/>
            <a:ext cx="2758133" cy="438139"/>
          </a:xfrm>
          <a:prstGeom prst="rect">
            <a:avLst/>
          </a:prstGeom>
          <a:noFill/>
          <a:ln/>
        </p:spPr>
        <p:txBody>
          <a:bodyPr wrap="none" lIns="0" tIns="0" rIns="0" bIns="0" rtlCol="0" anchor="t"/>
          <a:lstStyle/>
          <a:p>
            <a:pPr algn="l" indent="0" marL="0">
              <a:lnSpc>
                <a:spcPts val="2350"/>
              </a:lnSpc>
              <a:buNone/>
            </a:pPr>
            <a:r>
              <a:rPr lang="en-US" sz="2300" spc="20" kern="0" dirty="0">
                <a:solidFill>
                  <a:srgbClr val="FFFFFF"/>
                </a:solidFill>
                <a:latin typeface="Anton" pitchFamily="34" charset="0"/>
                <a:ea typeface="Anton" pitchFamily="34" charset="-122"/>
                <a:cs typeface="Anton" pitchFamily="34" charset="-120"/>
              </a:rPr>
              <a:t>CONTEXT ENGINEERING</a:t>
            </a:r>
            <a:endParaRPr lang="en-US" sz="2300" dirty="0"/>
          </a:p>
        </p:txBody>
      </p:sp>
      <p:sp>
        <p:nvSpPr>
          <p:cNvPr id="12" name="Text 10"/>
          <p:cNvSpPr/>
          <p:nvPr/>
        </p:nvSpPr>
        <p:spPr>
          <a:xfrm>
            <a:off x="4840861" y="2985735"/>
            <a:ext cx="1601017"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Qué ve el modelo</a:t>
            </a:r>
            <a:endParaRPr lang="en-US" sz="1300" dirty="0"/>
          </a:p>
        </p:txBody>
      </p:sp>
      <p:sp>
        <p:nvSpPr>
          <p:cNvPr id="13" name="Text 11"/>
          <p:cNvSpPr/>
          <p:nvPr/>
        </p:nvSpPr>
        <p:spPr>
          <a:xfrm>
            <a:off x="7820822" y="2939976"/>
            <a:ext cx="240214" cy="457189"/>
          </a:xfrm>
          <a:prstGeom prst="rect">
            <a:avLst/>
          </a:prstGeom>
          <a:noFill/>
          <a:ln/>
        </p:spPr>
        <p:txBody>
          <a:bodyPr wrap="none" lIns="0" tIns="0" rIns="0" bIns="0" rtlCol="0" anchor="t"/>
          <a:lstStyle/>
          <a:p>
            <a:pPr algn="l" indent="0" marL="0">
              <a:lnSpc>
                <a:spcPts val="3600"/>
              </a:lnSpc>
              <a:buNone/>
            </a:pPr>
            <a:r>
              <a:rPr lang="en-US" sz="3000" dirty="0">
                <a:solidFill>
                  <a:srgbClr val="1FD3F5"/>
                </a:solidFill>
                <a:latin typeface="Arial" pitchFamily="34" charset="0"/>
                <a:ea typeface="Arial" pitchFamily="34" charset="-122"/>
                <a:cs typeface="Arial" pitchFamily="34" charset="-120"/>
              </a:rPr>
              <a:t>›</a:t>
            </a:r>
            <a:endParaRPr lang="en-US" sz="3000" dirty="0"/>
          </a:p>
        </p:txBody>
      </p:sp>
      <p:sp>
        <p:nvSpPr>
          <p:cNvPr id="14" name="Shape 12"/>
          <p:cNvSpPr/>
          <p:nvPr/>
        </p:nvSpPr>
        <p:spPr>
          <a:xfrm>
            <a:off x="8145060" y="2120847"/>
            <a:ext cx="3094258" cy="2095448"/>
          </a:xfrm>
          <a:prstGeom prst="rect">
            <a:avLst/>
          </a:prstGeom>
          <a:solidFill>
            <a:srgbClr val="0A285A">
              <a:alpha val="72000"/>
            </a:srgbClr>
          </a:solidFill>
          <a:ln w="12700">
            <a:solidFill>
              <a:srgbClr val="D1F21D">
                <a:alpha val="55000"/>
              </a:srgbClr>
            </a:solidFill>
            <a:prstDash val="solid"/>
          </a:ln>
        </p:spPr>
      </p:sp>
      <p:sp>
        <p:nvSpPr>
          <p:cNvPr id="15" name="Text 13"/>
          <p:cNvSpPr/>
          <p:nvPr/>
        </p:nvSpPr>
        <p:spPr>
          <a:xfrm>
            <a:off x="8437153" y="2379921"/>
            <a:ext cx="886724"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D2F21E"/>
                </a:solidFill>
                <a:latin typeface="Share Tech Mono" pitchFamily="34" charset="0"/>
                <a:ea typeface="Share Tech Mono" pitchFamily="34" charset="-122"/>
                <a:cs typeface="Share Tech Mono" pitchFamily="34" charset="-120"/>
              </a:rPr>
              <a:t>ENTORNO</a:t>
            </a:r>
            <a:endParaRPr lang="en-US" sz="1100" dirty="0"/>
          </a:p>
        </p:txBody>
      </p:sp>
      <p:sp>
        <p:nvSpPr>
          <p:cNvPr id="16" name="Text 14"/>
          <p:cNvSpPr/>
          <p:nvPr/>
        </p:nvSpPr>
        <p:spPr>
          <a:xfrm>
            <a:off x="8437153" y="2597339"/>
            <a:ext cx="2806693" cy="438139"/>
          </a:xfrm>
          <a:prstGeom prst="rect">
            <a:avLst/>
          </a:prstGeom>
          <a:noFill/>
          <a:ln/>
        </p:spPr>
        <p:txBody>
          <a:bodyPr wrap="none" lIns="0" tIns="0" rIns="0" bIns="0" rtlCol="0" anchor="t"/>
          <a:lstStyle/>
          <a:p>
            <a:pPr algn="l" indent="0" marL="0">
              <a:lnSpc>
                <a:spcPts val="2350"/>
              </a:lnSpc>
              <a:buNone/>
            </a:pPr>
            <a:r>
              <a:rPr lang="en-US" sz="2300" spc="20" kern="0" dirty="0">
                <a:solidFill>
                  <a:srgbClr val="FFFFFF"/>
                </a:solidFill>
                <a:latin typeface="Anton" pitchFamily="34" charset="0"/>
                <a:ea typeface="Anton" pitchFamily="34" charset="-122"/>
                <a:cs typeface="Anton" pitchFamily="34" charset="-120"/>
              </a:rPr>
              <a:t>HARNESS ENGINEERING</a:t>
            </a:r>
            <a:endParaRPr lang="en-US" sz="2300" dirty="0"/>
          </a:p>
        </p:txBody>
      </p:sp>
      <p:sp>
        <p:nvSpPr>
          <p:cNvPr id="17" name="Text 15"/>
          <p:cNvSpPr/>
          <p:nvPr/>
        </p:nvSpPr>
        <p:spPr>
          <a:xfrm>
            <a:off x="8437153" y="2985735"/>
            <a:ext cx="2222968"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Cómo actúa y se corrige</a:t>
            </a:r>
            <a:endParaRPr lang="en-US" sz="1300" dirty="0"/>
          </a:p>
        </p:txBody>
      </p:sp>
      <p:sp>
        <p:nvSpPr>
          <p:cNvPr id="18" name="Text 16"/>
          <p:cNvSpPr/>
          <p:nvPr/>
        </p:nvSpPr>
        <p:spPr>
          <a:xfrm>
            <a:off x="952476" y="4533787"/>
            <a:ext cx="4902347" cy="266693"/>
          </a:xfrm>
          <a:prstGeom prst="rect">
            <a:avLst/>
          </a:prstGeom>
          <a:noFill/>
          <a:ln/>
        </p:spPr>
        <p:txBody>
          <a:bodyPr wrap="none" lIns="0" tIns="0" rIns="0" bIns="0" rtlCol="0" anchor="t"/>
          <a:lstStyle/>
          <a:p>
            <a:pPr algn="l" indent="0" marL="0">
              <a:lnSpc>
                <a:spcPts val="2100"/>
              </a:lnSpc>
              <a:buNone/>
            </a:pPr>
            <a:r>
              <a:rPr lang="en-US" sz="1500" b="1" spc="60" kern="0" dirty="0">
                <a:solidFill>
                  <a:srgbClr val="D2F21E"/>
                </a:solidFill>
                <a:latin typeface="Share Tech Mono" pitchFamily="34" charset="0"/>
                <a:ea typeface="Share Tech Mono" pitchFamily="34" charset="-122"/>
                <a:cs typeface="Share Tech Mono" pitchFamily="34" charset="-120"/>
              </a:rPr>
              <a:t>No mejores el prompt, mejora el entorno</a:t>
            </a:r>
            <a:endParaRPr lang="en-US" sz="1500" dirty="0"/>
          </a:p>
        </p:txBody>
      </p:sp>
      <p:sp>
        <p:nvSpPr>
          <p:cNvPr id="19" name="Text 17"/>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0" name="Text 18"/>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080273" y="3466220"/>
            <a:ext cx="2158946" cy="2375634"/>
          </a:xfrm>
          <a:prstGeom prst="rect">
            <a:avLst/>
          </a:prstGeom>
        </p:spPr>
      </p:pic>
      <p:sp>
        <p:nvSpPr>
          <p:cNvPr id="3" name="Text 0"/>
          <p:cNvSpPr/>
          <p:nvPr/>
        </p:nvSpPr>
        <p:spPr>
          <a:xfrm>
            <a:off x="1174721" y="1645839"/>
            <a:ext cx="2865255"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LEVANTA LA MANO SI…</a:t>
            </a:r>
            <a:endParaRPr lang="en-US" sz="1200" dirty="0"/>
          </a:p>
        </p:txBody>
      </p:sp>
      <p:sp>
        <p:nvSpPr>
          <p:cNvPr id="4" name="Text 1"/>
          <p:cNvSpPr/>
          <p:nvPr/>
        </p:nvSpPr>
        <p:spPr>
          <a:xfrm>
            <a:off x="952476" y="2089058"/>
            <a:ext cx="6757866" cy="363211"/>
          </a:xfrm>
          <a:prstGeom prst="rect">
            <a:avLst/>
          </a:prstGeom>
          <a:noFill/>
          <a:ln/>
        </p:spPr>
        <p:txBody>
          <a:bodyPr wrap="none" lIns="0" tIns="0" rIns="0" bIns="0" rtlCol="0" anchor="t"/>
          <a:lstStyle/>
          <a:p>
            <a:pPr algn="l" indent="0" marL="0">
              <a:lnSpc>
                <a:spcPts val="2860"/>
              </a:lnSpc>
              <a:buNone/>
            </a:pPr>
            <a:r>
              <a:rPr lang="en-US" sz="2200" dirty="0">
                <a:solidFill>
                  <a:srgbClr val="FFFFFF"/>
                </a:solidFill>
                <a:latin typeface="Arial" pitchFamily="34" charset="0"/>
                <a:ea typeface="Arial" pitchFamily="34" charset="-122"/>
                <a:cs typeface="Arial" pitchFamily="34" charset="-120"/>
              </a:rPr>
              <a:t>le explicaste lo mismo dos veces a un agente</a:t>
            </a:r>
            <a:endParaRPr lang="en-US" sz="2200" dirty="0"/>
          </a:p>
        </p:txBody>
      </p:sp>
      <p:sp>
        <p:nvSpPr>
          <p:cNvPr id="5" name="Shape 2"/>
          <p:cNvSpPr/>
          <p:nvPr/>
        </p:nvSpPr>
        <p:spPr>
          <a:xfrm>
            <a:off x="952476" y="4904657"/>
            <a:ext cx="7937302" cy="12700"/>
          </a:xfrm>
          <a:prstGeom prst="rect">
            <a:avLst/>
          </a:prstGeom>
          <a:solidFill>
            <a:srgbClr val="20D3F5">
              <a:alpha val="50000"/>
            </a:srgbClr>
          </a:solidFill>
          <a:ln/>
        </p:spPr>
      </p:sp>
      <p:sp>
        <p:nvSpPr>
          <p:cNvPr id="6" name="Text 3"/>
          <p:cNvSpPr/>
          <p:nvPr/>
        </p:nvSpPr>
        <p:spPr>
          <a:xfrm>
            <a:off x="1714457" y="2945318"/>
            <a:ext cx="7390580" cy="1643021"/>
          </a:xfrm>
          <a:prstGeom prst="rect">
            <a:avLst/>
          </a:prstGeom>
          <a:noFill/>
          <a:ln/>
        </p:spPr>
        <p:txBody>
          <a:bodyPr wrap="square" lIns="0" tIns="0" rIns="0" bIns="0" rtlCol="0" anchor="t"/>
          <a:lstStyle/>
          <a:p>
            <a:pPr algn="l" indent="0" marL="0">
              <a:lnSpc>
                <a:spcPts val="3740"/>
              </a:lnSpc>
              <a:buNone/>
            </a:pPr>
            <a:r>
              <a:rPr lang="en-US" sz="3600" dirty="0">
                <a:solidFill>
                  <a:srgbClr val="FFFFFF"/>
                </a:solidFill>
                <a:latin typeface="Anton" pitchFamily="34" charset="0"/>
                <a:ea typeface="Anton" pitchFamily="34" charset="-122"/>
                <a:cs typeface="Anton" pitchFamily="34" charset="-120"/>
              </a:rPr>
              <a:t>CADA PREGUNTA QUE UN AGENTE TE HACE DOS VECES ES UNA DECISIÓN QUE NO DOCUMENTASTE</a:t>
            </a:r>
            <a:endParaRPr lang="en-US" sz="3600" dirty="0"/>
          </a:p>
        </p:txBody>
      </p:sp>
      <p:sp>
        <p:nvSpPr>
          <p:cNvPr id="7" name="Text 4"/>
          <p:cNvSpPr/>
          <p:nvPr/>
        </p:nvSpPr>
        <p:spPr>
          <a:xfrm>
            <a:off x="1714457" y="4537001"/>
            <a:ext cx="2861810" cy="182875"/>
          </a:xfrm>
          <a:prstGeom prst="rect">
            <a:avLst/>
          </a:prstGeom>
          <a:noFill/>
          <a:ln/>
        </p:spPr>
        <p:txBody>
          <a:bodyPr wrap="none" lIns="0" tIns="0" rIns="0" bIns="0" rtlCol="0" anchor="t"/>
          <a:lstStyle/>
          <a:p>
            <a:pPr algn="l" indent="0" marL="0">
              <a:lnSpc>
                <a:spcPts val="1440"/>
              </a:lnSpc>
              <a:buNone/>
            </a:pPr>
            <a:r>
              <a:rPr lang="en-US" sz="1200" spc="170" kern="0" dirty="0">
                <a:solidFill>
                  <a:srgbClr val="1FD3F5"/>
                </a:solidFill>
                <a:latin typeface="Share Tech Mono" pitchFamily="34" charset="0"/>
                <a:ea typeface="Share Tech Mono" pitchFamily="34" charset="-122"/>
                <a:cs typeface="Share Tech Mono" pitchFamily="34" charset="-120"/>
              </a:rPr>
              <a:t>PEDRO ANZE · AGENT FIRST</a:t>
            </a:r>
            <a:endParaRPr lang="en-US" sz="1200" dirty="0"/>
          </a:p>
        </p:txBody>
      </p:sp>
      <p:sp>
        <p:nvSpPr>
          <p:cNvPr id="8" name="Text 5"/>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9" name="Text 6"/>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174721" y="784840"/>
            <a:ext cx="1837708"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02 · HARNESS</a:t>
            </a:r>
            <a:endParaRPr lang="en-US" sz="1200" dirty="0"/>
          </a:p>
        </p:txBody>
      </p:sp>
      <p:sp>
        <p:nvSpPr>
          <p:cNvPr id="3" name="Text 1"/>
          <p:cNvSpPr/>
          <p:nvPr/>
        </p:nvSpPr>
        <p:spPr>
          <a:xfrm>
            <a:off x="952476" y="1231869"/>
            <a:ext cx="8138226"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GUÍAS ANTES, SENSORES DESPUÉS</a:t>
            </a:r>
            <a:endParaRPr lang="en-US" sz="4600" dirty="0"/>
          </a:p>
        </p:txBody>
      </p:sp>
      <p:sp>
        <p:nvSpPr>
          <p:cNvPr id="4" name="Shape 2"/>
          <p:cNvSpPr/>
          <p:nvPr/>
        </p:nvSpPr>
        <p:spPr>
          <a:xfrm>
            <a:off x="952476" y="2120847"/>
            <a:ext cx="4965576" cy="2730432"/>
          </a:xfrm>
          <a:prstGeom prst="rect">
            <a:avLst/>
          </a:prstGeom>
          <a:solidFill>
            <a:srgbClr val="0A285A">
              <a:alpha val="72000"/>
            </a:srgbClr>
          </a:solidFill>
          <a:ln w="12700">
            <a:solidFill>
              <a:srgbClr val="1FD3F4">
                <a:alpha val="45000"/>
              </a:srgbClr>
            </a:solidFill>
            <a:prstDash val="solid"/>
          </a:ln>
        </p:spPr>
      </p:sp>
      <p:sp>
        <p:nvSpPr>
          <p:cNvPr id="5" name="Text 3"/>
          <p:cNvSpPr/>
          <p:nvPr/>
        </p:nvSpPr>
        <p:spPr>
          <a:xfrm>
            <a:off x="1244569" y="2379921"/>
            <a:ext cx="3433867"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1FD3F5"/>
                </a:solidFill>
                <a:latin typeface="Share Tech Mono" pitchFamily="34" charset="0"/>
                <a:ea typeface="Share Tech Mono" pitchFamily="34" charset="-122"/>
                <a:cs typeface="Share Tech Mono" pitchFamily="34" charset="-120"/>
              </a:rPr>
              <a:t>FEEDFORWARD · ANTES DE ACTUAR</a:t>
            </a:r>
            <a:endParaRPr lang="en-US" sz="1100" dirty="0"/>
          </a:p>
        </p:txBody>
      </p:sp>
      <p:sp>
        <p:nvSpPr>
          <p:cNvPr id="6" name="Text 4"/>
          <p:cNvSpPr/>
          <p:nvPr/>
        </p:nvSpPr>
        <p:spPr>
          <a:xfrm>
            <a:off x="1244569" y="2598609"/>
            <a:ext cx="1255538" cy="723882"/>
          </a:xfrm>
          <a:prstGeom prst="rect">
            <a:avLst/>
          </a:prstGeom>
          <a:noFill/>
          <a:ln/>
        </p:spPr>
        <p:txBody>
          <a:bodyPr wrap="none" lIns="0" tIns="0" rIns="0" bIns="0" rtlCol="0" anchor="t"/>
          <a:lstStyle/>
          <a:p>
            <a:pPr algn="l" indent="0" marL="0">
              <a:lnSpc>
                <a:spcPts val="3880"/>
              </a:lnSpc>
              <a:buNone/>
            </a:pPr>
            <a:r>
              <a:rPr lang="en-US" sz="3800" spc="40" kern="0" dirty="0">
                <a:solidFill>
                  <a:srgbClr val="FFFFFF"/>
                </a:solidFill>
                <a:latin typeface="Anton" pitchFamily="34" charset="0"/>
                <a:ea typeface="Anton" pitchFamily="34" charset="-122"/>
                <a:cs typeface="Anton" pitchFamily="34" charset="-120"/>
              </a:rPr>
              <a:t>GUÍAS</a:t>
            </a:r>
            <a:endParaRPr lang="en-US" sz="3800" dirty="0"/>
          </a:p>
        </p:txBody>
      </p:sp>
      <p:sp>
        <p:nvSpPr>
          <p:cNvPr id="7" name="Shape 5"/>
          <p:cNvSpPr/>
          <p:nvPr/>
        </p:nvSpPr>
        <p:spPr>
          <a:xfrm>
            <a:off x="1244569" y="3248043"/>
            <a:ext cx="1020836" cy="292093"/>
          </a:xfrm>
          <a:prstGeom prst="rect">
            <a:avLst/>
          </a:prstGeom>
          <a:ln w="6350">
            <a:solidFill>
              <a:srgbClr val="20D3F5">
                <a:alpha val="50000"/>
              </a:srgbClr>
            </a:solidFill>
            <a:prstDash val="solid"/>
          </a:ln>
        </p:spPr>
      </p:sp>
      <p:sp>
        <p:nvSpPr>
          <p:cNvPr id="8" name="Text 6"/>
          <p:cNvSpPr/>
          <p:nvPr/>
        </p:nvSpPr>
        <p:spPr>
          <a:xfrm>
            <a:off x="1365216" y="3310271"/>
            <a:ext cx="949285"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AGENTS.md</a:t>
            </a:r>
            <a:endParaRPr lang="en-US" sz="1100" dirty="0"/>
          </a:p>
        </p:txBody>
      </p:sp>
      <p:sp>
        <p:nvSpPr>
          <p:cNvPr id="9" name="Shape 7"/>
          <p:cNvSpPr/>
          <p:nvPr/>
        </p:nvSpPr>
        <p:spPr>
          <a:xfrm>
            <a:off x="2354303" y="3248043"/>
            <a:ext cx="760989" cy="292093"/>
          </a:xfrm>
          <a:prstGeom prst="rect">
            <a:avLst/>
          </a:prstGeom>
          <a:ln w="6350">
            <a:solidFill>
              <a:srgbClr val="20D3F5">
                <a:alpha val="50000"/>
              </a:srgbClr>
            </a:solidFill>
            <a:prstDash val="solid"/>
          </a:ln>
        </p:spPr>
      </p:sp>
      <p:sp>
        <p:nvSpPr>
          <p:cNvPr id="10" name="Text 8"/>
          <p:cNvSpPr/>
          <p:nvPr/>
        </p:nvSpPr>
        <p:spPr>
          <a:xfrm>
            <a:off x="2474950" y="3310271"/>
            <a:ext cx="658256"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skills</a:t>
            </a:r>
            <a:endParaRPr lang="en-US" sz="1100" dirty="0"/>
          </a:p>
        </p:txBody>
      </p:sp>
      <p:sp>
        <p:nvSpPr>
          <p:cNvPr id="11" name="Shape 9"/>
          <p:cNvSpPr/>
          <p:nvPr/>
        </p:nvSpPr>
        <p:spPr>
          <a:xfrm>
            <a:off x="3204189" y="3248043"/>
            <a:ext cx="1280684" cy="292093"/>
          </a:xfrm>
          <a:prstGeom prst="rect">
            <a:avLst/>
          </a:prstGeom>
          <a:ln w="6350">
            <a:solidFill>
              <a:srgbClr val="20D3F5">
                <a:alpha val="50000"/>
              </a:srgbClr>
            </a:solidFill>
            <a:prstDash val="solid"/>
          </a:ln>
        </p:spPr>
      </p:sp>
      <p:sp>
        <p:nvSpPr>
          <p:cNvPr id="12" name="Text 10"/>
          <p:cNvSpPr/>
          <p:nvPr/>
        </p:nvSpPr>
        <p:spPr>
          <a:xfrm>
            <a:off x="3324836" y="3310271"/>
            <a:ext cx="1240314"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convenciones</a:t>
            </a:r>
            <a:endParaRPr lang="en-US" sz="1100" dirty="0"/>
          </a:p>
        </p:txBody>
      </p:sp>
      <p:sp>
        <p:nvSpPr>
          <p:cNvPr id="13" name="Shape 11"/>
          <p:cNvSpPr/>
          <p:nvPr/>
        </p:nvSpPr>
        <p:spPr>
          <a:xfrm>
            <a:off x="1244569" y="3629033"/>
            <a:ext cx="1453915" cy="292093"/>
          </a:xfrm>
          <a:prstGeom prst="rect">
            <a:avLst/>
          </a:prstGeom>
          <a:ln w="6350">
            <a:solidFill>
              <a:srgbClr val="20D3F5">
                <a:alpha val="50000"/>
              </a:srgbClr>
            </a:solidFill>
            <a:prstDash val="solid"/>
          </a:ln>
        </p:spPr>
      </p:sp>
      <p:sp>
        <p:nvSpPr>
          <p:cNvPr id="14" name="Text 12"/>
          <p:cNvSpPr/>
          <p:nvPr/>
        </p:nvSpPr>
        <p:spPr>
          <a:xfrm>
            <a:off x="1365216" y="3691262"/>
            <a:ext cx="1434334"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docs de diseño</a:t>
            </a:r>
            <a:endParaRPr lang="en-US" sz="1100" dirty="0"/>
          </a:p>
        </p:txBody>
      </p:sp>
      <p:sp>
        <p:nvSpPr>
          <p:cNvPr id="15" name="Shape 13"/>
          <p:cNvSpPr/>
          <p:nvPr/>
        </p:nvSpPr>
        <p:spPr>
          <a:xfrm>
            <a:off x="2787382" y="3629033"/>
            <a:ext cx="1886994" cy="292093"/>
          </a:xfrm>
          <a:prstGeom prst="rect">
            <a:avLst/>
          </a:prstGeom>
          <a:ln w="6350">
            <a:solidFill>
              <a:srgbClr val="20D3F5">
                <a:alpha val="50000"/>
              </a:srgbClr>
            </a:solidFill>
            <a:prstDash val="solid"/>
          </a:ln>
        </p:spPr>
      </p:sp>
      <p:sp>
        <p:nvSpPr>
          <p:cNvPr id="16" name="Text 14"/>
          <p:cNvSpPr/>
          <p:nvPr/>
        </p:nvSpPr>
        <p:spPr>
          <a:xfrm>
            <a:off x="2908029" y="3691262"/>
            <a:ext cx="1919382"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scripts de arranque</a:t>
            </a:r>
            <a:endParaRPr lang="en-US" sz="1100" dirty="0"/>
          </a:p>
        </p:txBody>
      </p:sp>
      <p:sp>
        <p:nvSpPr>
          <p:cNvPr id="17" name="Shape 15"/>
          <p:cNvSpPr/>
          <p:nvPr/>
        </p:nvSpPr>
        <p:spPr>
          <a:xfrm>
            <a:off x="6273643" y="2120847"/>
            <a:ext cx="4965576" cy="2730432"/>
          </a:xfrm>
          <a:prstGeom prst="rect">
            <a:avLst/>
          </a:prstGeom>
          <a:solidFill>
            <a:srgbClr val="0A285A">
              <a:alpha val="72000"/>
            </a:srgbClr>
          </a:solidFill>
          <a:ln w="12700">
            <a:solidFill>
              <a:srgbClr val="D1F21D">
                <a:alpha val="55000"/>
              </a:srgbClr>
            </a:solidFill>
            <a:prstDash val="solid"/>
          </a:ln>
        </p:spPr>
      </p:sp>
      <p:sp>
        <p:nvSpPr>
          <p:cNvPr id="18" name="Text 16"/>
          <p:cNvSpPr/>
          <p:nvPr/>
        </p:nvSpPr>
        <p:spPr>
          <a:xfrm>
            <a:off x="6565736" y="2379921"/>
            <a:ext cx="3318078"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D2F21E"/>
                </a:solidFill>
                <a:latin typeface="Share Tech Mono" pitchFamily="34" charset="0"/>
                <a:ea typeface="Share Tech Mono" pitchFamily="34" charset="-122"/>
                <a:cs typeface="Share Tech Mono" pitchFamily="34" charset="-120"/>
              </a:rPr>
              <a:t>FEEDBACK · DURANTE Y DESPUÉS</a:t>
            </a:r>
            <a:endParaRPr lang="en-US" sz="1100" dirty="0"/>
          </a:p>
        </p:txBody>
      </p:sp>
      <p:sp>
        <p:nvSpPr>
          <p:cNvPr id="19" name="Text 17"/>
          <p:cNvSpPr/>
          <p:nvPr/>
        </p:nvSpPr>
        <p:spPr>
          <a:xfrm>
            <a:off x="6565736" y="2598609"/>
            <a:ext cx="2102290" cy="723882"/>
          </a:xfrm>
          <a:prstGeom prst="rect">
            <a:avLst/>
          </a:prstGeom>
          <a:noFill/>
          <a:ln/>
        </p:spPr>
        <p:txBody>
          <a:bodyPr wrap="none" lIns="0" tIns="0" rIns="0" bIns="0" rtlCol="0" anchor="t"/>
          <a:lstStyle/>
          <a:p>
            <a:pPr algn="l" indent="0" marL="0">
              <a:lnSpc>
                <a:spcPts val="3880"/>
              </a:lnSpc>
              <a:buNone/>
            </a:pPr>
            <a:r>
              <a:rPr lang="en-US" sz="3800" spc="40" kern="0" dirty="0">
                <a:solidFill>
                  <a:srgbClr val="FFFFFF"/>
                </a:solidFill>
                <a:latin typeface="Anton" pitchFamily="34" charset="0"/>
                <a:ea typeface="Anton" pitchFamily="34" charset="-122"/>
                <a:cs typeface="Anton" pitchFamily="34" charset="-120"/>
              </a:rPr>
              <a:t>SENSORES</a:t>
            </a:r>
            <a:endParaRPr lang="en-US" sz="3800" dirty="0"/>
          </a:p>
        </p:txBody>
      </p:sp>
      <p:sp>
        <p:nvSpPr>
          <p:cNvPr id="20" name="Shape 18"/>
          <p:cNvSpPr/>
          <p:nvPr/>
        </p:nvSpPr>
        <p:spPr>
          <a:xfrm>
            <a:off x="6565736" y="3248043"/>
            <a:ext cx="847605" cy="292093"/>
          </a:xfrm>
          <a:prstGeom prst="rect">
            <a:avLst/>
          </a:prstGeom>
          <a:ln w="6350">
            <a:solidFill>
              <a:srgbClr val="D2F21E"/>
            </a:solidFill>
            <a:prstDash val="solid"/>
          </a:ln>
        </p:spPr>
      </p:sp>
      <p:sp>
        <p:nvSpPr>
          <p:cNvPr id="21" name="Text 19"/>
          <p:cNvSpPr/>
          <p:nvPr/>
        </p:nvSpPr>
        <p:spPr>
          <a:xfrm>
            <a:off x="6686383" y="3310271"/>
            <a:ext cx="755266"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D2F21E"/>
                </a:solidFill>
                <a:latin typeface="Share Tech Mono" pitchFamily="34" charset="0"/>
                <a:ea typeface="Share Tech Mono" pitchFamily="34" charset="-122"/>
                <a:cs typeface="Share Tech Mono" pitchFamily="34" charset="-120"/>
              </a:rPr>
              <a:t>linters</a:t>
            </a:r>
            <a:endParaRPr lang="en-US" sz="1100" dirty="0"/>
          </a:p>
        </p:txBody>
      </p:sp>
      <p:sp>
        <p:nvSpPr>
          <p:cNvPr id="22" name="Shape 20"/>
          <p:cNvSpPr/>
          <p:nvPr/>
        </p:nvSpPr>
        <p:spPr>
          <a:xfrm>
            <a:off x="7502238" y="3248043"/>
            <a:ext cx="674373" cy="292093"/>
          </a:xfrm>
          <a:prstGeom prst="rect">
            <a:avLst/>
          </a:prstGeom>
          <a:ln w="6350">
            <a:solidFill>
              <a:srgbClr val="D2F21E"/>
            </a:solidFill>
            <a:prstDash val="solid"/>
          </a:ln>
        </p:spPr>
      </p:sp>
      <p:sp>
        <p:nvSpPr>
          <p:cNvPr id="23" name="Text 21"/>
          <p:cNvSpPr/>
          <p:nvPr/>
        </p:nvSpPr>
        <p:spPr>
          <a:xfrm>
            <a:off x="7622885" y="3310271"/>
            <a:ext cx="561247"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D2F21E"/>
                </a:solidFill>
                <a:latin typeface="Share Tech Mono" pitchFamily="34" charset="0"/>
                <a:ea typeface="Share Tech Mono" pitchFamily="34" charset="-122"/>
                <a:cs typeface="Share Tech Mono" pitchFamily="34" charset="-120"/>
              </a:rPr>
              <a:t>tipos</a:t>
            </a:r>
            <a:endParaRPr lang="en-US" sz="1100" dirty="0"/>
          </a:p>
        </p:txBody>
      </p:sp>
      <p:sp>
        <p:nvSpPr>
          <p:cNvPr id="24" name="Shape 22"/>
          <p:cNvSpPr/>
          <p:nvPr/>
        </p:nvSpPr>
        <p:spPr>
          <a:xfrm>
            <a:off x="8265509" y="3248043"/>
            <a:ext cx="674373" cy="292093"/>
          </a:xfrm>
          <a:prstGeom prst="rect">
            <a:avLst/>
          </a:prstGeom>
          <a:ln w="6350">
            <a:solidFill>
              <a:srgbClr val="D2F21E"/>
            </a:solidFill>
            <a:prstDash val="solid"/>
          </a:ln>
        </p:spPr>
      </p:sp>
      <p:sp>
        <p:nvSpPr>
          <p:cNvPr id="25" name="Text 23"/>
          <p:cNvSpPr/>
          <p:nvPr/>
        </p:nvSpPr>
        <p:spPr>
          <a:xfrm>
            <a:off x="8386156" y="3310271"/>
            <a:ext cx="561247"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D2F21E"/>
                </a:solidFill>
                <a:latin typeface="Share Tech Mono" pitchFamily="34" charset="0"/>
                <a:ea typeface="Share Tech Mono" pitchFamily="34" charset="-122"/>
                <a:cs typeface="Share Tech Mono" pitchFamily="34" charset="-120"/>
              </a:rPr>
              <a:t>tests</a:t>
            </a:r>
            <a:endParaRPr lang="en-US" sz="1100" dirty="0"/>
          </a:p>
        </p:txBody>
      </p:sp>
      <p:sp>
        <p:nvSpPr>
          <p:cNvPr id="26" name="Shape 24"/>
          <p:cNvSpPr/>
          <p:nvPr/>
        </p:nvSpPr>
        <p:spPr>
          <a:xfrm>
            <a:off x="9028780" y="3248043"/>
            <a:ext cx="1453915" cy="292093"/>
          </a:xfrm>
          <a:prstGeom prst="rect">
            <a:avLst/>
          </a:prstGeom>
          <a:ln w="6350">
            <a:solidFill>
              <a:srgbClr val="D2F21E"/>
            </a:solidFill>
            <a:prstDash val="solid"/>
          </a:ln>
        </p:spPr>
      </p:sp>
      <p:sp>
        <p:nvSpPr>
          <p:cNvPr id="27" name="Text 25"/>
          <p:cNvSpPr/>
          <p:nvPr/>
        </p:nvSpPr>
        <p:spPr>
          <a:xfrm>
            <a:off x="9149427" y="3310271"/>
            <a:ext cx="1434334"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D2F21E"/>
                </a:solidFill>
                <a:latin typeface="Share Tech Mono" pitchFamily="34" charset="0"/>
                <a:ea typeface="Share Tech Mono" pitchFamily="34" charset="-122"/>
                <a:cs typeface="Share Tech Mono" pitchFamily="34" charset="-120"/>
              </a:rPr>
              <a:t>agente revisor</a:t>
            </a:r>
            <a:endParaRPr lang="en-US" sz="1100" dirty="0"/>
          </a:p>
        </p:txBody>
      </p:sp>
      <p:sp>
        <p:nvSpPr>
          <p:cNvPr id="28" name="Shape 26"/>
          <p:cNvSpPr/>
          <p:nvPr/>
        </p:nvSpPr>
        <p:spPr>
          <a:xfrm>
            <a:off x="6565736" y="3629033"/>
            <a:ext cx="1453915" cy="292093"/>
          </a:xfrm>
          <a:prstGeom prst="rect">
            <a:avLst/>
          </a:prstGeom>
          <a:ln w="6350">
            <a:solidFill>
              <a:srgbClr val="D2F21E"/>
            </a:solidFill>
            <a:prstDash val="solid"/>
          </a:ln>
        </p:spPr>
      </p:sp>
      <p:sp>
        <p:nvSpPr>
          <p:cNvPr id="29" name="Text 27"/>
          <p:cNvSpPr/>
          <p:nvPr/>
        </p:nvSpPr>
        <p:spPr>
          <a:xfrm>
            <a:off x="6686383" y="3691262"/>
            <a:ext cx="1434334"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D2F21E"/>
                </a:solidFill>
                <a:latin typeface="Share Tech Mono" pitchFamily="34" charset="0"/>
                <a:ea typeface="Share Tech Mono" pitchFamily="34" charset="-122"/>
                <a:cs typeface="Share Tech Mono" pitchFamily="34" charset="-120"/>
              </a:rPr>
              <a:t>observabilidad</a:t>
            </a:r>
            <a:endParaRPr lang="en-US" sz="1100" dirty="0"/>
          </a:p>
        </p:txBody>
      </p:sp>
      <p:sp>
        <p:nvSpPr>
          <p:cNvPr id="30" name="Text 28"/>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31" name="Text 29"/>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174721" y="784840"/>
            <a:ext cx="1837708"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02 · HARNESS</a:t>
            </a:r>
            <a:endParaRPr lang="en-US" sz="1200" dirty="0"/>
          </a:p>
        </p:txBody>
      </p:sp>
      <p:sp>
        <p:nvSpPr>
          <p:cNvPr id="3" name="Text 1"/>
          <p:cNvSpPr/>
          <p:nvPr/>
        </p:nvSpPr>
        <p:spPr>
          <a:xfrm>
            <a:off x="952476" y="1231869"/>
            <a:ext cx="6292375"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EMPIEZA POR UN ARCHIVO</a:t>
            </a:r>
            <a:endParaRPr lang="en-US" sz="4600" dirty="0"/>
          </a:p>
        </p:txBody>
      </p:sp>
      <p:sp>
        <p:nvSpPr>
          <p:cNvPr id="4" name="Shape 2"/>
          <p:cNvSpPr/>
          <p:nvPr/>
        </p:nvSpPr>
        <p:spPr>
          <a:xfrm>
            <a:off x="952476" y="2120847"/>
            <a:ext cx="5659296" cy="2911402"/>
          </a:xfrm>
          <a:prstGeom prst="roundRect">
            <a:avLst>
              <a:gd name="adj" fmla="val 3053"/>
            </a:avLst>
          </a:prstGeom>
          <a:solidFill>
            <a:srgbClr val="010814"/>
          </a:solidFill>
          <a:ln w="12700">
            <a:solidFill>
              <a:srgbClr val="1ED2F5">
                <a:alpha val="40000"/>
              </a:srgbClr>
            </a:solidFill>
            <a:prstDash val="solid"/>
          </a:ln>
        </p:spPr>
      </p:sp>
      <p:sp>
        <p:nvSpPr>
          <p:cNvPr id="5" name="Shape 3"/>
          <p:cNvSpPr/>
          <p:nvPr/>
        </p:nvSpPr>
        <p:spPr>
          <a:xfrm>
            <a:off x="965176" y="2489138"/>
            <a:ext cx="5633897" cy="6350"/>
          </a:xfrm>
          <a:prstGeom prst="rect">
            <a:avLst/>
          </a:prstGeom>
          <a:solidFill>
            <a:srgbClr val="20D3F3">
              <a:alpha val="25000"/>
            </a:srgbClr>
          </a:solidFill>
          <a:ln/>
        </p:spPr>
      </p:sp>
      <p:sp>
        <p:nvSpPr>
          <p:cNvPr id="6" name="Shape 4"/>
          <p:cNvSpPr/>
          <p:nvPr/>
        </p:nvSpPr>
        <p:spPr>
          <a:xfrm>
            <a:off x="1092173" y="2266893"/>
            <a:ext cx="88898" cy="88898"/>
          </a:xfrm>
          <a:prstGeom prst="roundRect">
            <a:avLst>
              <a:gd name="adj" fmla="val 50000"/>
            </a:avLst>
          </a:prstGeom>
          <a:solidFill>
            <a:srgbClr val="1FD3F5">
              <a:alpha val="70000"/>
            </a:srgbClr>
          </a:solidFill>
          <a:ln/>
        </p:spPr>
      </p:sp>
      <p:sp>
        <p:nvSpPr>
          <p:cNvPr id="7" name="Shape 5"/>
          <p:cNvSpPr/>
          <p:nvPr/>
        </p:nvSpPr>
        <p:spPr>
          <a:xfrm>
            <a:off x="1244569" y="2266893"/>
            <a:ext cx="88898" cy="88898"/>
          </a:xfrm>
          <a:prstGeom prst="roundRect">
            <a:avLst>
              <a:gd name="adj" fmla="val 50000"/>
            </a:avLst>
          </a:prstGeom>
          <a:solidFill>
            <a:srgbClr val="D2F21E">
              <a:alpha val="70000"/>
            </a:srgbClr>
          </a:solidFill>
          <a:ln/>
        </p:spPr>
      </p:sp>
      <p:sp>
        <p:nvSpPr>
          <p:cNvPr id="8" name="Shape 6"/>
          <p:cNvSpPr/>
          <p:nvPr/>
        </p:nvSpPr>
        <p:spPr>
          <a:xfrm>
            <a:off x="1396965" y="2266893"/>
            <a:ext cx="88898" cy="88898"/>
          </a:xfrm>
          <a:prstGeom prst="roundRect">
            <a:avLst>
              <a:gd name="adj" fmla="val 50000"/>
            </a:avLst>
          </a:prstGeom>
          <a:solidFill>
            <a:srgbClr val="FF4B3A">
              <a:alpha val="70000"/>
            </a:srgbClr>
          </a:solidFill>
          <a:ln/>
        </p:spPr>
      </p:sp>
      <p:sp>
        <p:nvSpPr>
          <p:cNvPr id="9" name="Text 7"/>
          <p:cNvSpPr/>
          <p:nvPr/>
        </p:nvSpPr>
        <p:spPr>
          <a:xfrm>
            <a:off x="1638259" y="2227524"/>
            <a:ext cx="949285"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93A4C2"/>
                </a:solidFill>
                <a:latin typeface="Share Tech Mono" pitchFamily="34" charset="0"/>
                <a:ea typeface="Share Tech Mono" pitchFamily="34" charset="-122"/>
                <a:cs typeface="Share Tech Mono" pitchFamily="34" charset="-120"/>
              </a:rPr>
              <a:t>AGENTS.md</a:t>
            </a:r>
            <a:endParaRPr lang="en-US" sz="1100" dirty="0"/>
          </a:p>
        </p:txBody>
      </p:sp>
      <p:sp>
        <p:nvSpPr>
          <p:cNvPr id="10" name="Text 8"/>
          <p:cNvSpPr/>
          <p:nvPr/>
        </p:nvSpPr>
        <p:spPr>
          <a:xfrm>
            <a:off x="1155671" y="2659948"/>
            <a:ext cx="5410493" cy="2194505"/>
          </a:xfrm>
          <a:prstGeom prst="rect">
            <a:avLst/>
          </a:prstGeom>
          <a:noFill/>
          <a:ln/>
        </p:spPr>
        <p:txBody>
          <a:bodyPr wrap="square" lIns="0" tIns="0" rIns="0" bIns="0" rtlCol="0" anchor="t"/>
          <a:lstStyle/>
          <a:p>
            <a:pPr algn="l" indent="0" marL="0">
              <a:lnSpc>
                <a:spcPts val="2160"/>
              </a:lnSpc>
              <a:buNone/>
            </a:pPr>
            <a:r>
              <a:rPr lang="en-US" sz="1350" dirty="0">
                <a:solidFill>
                  <a:srgbClr val="D2F21E"/>
                </a:solidFill>
                <a:latin typeface="Share Tech Mono" pitchFamily="34" charset="0"/>
                <a:ea typeface="Share Tech Mono" pitchFamily="34" charset="-122"/>
                <a:cs typeface="Share Tech Mono" pitchFamily="34" charset="-120"/>
              </a:rPr>
              <a:t># Proyecto</a:t>
            </a:r>
            <a:endParaRPr lang="en-US" sz="1350" dirty="0"/>
          </a:p>
          <a:p>
            <a:pPr algn="l" indent="0" marL="0">
              <a:lnSpc>
                <a:spcPts val="2160"/>
              </a:lnSpc>
              <a:buNone/>
            </a:pPr>
            <a:r>
              <a:rPr lang="en-US" sz="1350" dirty="0">
                <a:solidFill>
                  <a:srgbClr val="C9D6EA"/>
                </a:solidFill>
                <a:latin typeface="Share Tech Mono" pitchFamily="34" charset="0"/>
                <a:ea typeface="Share Tech Mono" pitchFamily="34" charset="-122"/>
                <a:cs typeface="Share Tech Mono" pitchFamily="34" charset="-120"/>
              </a:rPr>
              <a:t>API de reservas del centro de estudiantes</a:t>
            </a:r>
            <a:endParaRPr lang="en-US" sz="1350" dirty="0"/>
          </a:p>
          <a:p>
            <a:pPr algn="l" indent="0" marL="0">
              <a:lnSpc>
                <a:spcPts val="2160"/>
              </a:lnSpc>
              <a:buNone/>
            </a:pPr>
            <a:r>
              <a:rPr lang="en-US" sz="1350" dirty="0">
                <a:solidFill>
                  <a:srgbClr val="D2F21E"/>
                </a:solidFill>
                <a:latin typeface="Share Tech Mono" pitchFamily="34" charset="0"/>
                <a:ea typeface="Share Tech Mono" pitchFamily="34" charset="-122"/>
                <a:cs typeface="Share Tech Mono" pitchFamily="34" charset="-120"/>
              </a:rPr>
              <a:t>## Cómo correrlo</a:t>
            </a:r>
            <a:endParaRPr lang="en-US" sz="1350" dirty="0"/>
          </a:p>
          <a:p>
            <a:pPr algn="l" indent="0" marL="0">
              <a:lnSpc>
                <a:spcPts val="2160"/>
              </a:lnSpc>
              <a:buNone/>
            </a:pPr>
            <a:r>
              <a:rPr lang="en-US" sz="1350" dirty="0">
                <a:solidFill>
                  <a:srgbClr val="1FD3F5"/>
                </a:solidFill>
                <a:latin typeface="Share Tech Mono" pitchFamily="34" charset="0"/>
                <a:ea typeface="Share Tech Mono" pitchFamily="34" charset="-122"/>
                <a:cs typeface="Share Tech Mono" pitchFamily="34" charset="-120"/>
              </a:rPr>
              <a:t>pnpm dev</a:t>
            </a:r>
            <a:r>
              <a:rPr lang="en-US" sz="1350" dirty="0">
                <a:solidFill>
                  <a:srgbClr val="C9D6EA"/>
                </a:solidFill>
                <a:latin typeface="Share Tech Mono" pitchFamily="34" charset="0"/>
                <a:ea typeface="Share Tech Mono" pitchFamily="34" charset="-122"/>
                <a:cs typeface="Share Tech Mono" pitchFamily="34" charset="-120"/>
              </a:rPr>
              <a:t>  ·  </a:t>
            </a:r>
            <a:r>
              <a:rPr lang="en-US" sz="1350" dirty="0">
                <a:solidFill>
                  <a:srgbClr val="1FD3F5"/>
                </a:solidFill>
                <a:latin typeface="Share Tech Mono" pitchFamily="34" charset="0"/>
                <a:ea typeface="Share Tech Mono" pitchFamily="34" charset="-122"/>
                <a:cs typeface="Share Tech Mono" pitchFamily="34" charset="-120"/>
              </a:rPr>
              <a:t>pnpm test</a:t>
            </a:r>
            <a:endParaRPr lang="en-US" sz="1350" dirty="0"/>
          </a:p>
          <a:p>
            <a:pPr algn="l" indent="0" marL="0">
              <a:lnSpc>
                <a:spcPts val="2160"/>
              </a:lnSpc>
              <a:buNone/>
            </a:pPr>
            <a:r>
              <a:rPr lang="en-US" sz="1350" dirty="0">
                <a:solidFill>
                  <a:srgbClr val="D2F21E"/>
                </a:solidFill>
                <a:latin typeface="Share Tech Mono" pitchFamily="34" charset="0"/>
                <a:ea typeface="Share Tech Mono" pitchFamily="34" charset="-122"/>
                <a:cs typeface="Share Tech Mono" pitchFamily="34" charset="-120"/>
              </a:rPr>
              <a:t>## Convenciones</a:t>
            </a:r>
            <a:endParaRPr lang="en-US" sz="1350" dirty="0"/>
          </a:p>
          <a:p>
            <a:pPr algn="l" indent="0" marL="0">
              <a:lnSpc>
                <a:spcPts val="2160"/>
              </a:lnSpc>
              <a:buNone/>
            </a:pPr>
            <a:r>
              <a:rPr lang="en-US" sz="1350" dirty="0">
                <a:solidFill>
                  <a:srgbClr val="C9D6EA"/>
                </a:solidFill>
                <a:latin typeface="Share Tech Mono" pitchFamily="34" charset="0"/>
                <a:ea typeface="Share Tech Mono" pitchFamily="34" charset="-122"/>
                <a:cs typeface="Share Tech Mono" pitchFamily="34" charset="-120"/>
              </a:rPr>
              <a:t>Código en inglés</a:t>
            </a:r>
            <a:endParaRPr lang="en-US" sz="1350" dirty="0"/>
          </a:p>
          <a:p>
            <a:pPr algn="l" indent="0" marL="0">
              <a:lnSpc>
                <a:spcPts val="2160"/>
              </a:lnSpc>
              <a:buNone/>
            </a:pPr>
            <a:r>
              <a:rPr lang="en-US" sz="1350" dirty="0">
                <a:solidFill>
                  <a:srgbClr val="D2F21E"/>
                </a:solidFill>
                <a:latin typeface="Share Tech Mono" pitchFamily="34" charset="0"/>
                <a:ea typeface="Share Tech Mono" pitchFamily="34" charset="-122"/>
                <a:cs typeface="Share Tech Mono" pitchFamily="34" charset="-120"/>
              </a:rPr>
              <a:t>## Decisiones tomadas</a:t>
            </a:r>
            <a:endParaRPr lang="en-US" sz="1350" dirty="0"/>
          </a:p>
          <a:p>
            <a:pPr algn="l" indent="0" marL="0">
              <a:lnSpc>
                <a:spcPts val="2160"/>
              </a:lnSpc>
              <a:buNone/>
            </a:pPr>
            <a:r>
              <a:rPr lang="en-US" sz="1350" dirty="0">
                <a:solidFill>
                  <a:srgbClr val="93A4C2"/>
                </a:solidFill>
                <a:latin typeface="Share Tech Mono" pitchFamily="34" charset="0"/>
                <a:ea typeface="Share Tech Mono" pitchFamily="34" charset="-122"/>
                <a:cs typeface="Share Tech Mono" pitchFamily="34" charset="-120"/>
              </a:rPr>
              <a:t>No tocar /payments sin aprobación</a:t>
            </a:r>
            <a:endParaRPr lang="en-US" sz="1350" dirty="0"/>
          </a:p>
        </p:txBody>
      </p:sp>
      <p:sp>
        <p:nvSpPr>
          <p:cNvPr id="11" name="Text 9"/>
          <p:cNvSpPr/>
          <p:nvPr/>
        </p:nvSpPr>
        <p:spPr>
          <a:xfrm>
            <a:off x="7056261" y="2958371"/>
            <a:ext cx="4308447" cy="1075008"/>
          </a:xfrm>
          <a:prstGeom prst="rect">
            <a:avLst/>
          </a:prstGeom>
          <a:noFill/>
          <a:ln/>
        </p:spPr>
        <p:txBody>
          <a:bodyPr wrap="square" lIns="0" tIns="0" rIns="0" bIns="0" rtlCol="0" anchor="t"/>
          <a:lstStyle/>
          <a:p>
            <a:pPr algn="l" indent="0" marL="0">
              <a:lnSpc>
                <a:spcPts val="3460"/>
              </a:lnSpc>
              <a:buNone/>
            </a:pPr>
            <a:r>
              <a:rPr lang="en-US" sz="3300" dirty="0">
                <a:solidFill>
                  <a:srgbClr val="FFFFFF"/>
                </a:solidFill>
                <a:latin typeface="Anton" pitchFamily="34" charset="0"/>
                <a:ea typeface="Anton" pitchFamily="34" charset="-122"/>
                <a:cs typeface="Anton" pitchFamily="34" charset="-120"/>
              </a:rPr>
              <a:t>ACTUALÍZALO CADA VEZ QUE EL AGENTE </a:t>
            </a:r>
            <a:r>
              <a:rPr lang="en-US" sz="3300" dirty="0">
                <a:solidFill>
                  <a:srgbClr val="D2F21E"/>
                </a:solidFill>
                <a:latin typeface="Anton" pitchFamily="34" charset="0"/>
                <a:ea typeface="Anton" pitchFamily="34" charset="-122"/>
                <a:cs typeface="Anton" pitchFamily="34" charset="-120"/>
              </a:rPr>
              <a:t>FALLE</a:t>
            </a:r>
            <a:endParaRPr lang="en-US" sz="3300" dirty="0"/>
          </a:p>
        </p:txBody>
      </p:sp>
      <p:sp>
        <p:nvSpPr>
          <p:cNvPr id="12" name="Text 10"/>
          <p:cNvSpPr/>
          <p:nvPr/>
        </p:nvSpPr>
        <p:spPr>
          <a:xfrm>
            <a:off x="7056261" y="3992403"/>
            <a:ext cx="2003835" cy="195575"/>
          </a:xfrm>
          <a:prstGeom prst="rect">
            <a:avLst/>
          </a:prstGeom>
          <a:noFill/>
          <a:ln/>
        </p:spPr>
        <p:txBody>
          <a:bodyPr wrap="none" lIns="0" tIns="0" rIns="0" bIns="0" rtlCol="0" anchor="t"/>
          <a:lstStyle/>
          <a:p>
            <a:pPr algn="l" indent="0" marL="0">
              <a:lnSpc>
                <a:spcPts val="1540"/>
              </a:lnSpc>
              <a:buNone/>
            </a:pPr>
            <a:r>
              <a:rPr lang="en-US" sz="1100" spc="20" kern="0" dirty="0">
                <a:solidFill>
                  <a:srgbClr val="93A4C2"/>
                </a:solidFill>
                <a:latin typeface="Share Tech Mono" pitchFamily="34" charset="0"/>
                <a:ea typeface="Share Tech Mono" pitchFamily="34" charset="-122"/>
                <a:cs typeface="Share Tech Mono" pitchFamily="34" charset="-120"/>
              </a:rPr>
              <a:t>Regla de Greg Brockman</a:t>
            </a:r>
            <a:endParaRPr lang="en-US" sz="1100" dirty="0"/>
          </a:p>
        </p:txBody>
      </p:sp>
      <p:sp>
        <p:nvSpPr>
          <p:cNvPr id="13" name="Text 11"/>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14" name="Text 12"/>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651759" y="3714657"/>
            <a:ext cx="1523962" cy="2190695"/>
          </a:xfrm>
          <a:prstGeom prst="rect">
            <a:avLst/>
          </a:prstGeom>
        </p:spPr>
      </p:pic>
      <p:sp>
        <p:nvSpPr>
          <p:cNvPr id="3" name="Text 0"/>
          <p:cNvSpPr/>
          <p:nvPr/>
        </p:nvSpPr>
        <p:spPr>
          <a:xfrm>
            <a:off x="1174721" y="784840"/>
            <a:ext cx="1837708"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02 · HARNESS</a:t>
            </a:r>
            <a:endParaRPr lang="en-US" sz="1200" dirty="0"/>
          </a:p>
        </p:txBody>
      </p:sp>
      <p:sp>
        <p:nvSpPr>
          <p:cNvPr id="4" name="Text 1"/>
          <p:cNvSpPr/>
          <p:nvPr/>
        </p:nvSpPr>
        <p:spPr>
          <a:xfrm>
            <a:off x="952476" y="1231869"/>
            <a:ext cx="6647188"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TU HARNESS EN SEIS PASOS</a:t>
            </a:r>
            <a:endParaRPr lang="en-US" sz="4600" dirty="0"/>
          </a:p>
        </p:txBody>
      </p:sp>
      <p:sp>
        <p:nvSpPr>
          <p:cNvPr id="5" name="Shape 2"/>
          <p:cNvSpPr/>
          <p:nvPr/>
        </p:nvSpPr>
        <p:spPr>
          <a:xfrm>
            <a:off x="952476" y="2438339"/>
            <a:ext cx="584185" cy="584185"/>
          </a:xfrm>
          <a:prstGeom prst="roundRect">
            <a:avLst>
              <a:gd name="adj" fmla="val 50000"/>
            </a:avLst>
          </a:prstGeom>
          <a:solidFill>
            <a:srgbClr val="06183A"/>
          </a:solidFill>
          <a:ln/>
        </p:spPr>
      </p:sp>
      <p:sp>
        <p:nvSpPr>
          <p:cNvPr id="6" name="Text 3"/>
          <p:cNvSpPr/>
          <p:nvPr/>
        </p:nvSpPr>
        <p:spPr>
          <a:xfrm>
            <a:off x="1134836" y="2608515"/>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01</a:t>
            </a:r>
            <a:endParaRPr lang="en-US" sz="1600" dirty="0"/>
          </a:p>
        </p:txBody>
      </p:sp>
      <p:sp>
        <p:nvSpPr>
          <p:cNvPr id="7" name="Text 4"/>
          <p:cNvSpPr/>
          <p:nvPr/>
        </p:nvSpPr>
        <p:spPr>
          <a:xfrm>
            <a:off x="1701757" y="2485963"/>
            <a:ext cx="1272318" cy="380990"/>
          </a:xfrm>
          <a:prstGeom prst="rect">
            <a:avLst/>
          </a:prstGeom>
          <a:noFill/>
          <a:ln/>
        </p:spPr>
        <p:txBody>
          <a:bodyPr wrap="none" lIns="0" tIns="0" rIns="0" bIns="0" rtlCol="0" anchor="t"/>
          <a:lstStyle/>
          <a:p>
            <a:pPr algn="l" indent="0" marL="0">
              <a:lnSpc>
                <a:spcPts val="2400"/>
              </a:lnSpc>
              <a:buNone/>
            </a:pPr>
            <a:r>
              <a:rPr lang="en-US" sz="2000" dirty="0">
                <a:solidFill>
                  <a:srgbClr val="FFFFFF"/>
                </a:solidFill>
                <a:latin typeface="Anton" pitchFamily="34" charset="0"/>
                <a:ea typeface="Anton" pitchFamily="34" charset="-122"/>
                <a:cs typeface="Anton" pitchFamily="34" charset="-120"/>
              </a:rPr>
              <a:t>AGENTS.MD</a:t>
            </a:r>
            <a:endParaRPr lang="en-US" sz="2000" dirty="0"/>
          </a:p>
        </p:txBody>
      </p:sp>
      <p:sp>
        <p:nvSpPr>
          <p:cNvPr id="8" name="Text 5"/>
          <p:cNvSpPr/>
          <p:nvPr/>
        </p:nvSpPr>
        <p:spPr>
          <a:xfrm>
            <a:off x="1701757" y="2829489"/>
            <a:ext cx="1517676" cy="184145"/>
          </a:xfrm>
          <a:prstGeom prst="rect">
            <a:avLst/>
          </a:prstGeom>
          <a:noFill/>
          <a:ln/>
        </p:spPr>
        <p:txBody>
          <a:bodyPr wrap="none" lIns="0" tIns="0" rIns="0" bIns="0" rtlCol="0" anchor="t"/>
          <a:lstStyle/>
          <a:p>
            <a:pPr algn="l" indent="0" marL="0">
              <a:lnSpc>
                <a:spcPts val="1440"/>
              </a:lnSpc>
              <a:buNone/>
            </a:pPr>
            <a:r>
              <a:rPr lang="en-US" sz="1200" dirty="0">
                <a:solidFill>
                  <a:srgbClr val="C9D6EA"/>
                </a:solidFill>
                <a:latin typeface="Arial" pitchFamily="34" charset="0"/>
                <a:ea typeface="Arial" pitchFamily="34" charset="-122"/>
                <a:cs typeface="Arial" pitchFamily="34" charset="-120"/>
              </a:rPr>
              <a:t>En la raíz del repo</a:t>
            </a:r>
            <a:endParaRPr lang="en-US" sz="1200" dirty="0"/>
          </a:p>
        </p:txBody>
      </p:sp>
      <p:sp>
        <p:nvSpPr>
          <p:cNvPr id="9" name="Shape 6"/>
          <p:cNvSpPr/>
          <p:nvPr/>
        </p:nvSpPr>
        <p:spPr>
          <a:xfrm>
            <a:off x="3915669" y="2438339"/>
            <a:ext cx="584185" cy="584185"/>
          </a:xfrm>
          <a:prstGeom prst="roundRect">
            <a:avLst>
              <a:gd name="adj" fmla="val 50000"/>
            </a:avLst>
          </a:prstGeom>
          <a:solidFill>
            <a:srgbClr val="06183A"/>
          </a:solidFill>
          <a:ln/>
        </p:spPr>
      </p:sp>
      <p:sp>
        <p:nvSpPr>
          <p:cNvPr id="10" name="Text 7"/>
          <p:cNvSpPr/>
          <p:nvPr/>
        </p:nvSpPr>
        <p:spPr>
          <a:xfrm>
            <a:off x="4098029" y="2608515"/>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02</a:t>
            </a:r>
            <a:endParaRPr lang="en-US" sz="1600" dirty="0"/>
          </a:p>
        </p:txBody>
      </p:sp>
      <p:sp>
        <p:nvSpPr>
          <p:cNvPr id="11" name="Text 8"/>
          <p:cNvSpPr/>
          <p:nvPr/>
        </p:nvSpPr>
        <p:spPr>
          <a:xfrm>
            <a:off x="4664951" y="2485963"/>
            <a:ext cx="1467115" cy="380990"/>
          </a:xfrm>
          <a:prstGeom prst="rect">
            <a:avLst/>
          </a:prstGeom>
          <a:noFill/>
          <a:ln/>
        </p:spPr>
        <p:txBody>
          <a:bodyPr wrap="none" lIns="0" tIns="0" rIns="0" bIns="0" rtlCol="0" anchor="t"/>
          <a:lstStyle/>
          <a:p>
            <a:pPr algn="l" indent="0" marL="0">
              <a:lnSpc>
                <a:spcPts val="2400"/>
              </a:lnSpc>
              <a:buNone/>
            </a:pPr>
            <a:r>
              <a:rPr lang="en-US" sz="2000" dirty="0">
                <a:solidFill>
                  <a:srgbClr val="FFFFFF"/>
                </a:solidFill>
                <a:latin typeface="Anton" pitchFamily="34" charset="0"/>
                <a:ea typeface="Anton" pitchFamily="34" charset="-122"/>
                <a:cs typeface="Anton" pitchFamily="34" charset="-120"/>
              </a:rPr>
              <a:t>REPO LEGIBLE</a:t>
            </a:r>
            <a:endParaRPr lang="en-US" sz="2000" dirty="0"/>
          </a:p>
        </p:txBody>
      </p:sp>
      <p:sp>
        <p:nvSpPr>
          <p:cNvPr id="12" name="Text 9"/>
          <p:cNvSpPr/>
          <p:nvPr/>
        </p:nvSpPr>
        <p:spPr>
          <a:xfrm>
            <a:off x="4664951" y="2829489"/>
            <a:ext cx="1894491" cy="184145"/>
          </a:xfrm>
          <a:prstGeom prst="rect">
            <a:avLst/>
          </a:prstGeom>
          <a:noFill/>
          <a:ln/>
        </p:spPr>
        <p:txBody>
          <a:bodyPr wrap="none" lIns="0" tIns="0" rIns="0" bIns="0" rtlCol="0" anchor="t"/>
          <a:lstStyle/>
          <a:p>
            <a:pPr algn="l" indent="0" marL="0">
              <a:lnSpc>
                <a:spcPts val="1440"/>
              </a:lnSpc>
              <a:buNone/>
            </a:pPr>
            <a:r>
              <a:rPr lang="en-US" sz="1200" dirty="0">
                <a:solidFill>
                  <a:srgbClr val="C9D6EA"/>
                </a:solidFill>
                <a:latin typeface="Arial" pitchFamily="34" charset="0"/>
                <a:ea typeface="Arial" pitchFamily="34" charset="-122"/>
                <a:cs typeface="Arial" pitchFamily="34" charset="-120"/>
              </a:rPr>
              <a:t>Planes dentro del repo</a:t>
            </a:r>
            <a:endParaRPr lang="en-US" sz="1200" dirty="0"/>
          </a:p>
        </p:txBody>
      </p:sp>
      <p:sp>
        <p:nvSpPr>
          <p:cNvPr id="13" name="Shape 10"/>
          <p:cNvSpPr/>
          <p:nvPr/>
        </p:nvSpPr>
        <p:spPr>
          <a:xfrm>
            <a:off x="6878962" y="2438339"/>
            <a:ext cx="584185" cy="584185"/>
          </a:xfrm>
          <a:prstGeom prst="roundRect">
            <a:avLst>
              <a:gd name="adj" fmla="val 50000"/>
            </a:avLst>
          </a:prstGeom>
          <a:solidFill>
            <a:srgbClr val="06183A"/>
          </a:solidFill>
          <a:ln/>
        </p:spPr>
      </p:sp>
      <p:sp>
        <p:nvSpPr>
          <p:cNvPr id="14" name="Text 11"/>
          <p:cNvSpPr/>
          <p:nvPr/>
        </p:nvSpPr>
        <p:spPr>
          <a:xfrm>
            <a:off x="7061321" y="2608515"/>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03</a:t>
            </a:r>
            <a:endParaRPr lang="en-US" sz="1600" dirty="0"/>
          </a:p>
        </p:txBody>
      </p:sp>
      <p:sp>
        <p:nvSpPr>
          <p:cNvPr id="15" name="Text 12"/>
          <p:cNvSpPr/>
          <p:nvPr/>
        </p:nvSpPr>
        <p:spPr>
          <a:xfrm>
            <a:off x="7628243" y="2485963"/>
            <a:ext cx="1119858" cy="380990"/>
          </a:xfrm>
          <a:prstGeom prst="rect">
            <a:avLst/>
          </a:prstGeom>
          <a:noFill/>
          <a:ln/>
        </p:spPr>
        <p:txBody>
          <a:bodyPr wrap="none" lIns="0" tIns="0" rIns="0" bIns="0" rtlCol="0" anchor="t"/>
          <a:lstStyle/>
          <a:p>
            <a:pPr algn="l" indent="0" marL="0">
              <a:lnSpc>
                <a:spcPts val="2400"/>
              </a:lnSpc>
              <a:buNone/>
            </a:pPr>
            <a:r>
              <a:rPr lang="en-US" sz="2000" dirty="0">
                <a:solidFill>
                  <a:srgbClr val="FFFFFF"/>
                </a:solidFill>
                <a:latin typeface="Anton" pitchFamily="34" charset="0"/>
                <a:ea typeface="Anton" pitchFamily="34" charset="-122"/>
                <a:cs typeface="Anton" pitchFamily="34" charset="-120"/>
              </a:rPr>
              <a:t>SENSORES</a:t>
            </a:r>
            <a:endParaRPr lang="en-US" sz="2000" dirty="0"/>
          </a:p>
        </p:txBody>
      </p:sp>
      <p:sp>
        <p:nvSpPr>
          <p:cNvPr id="16" name="Text 13"/>
          <p:cNvSpPr/>
          <p:nvPr/>
        </p:nvSpPr>
        <p:spPr>
          <a:xfrm>
            <a:off x="7628243" y="2829489"/>
            <a:ext cx="1442001" cy="184145"/>
          </a:xfrm>
          <a:prstGeom prst="rect">
            <a:avLst/>
          </a:prstGeom>
          <a:noFill/>
          <a:ln/>
        </p:spPr>
        <p:txBody>
          <a:bodyPr wrap="none" lIns="0" tIns="0" rIns="0" bIns="0" rtlCol="0" anchor="t"/>
          <a:lstStyle/>
          <a:p>
            <a:pPr algn="l" indent="0" marL="0">
              <a:lnSpc>
                <a:spcPts val="1440"/>
              </a:lnSpc>
              <a:buNone/>
            </a:pPr>
            <a:r>
              <a:rPr lang="en-US" sz="1200" dirty="0">
                <a:solidFill>
                  <a:srgbClr val="C9D6EA"/>
                </a:solidFill>
                <a:latin typeface="Arial" pitchFamily="34" charset="0"/>
                <a:ea typeface="Arial" pitchFamily="34" charset="-122"/>
                <a:cs typeface="Arial" pitchFamily="34" charset="-120"/>
              </a:rPr>
              <a:t>Lint, tipos y tests</a:t>
            </a:r>
            <a:endParaRPr lang="en-US" sz="1200" dirty="0"/>
          </a:p>
        </p:txBody>
      </p:sp>
      <p:sp>
        <p:nvSpPr>
          <p:cNvPr id="17" name="Shape 14"/>
          <p:cNvSpPr/>
          <p:nvPr/>
        </p:nvSpPr>
        <p:spPr>
          <a:xfrm>
            <a:off x="952476" y="3613060"/>
            <a:ext cx="584185" cy="584185"/>
          </a:xfrm>
          <a:prstGeom prst="roundRect">
            <a:avLst>
              <a:gd name="adj" fmla="val 50000"/>
            </a:avLst>
          </a:prstGeom>
          <a:solidFill>
            <a:srgbClr val="06183A"/>
          </a:solidFill>
          <a:ln/>
        </p:spPr>
      </p:sp>
      <p:sp>
        <p:nvSpPr>
          <p:cNvPr id="18" name="Text 15"/>
          <p:cNvSpPr/>
          <p:nvPr/>
        </p:nvSpPr>
        <p:spPr>
          <a:xfrm>
            <a:off x="1134836" y="3783235"/>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04</a:t>
            </a:r>
            <a:endParaRPr lang="en-US" sz="1600" dirty="0"/>
          </a:p>
        </p:txBody>
      </p:sp>
      <p:sp>
        <p:nvSpPr>
          <p:cNvPr id="19" name="Text 16"/>
          <p:cNvSpPr/>
          <p:nvPr/>
        </p:nvSpPr>
        <p:spPr>
          <a:xfrm>
            <a:off x="1701757" y="3660683"/>
            <a:ext cx="1366660" cy="380990"/>
          </a:xfrm>
          <a:prstGeom prst="rect">
            <a:avLst/>
          </a:prstGeom>
          <a:noFill/>
          <a:ln/>
        </p:spPr>
        <p:txBody>
          <a:bodyPr wrap="none" lIns="0" tIns="0" rIns="0" bIns="0" rtlCol="0" anchor="t"/>
          <a:lstStyle/>
          <a:p>
            <a:pPr algn="l" indent="0" marL="0">
              <a:lnSpc>
                <a:spcPts val="2400"/>
              </a:lnSpc>
              <a:buNone/>
            </a:pPr>
            <a:r>
              <a:rPr lang="en-US" sz="2000" dirty="0">
                <a:solidFill>
                  <a:srgbClr val="FFFFFF"/>
                </a:solidFill>
                <a:latin typeface="Anton" pitchFamily="34" charset="0"/>
                <a:ea typeface="Anton" pitchFamily="34" charset="-122"/>
                <a:cs typeface="Anton" pitchFamily="34" charset="-120"/>
              </a:rPr>
              <a:t>OBSERVABLE</a:t>
            </a:r>
            <a:endParaRPr lang="en-US" sz="2000" dirty="0"/>
          </a:p>
        </p:txBody>
      </p:sp>
      <p:sp>
        <p:nvSpPr>
          <p:cNvPr id="20" name="Text 17"/>
          <p:cNvSpPr/>
          <p:nvPr/>
        </p:nvSpPr>
        <p:spPr>
          <a:xfrm>
            <a:off x="1701757" y="4004210"/>
            <a:ext cx="1157973" cy="184145"/>
          </a:xfrm>
          <a:prstGeom prst="rect">
            <a:avLst/>
          </a:prstGeom>
          <a:noFill/>
          <a:ln/>
        </p:spPr>
        <p:txBody>
          <a:bodyPr wrap="none" lIns="0" tIns="0" rIns="0" bIns="0" rtlCol="0" anchor="t"/>
          <a:lstStyle/>
          <a:p>
            <a:pPr algn="l" indent="0" marL="0">
              <a:lnSpc>
                <a:spcPts val="1440"/>
              </a:lnSpc>
              <a:buNone/>
            </a:pPr>
            <a:r>
              <a:rPr lang="en-US" sz="1200" dirty="0">
                <a:solidFill>
                  <a:srgbClr val="C9D6EA"/>
                </a:solidFill>
                <a:latin typeface="Arial" pitchFamily="34" charset="0"/>
                <a:ea typeface="Arial" pitchFamily="34" charset="-122"/>
                <a:cs typeface="Arial" pitchFamily="34" charset="-120"/>
              </a:rPr>
              <a:t>Logs y trazas</a:t>
            </a:r>
            <a:endParaRPr lang="en-US" sz="1200" dirty="0"/>
          </a:p>
        </p:txBody>
      </p:sp>
      <p:sp>
        <p:nvSpPr>
          <p:cNvPr id="21" name="Shape 18"/>
          <p:cNvSpPr/>
          <p:nvPr/>
        </p:nvSpPr>
        <p:spPr>
          <a:xfrm>
            <a:off x="3915669" y="3613060"/>
            <a:ext cx="584185" cy="584185"/>
          </a:xfrm>
          <a:prstGeom prst="roundRect">
            <a:avLst>
              <a:gd name="adj" fmla="val 50000"/>
            </a:avLst>
          </a:prstGeom>
          <a:solidFill>
            <a:srgbClr val="06183A"/>
          </a:solidFill>
          <a:ln/>
        </p:spPr>
      </p:sp>
      <p:sp>
        <p:nvSpPr>
          <p:cNvPr id="22" name="Text 19"/>
          <p:cNvSpPr/>
          <p:nvPr/>
        </p:nvSpPr>
        <p:spPr>
          <a:xfrm>
            <a:off x="4098029" y="3783235"/>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05</a:t>
            </a:r>
            <a:endParaRPr lang="en-US" sz="1600" dirty="0"/>
          </a:p>
        </p:txBody>
      </p:sp>
      <p:sp>
        <p:nvSpPr>
          <p:cNvPr id="23" name="Text 20"/>
          <p:cNvSpPr/>
          <p:nvPr/>
        </p:nvSpPr>
        <p:spPr>
          <a:xfrm>
            <a:off x="4664951" y="3660683"/>
            <a:ext cx="932061" cy="380990"/>
          </a:xfrm>
          <a:prstGeom prst="rect">
            <a:avLst/>
          </a:prstGeom>
          <a:noFill/>
          <a:ln/>
        </p:spPr>
        <p:txBody>
          <a:bodyPr wrap="none" lIns="0" tIns="0" rIns="0" bIns="0" rtlCol="0" anchor="t"/>
          <a:lstStyle/>
          <a:p>
            <a:pPr algn="l" indent="0" marL="0">
              <a:lnSpc>
                <a:spcPts val="2400"/>
              </a:lnSpc>
              <a:buNone/>
            </a:pPr>
            <a:r>
              <a:rPr lang="en-US" sz="2000" dirty="0">
                <a:solidFill>
                  <a:srgbClr val="FFFFFF"/>
                </a:solidFill>
                <a:latin typeface="Anton" pitchFamily="34" charset="0"/>
                <a:ea typeface="Anton" pitchFamily="34" charset="-122"/>
                <a:cs typeface="Anton" pitchFamily="34" charset="-120"/>
              </a:rPr>
              <a:t>REVISOR</a:t>
            </a:r>
            <a:endParaRPr lang="en-US" sz="2000" dirty="0"/>
          </a:p>
        </p:txBody>
      </p:sp>
      <p:sp>
        <p:nvSpPr>
          <p:cNvPr id="24" name="Text 21"/>
          <p:cNvSpPr/>
          <p:nvPr/>
        </p:nvSpPr>
        <p:spPr>
          <a:xfrm>
            <a:off x="4664951" y="4004210"/>
            <a:ext cx="1590016" cy="184145"/>
          </a:xfrm>
          <a:prstGeom prst="rect">
            <a:avLst/>
          </a:prstGeom>
          <a:noFill/>
          <a:ln/>
        </p:spPr>
        <p:txBody>
          <a:bodyPr wrap="none" lIns="0" tIns="0" rIns="0" bIns="0" rtlCol="0" anchor="t"/>
          <a:lstStyle/>
          <a:p>
            <a:pPr algn="l" indent="0" marL="0">
              <a:lnSpc>
                <a:spcPts val="1440"/>
              </a:lnSpc>
              <a:buNone/>
            </a:pPr>
            <a:r>
              <a:rPr lang="en-US" sz="1200" dirty="0">
                <a:solidFill>
                  <a:srgbClr val="C9D6EA"/>
                </a:solidFill>
                <a:latin typeface="Arial" pitchFamily="34" charset="0"/>
                <a:ea typeface="Arial" pitchFamily="34" charset="-122"/>
                <a:cs typeface="Arial" pitchFamily="34" charset="-120"/>
              </a:rPr>
              <a:t>Decide un humano</a:t>
            </a:r>
            <a:endParaRPr lang="en-US" sz="1200" dirty="0"/>
          </a:p>
        </p:txBody>
      </p:sp>
      <p:sp>
        <p:nvSpPr>
          <p:cNvPr id="25" name="Shape 22"/>
          <p:cNvSpPr/>
          <p:nvPr/>
        </p:nvSpPr>
        <p:spPr>
          <a:xfrm>
            <a:off x="6878962" y="3613060"/>
            <a:ext cx="584185" cy="584185"/>
          </a:xfrm>
          <a:prstGeom prst="roundRect">
            <a:avLst>
              <a:gd name="adj" fmla="val 50000"/>
            </a:avLst>
          </a:prstGeom>
          <a:solidFill>
            <a:srgbClr val="06183A"/>
          </a:solidFill>
          <a:ln/>
        </p:spPr>
      </p:sp>
      <p:sp>
        <p:nvSpPr>
          <p:cNvPr id="26" name="Text 23"/>
          <p:cNvSpPr/>
          <p:nvPr/>
        </p:nvSpPr>
        <p:spPr>
          <a:xfrm>
            <a:off x="7061321" y="3783235"/>
            <a:ext cx="322000"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06</a:t>
            </a:r>
            <a:endParaRPr lang="en-US" sz="1600" dirty="0"/>
          </a:p>
        </p:txBody>
      </p:sp>
      <p:sp>
        <p:nvSpPr>
          <p:cNvPr id="27" name="Text 24"/>
          <p:cNvSpPr/>
          <p:nvPr/>
        </p:nvSpPr>
        <p:spPr>
          <a:xfrm>
            <a:off x="7628243" y="3568611"/>
            <a:ext cx="643922" cy="380990"/>
          </a:xfrm>
          <a:prstGeom prst="rect">
            <a:avLst/>
          </a:prstGeom>
          <a:noFill/>
          <a:ln/>
        </p:spPr>
        <p:txBody>
          <a:bodyPr wrap="none" lIns="0" tIns="0" rIns="0" bIns="0" rtlCol="0" anchor="t"/>
          <a:lstStyle/>
          <a:p>
            <a:pPr algn="l" indent="0" marL="0">
              <a:lnSpc>
                <a:spcPts val="2400"/>
              </a:lnSpc>
              <a:buNone/>
            </a:pPr>
            <a:r>
              <a:rPr lang="en-US" sz="2000" dirty="0">
                <a:solidFill>
                  <a:srgbClr val="FFFFFF"/>
                </a:solidFill>
                <a:latin typeface="Anton" pitchFamily="34" charset="0"/>
                <a:ea typeface="Anton" pitchFamily="34" charset="-122"/>
                <a:cs typeface="Anton" pitchFamily="34" charset="-120"/>
              </a:rPr>
              <a:t>ITERA</a:t>
            </a:r>
            <a:endParaRPr lang="en-US" sz="2000" dirty="0"/>
          </a:p>
        </p:txBody>
      </p:sp>
      <p:sp>
        <p:nvSpPr>
          <p:cNvPr id="28" name="Text 25"/>
          <p:cNvSpPr/>
          <p:nvPr/>
        </p:nvSpPr>
        <p:spPr>
          <a:xfrm>
            <a:off x="7628243" y="3912137"/>
            <a:ext cx="1953312" cy="368291"/>
          </a:xfrm>
          <a:prstGeom prst="rect">
            <a:avLst/>
          </a:prstGeom>
          <a:noFill/>
          <a:ln/>
        </p:spPr>
        <p:txBody>
          <a:bodyPr wrap="square" lIns="0" tIns="0" rIns="0" bIns="0" rtlCol="0" anchor="t"/>
          <a:lstStyle/>
          <a:p>
            <a:pPr algn="l" indent="0" marL="0">
              <a:lnSpc>
                <a:spcPts val="1440"/>
              </a:lnSpc>
              <a:buNone/>
            </a:pPr>
            <a:r>
              <a:rPr lang="en-US" sz="1200" dirty="0">
                <a:solidFill>
                  <a:srgbClr val="C9D6EA"/>
                </a:solidFill>
                <a:latin typeface="Arial" pitchFamily="34" charset="0"/>
                <a:ea typeface="Arial" pitchFamily="34" charset="-122"/>
                <a:cs typeface="Arial" pitchFamily="34" charset="-120"/>
              </a:rPr>
              <a:t>Fallo repetido, nueva regla</a:t>
            </a:r>
            <a:endParaRPr lang="en-US" sz="1200" dirty="0"/>
          </a:p>
        </p:txBody>
      </p:sp>
      <p:sp>
        <p:nvSpPr>
          <p:cNvPr id="29" name="Text 26"/>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30" name="Text 27"/>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174721" y="784840"/>
            <a:ext cx="1690915"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03 · SKILLS</a:t>
            </a:r>
            <a:endParaRPr lang="en-US" sz="1200" dirty="0"/>
          </a:p>
        </p:txBody>
      </p:sp>
      <p:sp>
        <p:nvSpPr>
          <p:cNvPr id="3" name="Text 1"/>
          <p:cNvSpPr/>
          <p:nvPr/>
        </p:nvSpPr>
        <p:spPr>
          <a:xfrm>
            <a:off x="952476" y="1231869"/>
            <a:ext cx="9810505" cy="1460463"/>
          </a:xfrm>
          <a:prstGeom prst="rect">
            <a:avLst/>
          </a:prstGeom>
          <a:noFill/>
          <a:ln/>
        </p:spPr>
        <p:txBody>
          <a:bodyPr wrap="squar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MCP LE DA MANOS, LAS SKILLS LE DAN </a:t>
            </a:r>
            <a:r>
              <a:rPr lang="en-US" sz="4600" spc="20" kern="0" dirty="0">
                <a:solidFill>
                  <a:srgbClr val="1FD3F5"/>
                </a:solidFill>
                <a:latin typeface="Anton" pitchFamily="34" charset="0"/>
                <a:ea typeface="Anton" pitchFamily="34" charset="-122"/>
                <a:cs typeface="Anton" pitchFamily="34" charset="-120"/>
              </a:rPr>
              <a:t>HÁBITOS</a:t>
            </a:r>
            <a:endParaRPr lang="en-US" sz="4600" dirty="0"/>
          </a:p>
        </p:txBody>
      </p:sp>
      <p:sp>
        <p:nvSpPr>
          <p:cNvPr id="4" name="Shape 2"/>
          <p:cNvSpPr/>
          <p:nvPr/>
        </p:nvSpPr>
        <p:spPr>
          <a:xfrm>
            <a:off x="952476" y="2705032"/>
            <a:ext cx="4889378" cy="1814467"/>
          </a:xfrm>
          <a:prstGeom prst="roundRect">
            <a:avLst>
              <a:gd name="adj" fmla="val 4899"/>
            </a:avLst>
          </a:prstGeom>
          <a:solidFill>
            <a:srgbClr val="010814"/>
          </a:solidFill>
          <a:ln w="12700">
            <a:solidFill>
              <a:srgbClr val="1ED2F5">
                <a:alpha val="40000"/>
              </a:srgbClr>
            </a:solidFill>
            <a:prstDash val="solid"/>
          </a:ln>
        </p:spPr>
      </p:sp>
      <p:sp>
        <p:nvSpPr>
          <p:cNvPr id="5" name="Shape 3"/>
          <p:cNvSpPr/>
          <p:nvPr/>
        </p:nvSpPr>
        <p:spPr>
          <a:xfrm>
            <a:off x="965176" y="3073323"/>
            <a:ext cx="4863978" cy="6350"/>
          </a:xfrm>
          <a:prstGeom prst="rect">
            <a:avLst/>
          </a:prstGeom>
          <a:solidFill>
            <a:srgbClr val="20D3F3">
              <a:alpha val="25000"/>
            </a:srgbClr>
          </a:solidFill>
          <a:ln/>
        </p:spPr>
      </p:sp>
      <p:sp>
        <p:nvSpPr>
          <p:cNvPr id="6" name="Shape 4"/>
          <p:cNvSpPr/>
          <p:nvPr/>
        </p:nvSpPr>
        <p:spPr>
          <a:xfrm>
            <a:off x="1092173" y="2851079"/>
            <a:ext cx="88898" cy="88898"/>
          </a:xfrm>
          <a:prstGeom prst="roundRect">
            <a:avLst>
              <a:gd name="adj" fmla="val 50000"/>
            </a:avLst>
          </a:prstGeom>
          <a:solidFill>
            <a:srgbClr val="1FD3F5">
              <a:alpha val="70000"/>
            </a:srgbClr>
          </a:solidFill>
          <a:ln/>
        </p:spPr>
      </p:sp>
      <p:sp>
        <p:nvSpPr>
          <p:cNvPr id="7" name="Shape 5"/>
          <p:cNvSpPr/>
          <p:nvPr/>
        </p:nvSpPr>
        <p:spPr>
          <a:xfrm>
            <a:off x="1244569" y="2851079"/>
            <a:ext cx="88898" cy="88898"/>
          </a:xfrm>
          <a:prstGeom prst="roundRect">
            <a:avLst>
              <a:gd name="adj" fmla="val 50000"/>
            </a:avLst>
          </a:prstGeom>
          <a:solidFill>
            <a:srgbClr val="D2F21E">
              <a:alpha val="70000"/>
            </a:srgbClr>
          </a:solidFill>
          <a:ln/>
        </p:spPr>
      </p:sp>
      <p:sp>
        <p:nvSpPr>
          <p:cNvPr id="8" name="Shape 6"/>
          <p:cNvSpPr/>
          <p:nvPr/>
        </p:nvSpPr>
        <p:spPr>
          <a:xfrm>
            <a:off x="1396965" y="2851079"/>
            <a:ext cx="88898" cy="88898"/>
          </a:xfrm>
          <a:prstGeom prst="roundRect">
            <a:avLst>
              <a:gd name="adj" fmla="val 50000"/>
            </a:avLst>
          </a:prstGeom>
          <a:solidFill>
            <a:srgbClr val="FF4B3A">
              <a:alpha val="70000"/>
            </a:srgbClr>
          </a:solidFill>
          <a:ln/>
        </p:spPr>
      </p:sp>
      <p:sp>
        <p:nvSpPr>
          <p:cNvPr id="9" name="Text 7"/>
          <p:cNvSpPr/>
          <p:nvPr/>
        </p:nvSpPr>
        <p:spPr>
          <a:xfrm>
            <a:off x="1638259" y="2811710"/>
            <a:ext cx="949285"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93A4C2"/>
                </a:solidFill>
                <a:latin typeface="Share Tech Mono" pitchFamily="34" charset="0"/>
                <a:ea typeface="Share Tech Mono" pitchFamily="34" charset="-122"/>
                <a:cs typeface="Share Tech Mono" pitchFamily="34" charset="-120"/>
              </a:rPr>
              <a:t>mi-skill/</a:t>
            </a:r>
            <a:endParaRPr lang="en-US" sz="1100" dirty="0"/>
          </a:p>
        </p:txBody>
      </p:sp>
      <p:sp>
        <p:nvSpPr>
          <p:cNvPr id="10" name="Text 8"/>
          <p:cNvSpPr/>
          <p:nvPr/>
        </p:nvSpPr>
        <p:spPr>
          <a:xfrm>
            <a:off x="1155671" y="3244134"/>
            <a:ext cx="4617478" cy="1097253"/>
          </a:xfrm>
          <a:prstGeom prst="rect">
            <a:avLst/>
          </a:prstGeom>
          <a:noFill/>
          <a:ln/>
        </p:spPr>
        <p:txBody>
          <a:bodyPr wrap="square" lIns="0" tIns="0" rIns="0" bIns="0" rtlCol="0" anchor="t"/>
          <a:lstStyle/>
          <a:p>
            <a:pPr algn="l" indent="0" marL="0">
              <a:lnSpc>
                <a:spcPts val="2160"/>
              </a:lnSpc>
              <a:buNone/>
            </a:pPr>
            <a:r>
              <a:rPr lang="en-US" sz="1350" dirty="0">
                <a:solidFill>
                  <a:srgbClr val="D2F21E"/>
                </a:solidFill>
                <a:latin typeface="Share Tech Mono" pitchFamily="34" charset="0"/>
                <a:ea typeface="Share Tech Mono" pitchFamily="34" charset="-122"/>
                <a:cs typeface="Share Tech Mono" pitchFamily="34" charset="-120"/>
              </a:rPr>
              <a:t>SKILL.md</a:t>
            </a:r>
            <a:r>
              <a:rPr lang="en-US" sz="1350" dirty="0">
                <a:solidFill>
                  <a:srgbClr val="C9D6EA"/>
                </a:solidFill>
                <a:latin typeface="Share Tech Mono" pitchFamily="34" charset="0"/>
                <a:ea typeface="Share Tech Mono" pitchFamily="34" charset="-122"/>
                <a:cs typeface="Share Tech Mono" pitchFamily="34" charset="-120"/>
              </a:rPr>
              <a:t>      </a:t>
            </a:r>
            <a:r>
              <a:rPr lang="en-US" sz="1350" dirty="0">
                <a:solidFill>
                  <a:srgbClr val="93A4C2"/>
                </a:solidFill>
                <a:latin typeface="Share Tech Mono" pitchFamily="34" charset="0"/>
                <a:ea typeface="Share Tech Mono" pitchFamily="34" charset="-122"/>
                <a:cs typeface="Share Tech Mono" pitchFamily="34" charset="-120"/>
              </a:rPr>
              <a:t>qué hace y cuándo</a:t>
            </a:r>
            <a:endParaRPr lang="en-US" sz="1350" dirty="0"/>
          </a:p>
          <a:p>
            <a:pPr algn="l" indent="0" marL="0">
              <a:lnSpc>
                <a:spcPts val="2160"/>
              </a:lnSpc>
              <a:buNone/>
            </a:pPr>
            <a:r>
              <a:rPr lang="en-US" sz="1350" dirty="0">
                <a:solidFill>
                  <a:srgbClr val="1FD3F5"/>
                </a:solidFill>
                <a:latin typeface="Share Tech Mono" pitchFamily="34" charset="0"/>
                <a:ea typeface="Share Tech Mono" pitchFamily="34" charset="-122"/>
                <a:cs typeface="Share Tech Mono" pitchFamily="34" charset="-120"/>
              </a:rPr>
              <a:t>scripts/</a:t>
            </a:r>
            <a:r>
              <a:rPr lang="en-US" sz="1350" dirty="0">
                <a:solidFill>
                  <a:srgbClr val="C9D6EA"/>
                </a:solidFill>
                <a:latin typeface="Share Tech Mono" pitchFamily="34" charset="0"/>
                <a:ea typeface="Share Tech Mono" pitchFamily="34" charset="-122"/>
                <a:cs typeface="Share Tech Mono" pitchFamily="34" charset="-120"/>
              </a:rPr>
              <a:t>      </a:t>
            </a:r>
            <a:r>
              <a:rPr lang="en-US" sz="1350" dirty="0">
                <a:solidFill>
                  <a:srgbClr val="93A4C2"/>
                </a:solidFill>
                <a:latin typeface="Share Tech Mono" pitchFamily="34" charset="0"/>
                <a:ea typeface="Share Tech Mono" pitchFamily="34" charset="-122"/>
                <a:cs typeface="Share Tech Mono" pitchFamily="34" charset="-120"/>
              </a:rPr>
              <a:t>lo que ejecuta</a:t>
            </a:r>
            <a:endParaRPr lang="en-US" sz="1350" dirty="0"/>
          </a:p>
          <a:p>
            <a:pPr algn="l" indent="0" marL="0">
              <a:lnSpc>
                <a:spcPts val="2160"/>
              </a:lnSpc>
              <a:buNone/>
            </a:pPr>
            <a:r>
              <a:rPr lang="en-US" sz="1350" dirty="0">
                <a:solidFill>
                  <a:srgbClr val="1FD3F5"/>
                </a:solidFill>
                <a:latin typeface="Share Tech Mono" pitchFamily="34" charset="0"/>
                <a:ea typeface="Share Tech Mono" pitchFamily="34" charset="-122"/>
                <a:cs typeface="Share Tech Mono" pitchFamily="34" charset="-120"/>
              </a:rPr>
              <a:t>references/</a:t>
            </a:r>
            <a:r>
              <a:rPr lang="en-US" sz="1350" dirty="0">
                <a:solidFill>
                  <a:srgbClr val="C9D6EA"/>
                </a:solidFill>
                <a:latin typeface="Share Tech Mono" pitchFamily="34" charset="0"/>
                <a:ea typeface="Share Tech Mono" pitchFamily="34" charset="-122"/>
                <a:cs typeface="Share Tech Mono" pitchFamily="34" charset="-120"/>
              </a:rPr>
              <a:t>   </a:t>
            </a:r>
            <a:r>
              <a:rPr lang="en-US" sz="1350" dirty="0">
                <a:solidFill>
                  <a:srgbClr val="93A4C2"/>
                </a:solidFill>
                <a:latin typeface="Share Tech Mono" pitchFamily="34" charset="0"/>
                <a:ea typeface="Share Tech Mono" pitchFamily="34" charset="-122"/>
                <a:cs typeface="Share Tech Mono" pitchFamily="34" charset="-120"/>
              </a:rPr>
              <a:t>lo que consulta</a:t>
            </a:r>
            <a:endParaRPr lang="en-US" sz="1350" dirty="0"/>
          </a:p>
          <a:p>
            <a:pPr algn="l" indent="0" marL="0">
              <a:lnSpc>
                <a:spcPts val="2160"/>
              </a:lnSpc>
              <a:buNone/>
            </a:pPr>
            <a:r>
              <a:rPr lang="en-US" sz="1350" dirty="0">
                <a:solidFill>
                  <a:srgbClr val="1FD3F5"/>
                </a:solidFill>
                <a:latin typeface="Share Tech Mono" pitchFamily="34" charset="0"/>
                <a:ea typeface="Share Tech Mono" pitchFamily="34" charset="-122"/>
                <a:cs typeface="Share Tech Mono" pitchFamily="34" charset="-120"/>
              </a:rPr>
              <a:t>templates/</a:t>
            </a:r>
            <a:r>
              <a:rPr lang="en-US" sz="1350" dirty="0">
                <a:solidFill>
                  <a:srgbClr val="C9D6EA"/>
                </a:solidFill>
                <a:latin typeface="Share Tech Mono" pitchFamily="34" charset="0"/>
                <a:ea typeface="Share Tech Mono" pitchFamily="34" charset="-122"/>
                <a:cs typeface="Share Tech Mono" pitchFamily="34" charset="-120"/>
              </a:rPr>
              <a:t>    </a:t>
            </a:r>
            <a:r>
              <a:rPr lang="en-US" sz="1350" dirty="0">
                <a:solidFill>
                  <a:srgbClr val="93A4C2"/>
                </a:solidFill>
                <a:latin typeface="Share Tech Mono" pitchFamily="34" charset="0"/>
                <a:ea typeface="Share Tech Mono" pitchFamily="34" charset="-122"/>
                <a:cs typeface="Share Tech Mono" pitchFamily="34" charset="-120"/>
              </a:rPr>
              <a:t>lo que reutiliza</a:t>
            </a:r>
            <a:endParaRPr lang="en-US" sz="1350" dirty="0"/>
          </a:p>
        </p:txBody>
      </p:sp>
      <p:sp>
        <p:nvSpPr>
          <p:cNvPr id="11" name="Text 9"/>
          <p:cNvSpPr/>
          <p:nvPr/>
        </p:nvSpPr>
        <p:spPr>
          <a:xfrm>
            <a:off x="6349841" y="2739163"/>
            <a:ext cx="2008725" cy="1428714"/>
          </a:xfrm>
          <a:prstGeom prst="rect">
            <a:avLst/>
          </a:prstGeom>
          <a:noFill/>
          <a:ln/>
        </p:spPr>
        <p:txBody>
          <a:bodyPr wrap="none" lIns="0" tIns="0" rIns="0" bIns="0" rtlCol="0" anchor="t"/>
          <a:lstStyle/>
          <a:p>
            <a:pPr algn="l" indent="0" marL="0">
              <a:lnSpc>
                <a:spcPts val="7650"/>
              </a:lnSpc>
              <a:buNone/>
            </a:pPr>
            <a:r>
              <a:rPr lang="en-US" sz="7500" dirty="0">
                <a:solidFill>
                  <a:srgbClr val="D2F21E"/>
                </a:solidFill>
                <a:latin typeface="Anton" pitchFamily="34" charset="0"/>
                <a:ea typeface="Anton" pitchFamily="34" charset="-122"/>
                <a:cs typeface="Anton" pitchFamily="34" charset="-120"/>
              </a:rPr>
              <a:t>~100</a:t>
            </a:r>
            <a:endParaRPr lang="en-US" sz="7500" dirty="0"/>
          </a:p>
        </p:txBody>
      </p:sp>
      <p:sp>
        <p:nvSpPr>
          <p:cNvPr id="12" name="Text 10"/>
          <p:cNvSpPr/>
          <p:nvPr/>
        </p:nvSpPr>
        <p:spPr>
          <a:xfrm>
            <a:off x="6349841" y="3774187"/>
            <a:ext cx="4362627" cy="228594"/>
          </a:xfrm>
          <a:prstGeom prst="rect">
            <a:avLst/>
          </a:prstGeom>
          <a:noFill/>
          <a:ln/>
        </p:spPr>
        <p:txBody>
          <a:bodyPr wrap="none" lIns="0" tIns="0" rIns="0" bIns="0" rtlCol="0" anchor="t"/>
          <a:lstStyle/>
          <a:p>
            <a:pPr algn="l" indent="0" marL="0">
              <a:lnSpc>
                <a:spcPts val="1800"/>
              </a:lnSpc>
              <a:buNone/>
            </a:pPr>
            <a:r>
              <a:rPr lang="en-US" sz="1500" dirty="0">
                <a:solidFill>
                  <a:srgbClr val="FFFFFF"/>
                </a:solidFill>
                <a:latin typeface="Arial" pitchFamily="34" charset="0"/>
                <a:ea typeface="Arial" pitchFamily="34" charset="-122"/>
                <a:cs typeface="Arial" pitchFamily="34" charset="-120"/>
              </a:rPr>
              <a:t>tokens por skill hasta que la tarea coincide</a:t>
            </a:r>
            <a:endParaRPr lang="en-US" sz="1500" dirty="0"/>
          </a:p>
        </p:txBody>
      </p:sp>
      <p:sp>
        <p:nvSpPr>
          <p:cNvPr id="13" name="Shape 11"/>
          <p:cNvSpPr/>
          <p:nvPr/>
        </p:nvSpPr>
        <p:spPr>
          <a:xfrm>
            <a:off x="6349841" y="4193276"/>
            <a:ext cx="1194068" cy="292093"/>
          </a:xfrm>
          <a:prstGeom prst="rect">
            <a:avLst/>
          </a:prstGeom>
          <a:ln w="6350">
            <a:solidFill>
              <a:srgbClr val="20D3F5">
                <a:alpha val="50000"/>
              </a:srgbClr>
            </a:solidFill>
            <a:prstDash val="solid"/>
          </a:ln>
        </p:spPr>
      </p:sp>
      <p:sp>
        <p:nvSpPr>
          <p:cNvPr id="14" name="Text 12"/>
          <p:cNvSpPr/>
          <p:nvPr/>
        </p:nvSpPr>
        <p:spPr>
          <a:xfrm>
            <a:off x="6470488" y="4255505"/>
            <a:ext cx="1143305"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Claude Code</a:t>
            </a:r>
            <a:endParaRPr lang="en-US" sz="1100" dirty="0"/>
          </a:p>
        </p:txBody>
      </p:sp>
      <p:sp>
        <p:nvSpPr>
          <p:cNvPr id="15" name="Shape 13"/>
          <p:cNvSpPr/>
          <p:nvPr/>
        </p:nvSpPr>
        <p:spPr>
          <a:xfrm>
            <a:off x="7632807" y="4193276"/>
            <a:ext cx="674373" cy="292093"/>
          </a:xfrm>
          <a:prstGeom prst="rect">
            <a:avLst/>
          </a:prstGeom>
          <a:ln w="6350">
            <a:solidFill>
              <a:srgbClr val="20D3F5">
                <a:alpha val="50000"/>
              </a:srgbClr>
            </a:solidFill>
            <a:prstDash val="solid"/>
          </a:ln>
        </p:spPr>
      </p:sp>
      <p:sp>
        <p:nvSpPr>
          <p:cNvPr id="16" name="Text 14"/>
          <p:cNvSpPr/>
          <p:nvPr/>
        </p:nvSpPr>
        <p:spPr>
          <a:xfrm>
            <a:off x="7753454" y="4255505"/>
            <a:ext cx="561247"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Codex</a:t>
            </a:r>
            <a:endParaRPr lang="en-US" sz="1100" dirty="0"/>
          </a:p>
        </p:txBody>
      </p:sp>
      <p:sp>
        <p:nvSpPr>
          <p:cNvPr id="17" name="Shape 15"/>
          <p:cNvSpPr/>
          <p:nvPr/>
        </p:nvSpPr>
        <p:spPr>
          <a:xfrm>
            <a:off x="8396078" y="4193276"/>
            <a:ext cx="1107452" cy="292093"/>
          </a:xfrm>
          <a:prstGeom prst="rect">
            <a:avLst/>
          </a:prstGeom>
          <a:ln w="6350">
            <a:solidFill>
              <a:srgbClr val="20D3F5">
                <a:alpha val="50000"/>
              </a:srgbClr>
            </a:solidFill>
            <a:prstDash val="solid"/>
          </a:ln>
        </p:spPr>
      </p:sp>
      <p:sp>
        <p:nvSpPr>
          <p:cNvPr id="18" name="Text 16"/>
          <p:cNvSpPr/>
          <p:nvPr/>
        </p:nvSpPr>
        <p:spPr>
          <a:xfrm>
            <a:off x="8516725" y="4255505"/>
            <a:ext cx="1046295"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Gemini CLI</a:t>
            </a:r>
            <a:endParaRPr lang="en-US" sz="1100" dirty="0"/>
          </a:p>
        </p:txBody>
      </p:sp>
      <p:sp>
        <p:nvSpPr>
          <p:cNvPr id="19" name="Shape 17"/>
          <p:cNvSpPr/>
          <p:nvPr/>
        </p:nvSpPr>
        <p:spPr>
          <a:xfrm>
            <a:off x="9592427" y="4193276"/>
            <a:ext cx="760989" cy="292093"/>
          </a:xfrm>
          <a:prstGeom prst="rect">
            <a:avLst/>
          </a:prstGeom>
          <a:ln w="6350">
            <a:solidFill>
              <a:srgbClr val="20D3F5">
                <a:alpha val="50000"/>
              </a:srgbClr>
            </a:solidFill>
            <a:prstDash val="solid"/>
          </a:ln>
        </p:spPr>
      </p:sp>
      <p:sp>
        <p:nvSpPr>
          <p:cNvPr id="20" name="Text 18"/>
          <p:cNvSpPr/>
          <p:nvPr/>
        </p:nvSpPr>
        <p:spPr>
          <a:xfrm>
            <a:off x="9713074" y="4255505"/>
            <a:ext cx="658256"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Cursor</a:t>
            </a:r>
            <a:endParaRPr lang="en-US" sz="1100" dirty="0"/>
          </a:p>
        </p:txBody>
      </p:sp>
      <p:sp>
        <p:nvSpPr>
          <p:cNvPr id="21" name="Text 19"/>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2" name="Text 20"/>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174721" y="784840"/>
            <a:ext cx="1690915"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03 · SKILLS</a:t>
            </a:r>
            <a:endParaRPr lang="en-US" sz="1200" dirty="0"/>
          </a:p>
        </p:txBody>
      </p:sp>
      <p:sp>
        <p:nvSpPr>
          <p:cNvPr id="3" name="Text 1"/>
          <p:cNvSpPr/>
          <p:nvPr/>
        </p:nvSpPr>
        <p:spPr>
          <a:xfrm>
            <a:off x="952476" y="1231869"/>
            <a:ext cx="9863732"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LAS QUE MÁS SE RECOMIENDAN EN 2026</a:t>
            </a:r>
            <a:endParaRPr lang="en-US" sz="4600" dirty="0"/>
          </a:p>
        </p:txBody>
      </p:sp>
      <p:sp>
        <p:nvSpPr>
          <p:cNvPr id="4" name="Shape 2"/>
          <p:cNvSpPr/>
          <p:nvPr/>
        </p:nvSpPr>
        <p:spPr>
          <a:xfrm>
            <a:off x="952476" y="2120847"/>
            <a:ext cx="3301917" cy="1074314"/>
          </a:xfrm>
          <a:prstGeom prst="rect">
            <a:avLst/>
          </a:prstGeom>
          <a:solidFill>
            <a:srgbClr val="0A285A">
              <a:alpha val="72000"/>
            </a:srgbClr>
          </a:solidFill>
          <a:ln w="12700">
            <a:solidFill>
              <a:srgbClr val="1FD3F4">
                <a:alpha val="45000"/>
              </a:srgbClr>
            </a:solidFill>
            <a:prstDash val="solid"/>
          </a:ln>
        </p:spPr>
      </p:sp>
      <p:sp>
        <p:nvSpPr>
          <p:cNvPr id="5" name="Text 3"/>
          <p:cNvSpPr/>
          <p:nvPr/>
        </p:nvSpPr>
        <p:spPr>
          <a:xfrm>
            <a:off x="1193770" y="2394525"/>
            <a:ext cx="1766034" cy="285743"/>
          </a:xfrm>
          <a:prstGeom prst="rect">
            <a:avLst/>
          </a:prstGeom>
          <a:noFill/>
          <a:ln/>
        </p:spPr>
        <p:txBody>
          <a:bodyPr wrap="none" lIns="0" tIns="0" rIns="0" bIns="0" rtlCol="0" anchor="t"/>
          <a:lstStyle/>
          <a:p>
            <a:pPr algn="l" indent="0" marL="0">
              <a:lnSpc>
                <a:spcPts val="2040"/>
              </a:lnSpc>
              <a:buNone/>
            </a:pPr>
            <a:r>
              <a:rPr lang="en-US" sz="2000" dirty="0">
                <a:solidFill>
                  <a:srgbClr val="FFFFFF"/>
                </a:solidFill>
                <a:latin typeface="Share Tech Mono" pitchFamily="34" charset="0"/>
                <a:ea typeface="Share Tech Mono" pitchFamily="34" charset="-122"/>
                <a:cs typeface="Share Tech Mono" pitchFamily="34" charset="-120"/>
              </a:rPr>
              <a:t>Superpowers</a:t>
            </a:r>
            <a:endParaRPr lang="en-US" sz="2000" dirty="0"/>
          </a:p>
        </p:txBody>
      </p:sp>
      <p:sp>
        <p:nvSpPr>
          <p:cNvPr id="6" name="Text 4"/>
          <p:cNvSpPr/>
          <p:nvPr/>
        </p:nvSpPr>
        <p:spPr>
          <a:xfrm>
            <a:off x="1193770" y="2743747"/>
            <a:ext cx="3145060"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Planear y probar antes de codificar</a:t>
            </a:r>
            <a:endParaRPr lang="en-US" sz="1300" dirty="0"/>
          </a:p>
        </p:txBody>
      </p:sp>
      <p:sp>
        <p:nvSpPr>
          <p:cNvPr id="7" name="Shape 5"/>
          <p:cNvSpPr/>
          <p:nvPr/>
        </p:nvSpPr>
        <p:spPr>
          <a:xfrm>
            <a:off x="4444889" y="2120847"/>
            <a:ext cx="3301917" cy="1074314"/>
          </a:xfrm>
          <a:prstGeom prst="rect">
            <a:avLst/>
          </a:prstGeom>
          <a:solidFill>
            <a:srgbClr val="0A285A">
              <a:alpha val="72000"/>
            </a:srgbClr>
          </a:solidFill>
          <a:ln w="12700">
            <a:solidFill>
              <a:srgbClr val="1FD3F4">
                <a:alpha val="45000"/>
              </a:srgbClr>
            </a:solidFill>
            <a:prstDash val="solid"/>
          </a:ln>
        </p:spPr>
      </p:sp>
      <p:sp>
        <p:nvSpPr>
          <p:cNvPr id="8" name="Text 6"/>
          <p:cNvSpPr/>
          <p:nvPr/>
        </p:nvSpPr>
        <p:spPr>
          <a:xfrm>
            <a:off x="4686183" y="2394525"/>
            <a:ext cx="3148505" cy="285743"/>
          </a:xfrm>
          <a:prstGeom prst="rect">
            <a:avLst/>
          </a:prstGeom>
          <a:noFill/>
          <a:ln/>
        </p:spPr>
        <p:txBody>
          <a:bodyPr wrap="none" lIns="0" tIns="0" rIns="0" bIns="0" rtlCol="0" anchor="t"/>
          <a:lstStyle/>
          <a:p>
            <a:pPr algn="l" indent="0" marL="0">
              <a:lnSpc>
                <a:spcPts val="2040"/>
              </a:lnSpc>
              <a:buNone/>
            </a:pPr>
            <a:r>
              <a:rPr lang="en-US" sz="2000" dirty="0">
                <a:solidFill>
                  <a:srgbClr val="FFFFFF"/>
                </a:solidFill>
                <a:latin typeface="Share Tech Mono" pitchFamily="34" charset="0"/>
                <a:ea typeface="Share Tech Mono" pitchFamily="34" charset="-122"/>
                <a:cs typeface="Share Tech Mono" pitchFamily="34" charset="-120"/>
              </a:rPr>
              <a:t>systematic-debugging</a:t>
            </a:r>
            <a:endParaRPr lang="en-US" sz="2000" dirty="0"/>
          </a:p>
        </p:txBody>
      </p:sp>
      <p:sp>
        <p:nvSpPr>
          <p:cNvPr id="9" name="Text 7"/>
          <p:cNvSpPr/>
          <p:nvPr/>
        </p:nvSpPr>
        <p:spPr>
          <a:xfrm>
            <a:off x="4686183" y="2743747"/>
            <a:ext cx="1876267"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Depurar con método</a:t>
            </a:r>
            <a:endParaRPr lang="en-US" sz="1300" dirty="0"/>
          </a:p>
        </p:txBody>
      </p:sp>
      <p:sp>
        <p:nvSpPr>
          <p:cNvPr id="10" name="Shape 8"/>
          <p:cNvSpPr/>
          <p:nvPr/>
        </p:nvSpPr>
        <p:spPr>
          <a:xfrm>
            <a:off x="7937302" y="2120847"/>
            <a:ext cx="3301917" cy="1074314"/>
          </a:xfrm>
          <a:prstGeom prst="rect">
            <a:avLst/>
          </a:prstGeom>
          <a:solidFill>
            <a:srgbClr val="0A285A">
              <a:alpha val="72000"/>
            </a:srgbClr>
          </a:solidFill>
          <a:ln w="12700">
            <a:solidFill>
              <a:srgbClr val="1FD3F4">
                <a:alpha val="45000"/>
              </a:srgbClr>
            </a:solidFill>
            <a:prstDash val="solid"/>
          </a:ln>
        </p:spPr>
      </p:sp>
      <p:sp>
        <p:nvSpPr>
          <p:cNvPr id="11" name="Text 9"/>
          <p:cNvSpPr/>
          <p:nvPr/>
        </p:nvSpPr>
        <p:spPr>
          <a:xfrm>
            <a:off x="8178596" y="2394525"/>
            <a:ext cx="2380428" cy="285743"/>
          </a:xfrm>
          <a:prstGeom prst="rect">
            <a:avLst/>
          </a:prstGeom>
          <a:noFill/>
          <a:ln/>
        </p:spPr>
        <p:txBody>
          <a:bodyPr wrap="none" lIns="0" tIns="0" rIns="0" bIns="0" rtlCol="0" anchor="t"/>
          <a:lstStyle/>
          <a:p>
            <a:pPr algn="l" indent="0" marL="0">
              <a:lnSpc>
                <a:spcPts val="2040"/>
              </a:lnSpc>
              <a:buNone/>
            </a:pPr>
            <a:r>
              <a:rPr lang="en-US" sz="2000" dirty="0">
                <a:solidFill>
                  <a:srgbClr val="FFFFFF"/>
                </a:solidFill>
                <a:latin typeface="Share Tech Mono" pitchFamily="34" charset="0"/>
                <a:ea typeface="Share Tech Mono" pitchFamily="34" charset="-122"/>
                <a:cs typeface="Share Tech Mono" pitchFamily="34" charset="-120"/>
              </a:rPr>
              <a:t>frontend-design</a:t>
            </a:r>
            <a:endParaRPr lang="en-US" sz="2000" dirty="0"/>
          </a:p>
        </p:txBody>
      </p:sp>
      <p:sp>
        <p:nvSpPr>
          <p:cNvPr id="12" name="Text 10"/>
          <p:cNvSpPr/>
          <p:nvPr/>
        </p:nvSpPr>
        <p:spPr>
          <a:xfrm>
            <a:off x="8178596" y="2743747"/>
            <a:ext cx="1661134"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Diseño deliberado</a:t>
            </a:r>
            <a:endParaRPr lang="en-US" sz="1300" dirty="0"/>
          </a:p>
        </p:txBody>
      </p:sp>
      <p:sp>
        <p:nvSpPr>
          <p:cNvPr id="13" name="Shape 11"/>
          <p:cNvSpPr/>
          <p:nvPr/>
        </p:nvSpPr>
        <p:spPr>
          <a:xfrm>
            <a:off x="952476" y="3385656"/>
            <a:ext cx="3301917" cy="1074314"/>
          </a:xfrm>
          <a:prstGeom prst="rect">
            <a:avLst/>
          </a:prstGeom>
          <a:solidFill>
            <a:srgbClr val="0A285A">
              <a:alpha val="72000"/>
            </a:srgbClr>
          </a:solidFill>
          <a:ln w="12700">
            <a:solidFill>
              <a:srgbClr val="1FD3F4">
                <a:alpha val="45000"/>
              </a:srgbClr>
            </a:solidFill>
            <a:prstDash val="solid"/>
          </a:ln>
        </p:spPr>
      </p:sp>
      <p:sp>
        <p:nvSpPr>
          <p:cNvPr id="14" name="Text 12"/>
          <p:cNvSpPr/>
          <p:nvPr/>
        </p:nvSpPr>
        <p:spPr>
          <a:xfrm>
            <a:off x="1193770" y="3659334"/>
            <a:ext cx="2687681" cy="285743"/>
          </a:xfrm>
          <a:prstGeom prst="rect">
            <a:avLst/>
          </a:prstGeom>
          <a:noFill/>
          <a:ln/>
        </p:spPr>
        <p:txBody>
          <a:bodyPr wrap="none" lIns="0" tIns="0" rIns="0" bIns="0" rtlCol="0" anchor="t"/>
          <a:lstStyle/>
          <a:p>
            <a:pPr algn="l" indent="0" marL="0">
              <a:lnSpc>
                <a:spcPts val="2040"/>
              </a:lnSpc>
              <a:buNone/>
            </a:pPr>
            <a:r>
              <a:rPr lang="en-US" sz="2000" dirty="0">
                <a:solidFill>
                  <a:srgbClr val="FFFFFF"/>
                </a:solidFill>
                <a:latin typeface="Share Tech Mono" pitchFamily="34" charset="0"/>
                <a:ea typeface="Share Tech Mono" pitchFamily="34" charset="-122"/>
                <a:cs typeface="Share Tech Mono" pitchFamily="34" charset="-120"/>
              </a:rPr>
              <a:t>pdf · docx · xlsx</a:t>
            </a:r>
            <a:endParaRPr lang="en-US" sz="2000" dirty="0"/>
          </a:p>
        </p:txBody>
      </p:sp>
      <p:sp>
        <p:nvSpPr>
          <p:cNvPr id="15" name="Text 13"/>
          <p:cNvSpPr/>
          <p:nvPr/>
        </p:nvSpPr>
        <p:spPr>
          <a:xfrm>
            <a:off x="1193770" y="4008556"/>
            <a:ext cx="1181753"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Documentos</a:t>
            </a:r>
            <a:endParaRPr lang="en-US" sz="1300" dirty="0"/>
          </a:p>
        </p:txBody>
      </p:sp>
      <p:sp>
        <p:nvSpPr>
          <p:cNvPr id="16" name="Shape 14"/>
          <p:cNvSpPr/>
          <p:nvPr/>
        </p:nvSpPr>
        <p:spPr>
          <a:xfrm>
            <a:off x="4444889" y="3385656"/>
            <a:ext cx="3301917" cy="1074314"/>
          </a:xfrm>
          <a:prstGeom prst="rect">
            <a:avLst/>
          </a:prstGeom>
          <a:solidFill>
            <a:srgbClr val="0A285A">
              <a:alpha val="72000"/>
            </a:srgbClr>
          </a:solidFill>
          <a:ln w="12700">
            <a:solidFill>
              <a:srgbClr val="D1F21D">
                <a:alpha val="55000"/>
              </a:srgbClr>
            </a:solidFill>
            <a:prstDash val="solid"/>
          </a:ln>
        </p:spPr>
      </p:sp>
      <p:sp>
        <p:nvSpPr>
          <p:cNvPr id="17" name="Text 15"/>
          <p:cNvSpPr/>
          <p:nvPr/>
        </p:nvSpPr>
        <p:spPr>
          <a:xfrm>
            <a:off x="4686183" y="3659334"/>
            <a:ext cx="2073287" cy="285743"/>
          </a:xfrm>
          <a:prstGeom prst="rect">
            <a:avLst/>
          </a:prstGeom>
          <a:noFill/>
          <a:ln/>
        </p:spPr>
        <p:txBody>
          <a:bodyPr wrap="none" lIns="0" tIns="0" rIns="0" bIns="0" rtlCol="0" anchor="t"/>
          <a:lstStyle/>
          <a:p>
            <a:pPr algn="l" indent="0" marL="0">
              <a:lnSpc>
                <a:spcPts val="2040"/>
              </a:lnSpc>
              <a:buNone/>
            </a:pPr>
            <a:r>
              <a:rPr lang="en-US" sz="2000" dirty="0">
                <a:solidFill>
                  <a:srgbClr val="FFFFFF"/>
                </a:solidFill>
                <a:latin typeface="Share Tech Mono" pitchFamily="34" charset="0"/>
                <a:ea typeface="Share Tech Mono" pitchFamily="34" charset="-122"/>
                <a:cs typeface="Share Tech Mono" pitchFamily="34" charset="-120"/>
              </a:rPr>
              <a:t>skill-creator</a:t>
            </a:r>
            <a:endParaRPr lang="en-US" sz="2000" dirty="0"/>
          </a:p>
        </p:txBody>
      </p:sp>
      <p:sp>
        <p:nvSpPr>
          <p:cNvPr id="18" name="Text 16"/>
          <p:cNvSpPr/>
          <p:nvPr/>
        </p:nvSpPr>
        <p:spPr>
          <a:xfrm>
            <a:off x="4686183" y="4008556"/>
            <a:ext cx="2126848"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Tu puerta a constructor</a:t>
            </a:r>
            <a:endParaRPr lang="en-US" sz="1300" dirty="0"/>
          </a:p>
        </p:txBody>
      </p:sp>
      <p:sp>
        <p:nvSpPr>
          <p:cNvPr id="19" name="Shape 17"/>
          <p:cNvSpPr/>
          <p:nvPr/>
        </p:nvSpPr>
        <p:spPr>
          <a:xfrm>
            <a:off x="7937302" y="3385656"/>
            <a:ext cx="3301917" cy="1074314"/>
          </a:xfrm>
          <a:prstGeom prst="rect">
            <a:avLst/>
          </a:prstGeom>
          <a:solidFill>
            <a:srgbClr val="0A285A">
              <a:alpha val="72000"/>
            </a:srgbClr>
          </a:solidFill>
          <a:ln w="12700">
            <a:solidFill>
              <a:srgbClr val="1FD3F4">
                <a:alpha val="45000"/>
              </a:srgbClr>
            </a:solidFill>
            <a:prstDash val="solid"/>
          </a:ln>
        </p:spPr>
      </p:sp>
      <p:sp>
        <p:nvSpPr>
          <p:cNvPr id="20" name="Text 18"/>
          <p:cNvSpPr/>
          <p:nvPr/>
        </p:nvSpPr>
        <p:spPr>
          <a:xfrm>
            <a:off x="8178596" y="3659334"/>
            <a:ext cx="2073287" cy="285743"/>
          </a:xfrm>
          <a:prstGeom prst="rect">
            <a:avLst/>
          </a:prstGeom>
          <a:noFill/>
          <a:ln/>
        </p:spPr>
        <p:txBody>
          <a:bodyPr wrap="none" lIns="0" tIns="0" rIns="0" bIns="0" rtlCol="0" anchor="t"/>
          <a:lstStyle/>
          <a:p>
            <a:pPr algn="l" indent="0" marL="0">
              <a:lnSpc>
                <a:spcPts val="2040"/>
              </a:lnSpc>
              <a:buNone/>
            </a:pPr>
            <a:r>
              <a:rPr lang="en-US" sz="2000" dirty="0">
                <a:solidFill>
                  <a:srgbClr val="FFFFFF"/>
                </a:solidFill>
                <a:latin typeface="Share Tech Mono" pitchFamily="34" charset="0"/>
                <a:ea typeface="Share Tech Mono" pitchFamily="34" charset="-122"/>
                <a:cs typeface="Share Tech Mono" pitchFamily="34" charset="-120"/>
              </a:rPr>
              <a:t>Agent-Browser</a:t>
            </a:r>
            <a:endParaRPr lang="en-US" sz="2000" dirty="0"/>
          </a:p>
        </p:txBody>
      </p:sp>
      <p:sp>
        <p:nvSpPr>
          <p:cNvPr id="21" name="Text 19"/>
          <p:cNvSpPr/>
          <p:nvPr/>
        </p:nvSpPr>
        <p:spPr>
          <a:xfrm>
            <a:off x="8178596" y="4008556"/>
            <a:ext cx="1670802"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Verificación visual</a:t>
            </a:r>
            <a:endParaRPr lang="en-US" sz="1300" dirty="0"/>
          </a:p>
        </p:txBody>
      </p:sp>
      <p:sp>
        <p:nvSpPr>
          <p:cNvPr id="22" name="Text 20"/>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3" name="Text 21"/>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143771" y="3855445"/>
            <a:ext cx="2095448" cy="1986409"/>
          </a:xfrm>
          <a:prstGeom prst="rect">
            <a:avLst/>
          </a:prstGeom>
        </p:spPr>
      </p:pic>
      <p:sp>
        <p:nvSpPr>
          <p:cNvPr id="3" name="Text 0"/>
          <p:cNvSpPr/>
          <p:nvPr/>
        </p:nvSpPr>
        <p:spPr>
          <a:xfrm>
            <a:off x="1174721" y="784840"/>
            <a:ext cx="1690915"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03 · SKILLS</a:t>
            </a:r>
            <a:endParaRPr lang="en-US" sz="1200" dirty="0"/>
          </a:p>
        </p:txBody>
      </p:sp>
      <p:sp>
        <p:nvSpPr>
          <p:cNvPr id="4" name="Text 1"/>
          <p:cNvSpPr/>
          <p:nvPr/>
        </p:nvSpPr>
        <p:spPr>
          <a:xfrm>
            <a:off x="952476" y="1231869"/>
            <a:ext cx="5240270"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INSTALA 2 O 3, </a:t>
            </a:r>
            <a:r>
              <a:rPr lang="en-US" sz="4600" spc="20" kern="0" dirty="0">
                <a:solidFill>
                  <a:srgbClr val="D2F21E"/>
                </a:solidFill>
                <a:latin typeface="Anton" pitchFamily="34" charset="0"/>
                <a:ea typeface="Anton" pitchFamily="34" charset="-122"/>
                <a:cs typeface="Anton" pitchFamily="34" charset="-120"/>
              </a:rPr>
              <a:t>NO 20</a:t>
            </a:r>
            <a:endParaRPr lang="en-US" sz="4600" dirty="0"/>
          </a:p>
        </p:txBody>
      </p:sp>
      <p:sp>
        <p:nvSpPr>
          <p:cNvPr id="5" name="Text 2"/>
          <p:cNvSpPr/>
          <p:nvPr/>
        </p:nvSpPr>
        <p:spPr>
          <a:xfrm>
            <a:off x="1396965" y="2186250"/>
            <a:ext cx="4283841" cy="24764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Arial" pitchFamily="34" charset="0"/>
                <a:ea typeface="Arial" pitchFamily="34" charset="-122"/>
                <a:cs typeface="Arial" pitchFamily="34" charset="-120"/>
              </a:rPr>
              <a:t>Resuelve un fallo que ya viste repetirse</a:t>
            </a:r>
            <a:endParaRPr lang="en-US" sz="1600" dirty="0"/>
          </a:p>
        </p:txBody>
      </p:sp>
      <p:sp>
        <p:nvSpPr>
          <p:cNvPr id="6" name="Shape 3"/>
          <p:cNvSpPr/>
          <p:nvPr/>
        </p:nvSpPr>
        <p:spPr>
          <a:xfrm>
            <a:off x="952476" y="2244669"/>
            <a:ext cx="292093" cy="126997"/>
          </a:xfrm>
          <a:prstGeom prst="rect">
            <a:avLst/>
          </a:prstGeom>
          <a:solidFill>
            <a:srgbClr val="1FD3F5"/>
          </a:solidFill>
          <a:ln/>
        </p:spPr>
      </p:sp>
      <p:sp>
        <p:nvSpPr>
          <p:cNvPr id="7" name="Text 4"/>
          <p:cNvSpPr/>
          <p:nvPr/>
        </p:nvSpPr>
        <p:spPr>
          <a:xfrm>
            <a:off x="1396965" y="2624389"/>
            <a:ext cx="3961809" cy="24764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Arial" pitchFamily="34" charset="0"/>
                <a:ea typeface="Arial" pitchFamily="34" charset="-122"/>
                <a:cs typeface="Arial" pitchFamily="34" charset="-120"/>
              </a:rPr>
              <a:t>Dice con precisión cuándo se activa</a:t>
            </a:r>
            <a:endParaRPr lang="en-US" sz="1600" dirty="0"/>
          </a:p>
        </p:txBody>
      </p:sp>
      <p:sp>
        <p:nvSpPr>
          <p:cNvPr id="8" name="Shape 5"/>
          <p:cNvSpPr/>
          <p:nvPr/>
        </p:nvSpPr>
        <p:spPr>
          <a:xfrm>
            <a:off x="952476" y="2682808"/>
            <a:ext cx="292093" cy="126997"/>
          </a:xfrm>
          <a:prstGeom prst="rect">
            <a:avLst/>
          </a:prstGeom>
          <a:solidFill>
            <a:srgbClr val="1FD3F5"/>
          </a:solidFill>
          <a:ln/>
        </p:spPr>
      </p:sp>
      <p:sp>
        <p:nvSpPr>
          <p:cNvPr id="9" name="Text 6"/>
          <p:cNvSpPr/>
          <p:nvPr/>
        </p:nvSpPr>
        <p:spPr>
          <a:xfrm>
            <a:off x="1396965" y="3062528"/>
            <a:ext cx="2988823" cy="24764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Arial" pitchFamily="34" charset="0"/>
                <a:ea typeface="Arial" pitchFamily="34" charset="-122"/>
                <a:cs typeface="Arial" pitchFamily="34" charset="-120"/>
              </a:rPr>
              <a:t>Tiene criterio de terminado</a:t>
            </a:r>
            <a:endParaRPr lang="en-US" sz="1600" dirty="0"/>
          </a:p>
        </p:txBody>
      </p:sp>
      <p:sp>
        <p:nvSpPr>
          <p:cNvPr id="10" name="Shape 7"/>
          <p:cNvSpPr/>
          <p:nvPr/>
        </p:nvSpPr>
        <p:spPr>
          <a:xfrm>
            <a:off x="952476" y="3120947"/>
            <a:ext cx="292093" cy="126997"/>
          </a:xfrm>
          <a:prstGeom prst="rect">
            <a:avLst/>
          </a:prstGeom>
          <a:solidFill>
            <a:srgbClr val="1FD3F5"/>
          </a:solidFill>
          <a:ln/>
        </p:spPr>
      </p:sp>
      <p:sp>
        <p:nvSpPr>
          <p:cNvPr id="11" name="Text 8"/>
          <p:cNvSpPr/>
          <p:nvPr/>
        </p:nvSpPr>
        <p:spPr>
          <a:xfrm>
            <a:off x="1396965" y="3500667"/>
            <a:ext cx="3918805" cy="24764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Arial" pitchFamily="34" charset="0"/>
                <a:ea typeface="Arial" pitchFamily="34" charset="-122"/>
                <a:cs typeface="Arial" pitchFamily="34" charset="-120"/>
              </a:rPr>
              <a:t>Léela antes: corre con tus permisos</a:t>
            </a:r>
            <a:endParaRPr lang="en-US" sz="1600" dirty="0"/>
          </a:p>
        </p:txBody>
      </p:sp>
      <p:sp>
        <p:nvSpPr>
          <p:cNvPr id="12" name="Shape 9"/>
          <p:cNvSpPr/>
          <p:nvPr/>
        </p:nvSpPr>
        <p:spPr>
          <a:xfrm>
            <a:off x="952476" y="3559086"/>
            <a:ext cx="292093" cy="126997"/>
          </a:xfrm>
          <a:prstGeom prst="rect">
            <a:avLst/>
          </a:prstGeom>
          <a:solidFill>
            <a:srgbClr val="1FD3F5"/>
          </a:solidFill>
          <a:ln/>
        </p:spPr>
      </p:sp>
      <p:sp>
        <p:nvSpPr>
          <p:cNvPr id="13" name="Shape 10"/>
          <p:cNvSpPr/>
          <p:nvPr/>
        </p:nvSpPr>
        <p:spPr>
          <a:xfrm>
            <a:off x="952476" y="4063898"/>
            <a:ext cx="4438043" cy="323842"/>
          </a:xfrm>
          <a:prstGeom prst="rect">
            <a:avLst/>
          </a:prstGeom>
          <a:ln w="6350">
            <a:solidFill>
              <a:srgbClr val="D2F21E"/>
            </a:solidFill>
            <a:prstDash val="solid"/>
          </a:ln>
        </p:spPr>
      </p:sp>
      <p:sp>
        <p:nvSpPr>
          <p:cNvPr id="14" name="Text 11"/>
          <p:cNvSpPr/>
          <p:nvPr/>
        </p:nvSpPr>
        <p:spPr>
          <a:xfrm>
            <a:off x="1073123" y="4126762"/>
            <a:ext cx="4776557" cy="198115"/>
          </a:xfrm>
          <a:prstGeom prst="rect">
            <a:avLst/>
          </a:prstGeom>
          <a:noFill/>
          <a:ln/>
        </p:spPr>
        <p:txBody>
          <a:bodyPr wrap="none" lIns="0" tIns="0" rIns="0" bIns="0" rtlCol="0" anchor="t"/>
          <a:lstStyle/>
          <a:p>
            <a:pPr algn="l" indent="0" marL="0">
              <a:lnSpc>
                <a:spcPts val="1560"/>
              </a:lnSpc>
              <a:buNone/>
            </a:pPr>
            <a:r>
              <a:rPr lang="en-US" sz="1300" spc="100" kern="0" dirty="0">
                <a:solidFill>
                  <a:srgbClr val="D2F21E"/>
                </a:solidFill>
                <a:latin typeface="Share Tech Mono" pitchFamily="34" charset="0"/>
                <a:ea typeface="Share Tech Mono" pitchFamily="34" charset="-122"/>
                <a:cs typeface="Share Tech Mono" pitchFamily="34" charset="-120"/>
              </a:rPr>
              <a:t>Demo · misma tarea, con skill y sin skill</a:t>
            </a:r>
            <a:endParaRPr lang="en-US" sz="1300" dirty="0"/>
          </a:p>
        </p:txBody>
      </p:sp>
      <p:sp>
        <p:nvSpPr>
          <p:cNvPr id="15" name="Text 12"/>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16" name="Text 13"/>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1174721" y="784840"/>
            <a:ext cx="3158840"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04 · LOOP ENGINEERING</a:t>
            </a:r>
            <a:endParaRPr lang="en-US" sz="1200" dirty="0"/>
          </a:p>
        </p:txBody>
      </p:sp>
      <p:sp>
        <p:nvSpPr>
          <p:cNvPr id="3" name="Text 1"/>
          <p:cNvSpPr/>
          <p:nvPr/>
        </p:nvSpPr>
        <p:spPr>
          <a:xfrm>
            <a:off x="952476" y="1231869"/>
            <a:ext cx="7822528"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DISEÑA EL CICLO, NO EL PROMPT</a:t>
            </a:r>
            <a:endParaRPr lang="en-US" sz="4600" dirty="0"/>
          </a:p>
        </p:txBody>
      </p:sp>
      <p:pic>
        <p:nvPicPr>
          <p:cNvPr id="4" name="Image 0" descr="preencoded.png">    </p:cNvPr>
          <p:cNvPicPr>
            <a:picLocks noChangeAspect="1"/>
          </p:cNvPicPr>
          <p:nvPr/>
        </p:nvPicPr>
        <p:blipFill>
          <a:blip r:embed="rId1"/>
          <a:stretch>
            <a:fillRect/>
          </a:stretch>
        </p:blipFill>
        <p:spPr>
          <a:xfrm>
            <a:off x="952476" y="1993850"/>
            <a:ext cx="5206870" cy="3555911"/>
          </a:xfrm>
          <a:prstGeom prst="rect">
            <a:avLst/>
          </a:prstGeom>
        </p:spPr>
      </p:pic>
      <p:sp>
        <p:nvSpPr>
          <p:cNvPr id="5" name="Shape 2"/>
          <p:cNvSpPr/>
          <p:nvPr/>
        </p:nvSpPr>
        <p:spPr>
          <a:xfrm>
            <a:off x="3200320" y="1993850"/>
            <a:ext cx="584185" cy="584185"/>
          </a:xfrm>
          <a:prstGeom prst="roundRect">
            <a:avLst>
              <a:gd name="adj" fmla="val 50000"/>
            </a:avLst>
          </a:prstGeom>
          <a:solidFill>
            <a:srgbClr val="06183A"/>
          </a:solidFill>
          <a:ln/>
        </p:spPr>
      </p:sp>
      <p:sp>
        <p:nvSpPr>
          <p:cNvPr id="6" name="Text 3"/>
          <p:cNvSpPr/>
          <p:nvPr/>
        </p:nvSpPr>
        <p:spPr>
          <a:xfrm>
            <a:off x="3331412" y="2164026"/>
            <a:ext cx="322000" cy="243834"/>
          </a:xfrm>
          <a:prstGeom prst="rect">
            <a:avLst/>
          </a:prstGeom>
          <a:noFill/>
          <a:ln/>
        </p:spPr>
        <p:txBody>
          <a:bodyPr wrap="none" lIns="0" tIns="0" rIns="0" bIns="0" rtlCol="0" anchor="t"/>
          <a:lstStyle/>
          <a:p>
            <a:pPr algn="ctr"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01</a:t>
            </a:r>
            <a:endParaRPr lang="en-US" sz="1600" dirty="0"/>
          </a:p>
        </p:txBody>
      </p:sp>
      <p:sp>
        <p:nvSpPr>
          <p:cNvPr id="7" name="Text 4"/>
          <p:cNvSpPr/>
          <p:nvPr/>
        </p:nvSpPr>
        <p:spPr>
          <a:xfrm>
            <a:off x="3180514" y="2668203"/>
            <a:ext cx="623697" cy="368291"/>
          </a:xfrm>
          <a:prstGeom prst="rect">
            <a:avLst/>
          </a:prstGeom>
          <a:noFill/>
          <a:ln/>
        </p:spPr>
        <p:txBody>
          <a:bodyPr wrap="none" lIns="0" tIns="0" rIns="0" bIns="0" rtlCol="0" anchor="t"/>
          <a:lstStyle/>
          <a:p>
            <a:pPr algn="ctr" indent="0" marL="0">
              <a:lnSpc>
                <a:spcPts val="2280"/>
              </a:lnSpc>
              <a:buNone/>
            </a:pPr>
            <a:r>
              <a:rPr lang="en-US" sz="1900" dirty="0">
                <a:solidFill>
                  <a:srgbClr val="FFFFFF"/>
                </a:solidFill>
                <a:latin typeface="Anton" pitchFamily="34" charset="0"/>
                <a:ea typeface="Anton" pitchFamily="34" charset="-122"/>
                <a:cs typeface="Anton" pitchFamily="34" charset="-120"/>
              </a:rPr>
              <a:t>META</a:t>
            </a:r>
            <a:endParaRPr lang="en-US" sz="1900" dirty="0"/>
          </a:p>
        </p:txBody>
      </p:sp>
      <p:sp>
        <p:nvSpPr>
          <p:cNvPr id="8" name="Text 5"/>
          <p:cNvSpPr/>
          <p:nvPr/>
        </p:nvSpPr>
        <p:spPr>
          <a:xfrm>
            <a:off x="2768356" y="3049194"/>
            <a:ext cx="1448113" cy="177796"/>
          </a:xfrm>
          <a:prstGeom prst="rect">
            <a:avLst/>
          </a:prstGeom>
          <a:noFill/>
          <a:ln/>
        </p:spPr>
        <p:txBody>
          <a:bodyPr wrap="none" lIns="0" tIns="0" rIns="0" bIns="0" rtlCol="0" anchor="t"/>
          <a:lstStyle/>
          <a:p>
            <a:pPr algn="ctr" indent="0" marL="0">
              <a:lnSpc>
                <a:spcPts val="1380"/>
              </a:lnSpc>
              <a:buNone/>
            </a:pPr>
            <a:r>
              <a:rPr lang="en-US" sz="1150" dirty="0">
                <a:solidFill>
                  <a:srgbClr val="C9D6EA"/>
                </a:solidFill>
                <a:latin typeface="Arial" pitchFamily="34" charset="0"/>
                <a:ea typeface="Arial" pitchFamily="34" charset="-122"/>
                <a:cs typeface="Arial" pitchFamily="34" charset="-120"/>
              </a:rPr>
              <a:t>Qué es terminado</a:t>
            </a:r>
            <a:endParaRPr lang="en-US" sz="1150" dirty="0"/>
          </a:p>
        </p:txBody>
      </p:sp>
      <p:sp>
        <p:nvSpPr>
          <p:cNvPr id="9" name="Shape 6"/>
          <p:cNvSpPr/>
          <p:nvPr/>
        </p:nvSpPr>
        <p:spPr>
          <a:xfrm>
            <a:off x="4914777" y="3200320"/>
            <a:ext cx="584185" cy="584185"/>
          </a:xfrm>
          <a:prstGeom prst="roundRect">
            <a:avLst>
              <a:gd name="adj" fmla="val 50000"/>
            </a:avLst>
          </a:prstGeom>
          <a:solidFill>
            <a:srgbClr val="06183A"/>
          </a:solidFill>
          <a:ln/>
        </p:spPr>
      </p:sp>
      <p:sp>
        <p:nvSpPr>
          <p:cNvPr id="10" name="Text 7"/>
          <p:cNvSpPr/>
          <p:nvPr/>
        </p:nvSpPr>
        <p:spPr>
          <a:xfrm>
            <a:off x="5045870" y="3370496"/>
            <a:ext cx="322000" cy="243834"/>
          </a:xfrm>
          <a:prstGeom prst="rect">
            <a:avLst/>
          </a:prstGeom>
          <a:noFill/>
          <a:ln/>
        </p:spPr>
        <p:txBody>
          <a:bodyPr wrap="none" lIns="0" tIns="0" rIns="0" bIns="0" rtlCol="0" anchor="t"/>
          <a:lstStyle/>
          <a:p>
            <a:pPr algn="ctr"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02</a:t>
            </a:r>
            <a:endParaRPr lang="en-US" sz="1600" dirty="0"/>
          </a:p>
        </p:txBody>
      </p:sp>
      <p:sp>
        <p:nvSpPr>
          <p:cNvPr id="11" name="Text 8"/>
          <p:cNvSpPr/>
          <p:nvPr/>
        </p:nvSpPr>
        <p:spPr>
          <a:xfrm>
            <a:off x="4811402" y="3874673"/>
            <a:ext cx="790936" cy="368291"/>
          </a:xfrm>
          <a:prstGeom prst="rect">
            <a:avLst/>
          </a:prstGeom>
          <a:noFill/>
          <a:ln/>
        </p:spPr>
        <p:txBody>
          <a:bodyPr wrap="none" lIns="0" tIns="0" rIns="0" bIns="0" rtlCol="0" anchor="t"/>
          <a:lstStyle/>
          <a:p>
            <a:pPr algn="ctr" indent="0" marL="0">
              <a:lnSpc>
                <a:spcPts val="2280"/>
              </a:lnSpc>
              <a:buNone/>
            </a:pPr>
            <a:r>
              <a:rPr lang="en-US" sz="1900" dirty="0">
                <a:solidFill>
                  <a:srgbClr val="FFFFFF"/>
                </a:solidFill>
                <a:latin typeface="Anton" pitchFamily="34" charset="0"/>
                <a:ea typeface="Anton" pitchFamily="34" charset="-122"/>
                <a:cs typeface="Anton" pitchFamily="34" charset="-120"/>
              </a:rPr>
              <a:t>ACCIÓN</a:t>
            </a:r>
            <a:endParaRPr lang="en-US" sz="1900" dirty="0"/>
          </a:p>
        </p:txBody>
      </p:sp>
      <p:sp>
        <p:nvSpPr>
          <p:cNvPr id="12" name="Text 9"/>
          <p:cNvSpPr/>
          <p:nvPr/>
        </p:nvSpPr>
        <p:spPr>
          <a:xfrm>
            <a:off x="4487258" y="4255664"/>
            <a:ext cx="1439223" cy="177796"/>
          </a:xfrm>
          <a:prstGeom prst="rect">
            <a:avLst/>
          </a:prstGeom>
          <a:noFill/>
          <a:ln/>
        </p:spPr>
        <p:txBody>
          <a:bodyPr wrap="none" lIns="0" tIns="0" rIns="0" bIns="0" rtlCol="0" anchor="t"/>
          <a:lstStyle/>
          <a:p>
            <a:pPr algn="ctr" indent="0" marL="0">
              <a:lnSpc>
                <a:spcPts val="1380"/>
              </a:lnSpc>
              <a:buNone/>
            </a:pPr>
            <a:r>
              <a:rPr lang="en-US" sz="1150" dirty="0">
                <a:solidFill>
                  <a:srgbClr val="C9D6EA"/>
                </a:solidFill>
                <a:latin typeface="Arial" pitchFamily="34" charset="0"/>
                <a:ea typeface="Arial" pitchFamily="34" charset="-122"/>
                <a:cs typeface="Arial" pitchFamily="34" charset="-120"/>
              </a:rPr>
              <a:t>Usa herramientas</a:t>
            </a:r>
            <a:endParaRPr lang="en-US" sz="1150" dirty="0"/>
          </a:p>
        </p:txBody>
      </p:sp>
      <p:sp>
        <p:nvSpPr>
          <p:cNvPr id="13" name="Shape 10"/>
          <p:cNvSpPr/>
          <p:nvPr/>
        </p:nvSpPr>
        <p:spPr>
          <a:xfrm>
            <a:off x="3200320" y="4406790"/>
            <a:ext cx="584185" cy="584185"/>
          </a:xfrm>
          <a:prstGeom prst="roundRect">
            <a:avLst>
              <a:gd name="adj" fmla="val 50000"/>
            </a:avLst>
          </a:prstGeom>
          <a:solidFill>
            <a:srgbClr val="06183A"/>
          </a:solidFill>
          <a:ln/>
        </p:spPr>
      </p:sp>
      <p:sp>
        <p:nvSpPr>
          <p:cNvPr id="14" name="Text 11"/>
          <p:cNvSpPr/>
          <p:nvPr/>
        </p:nvSpPr>
        <p:spPr>
          <a:xfrm>
            <a:off x="3331412" y="4576966"/>
            <a:ext cx="322000" cy="243834"/>
          </a:xfrm>
          <a:prstGeom prst="rect">
            <a:avLst/>
          </a:prstGeom>
          <a:noFill/>
          <a:ln/>
        </p:spPr>
        <p:txBody>
          <a:bodyPr wrap="none" lIns="0" tIns="0" rIns="0" bIns="0" rtlCol="0" anchor="t"/>
          <a:lstStyle/>
          <a:p>
            <a:pPr algn="ctr"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03</a:t>
            </a:r>
            <a:endParaRPr lang="en-US" sz="1600" dirty="0"/>
          </a:p>
        </p:txBody>
      </p:sp>
      <p:sp>
        <p:nvSpPr>
          <p:cNvPr id="15" name="Text 12"/>
          <p:cNvSpPr/>
          <p:nvPr/>
        </p:nvSpPr>
        <p:spPr>
          <a:xfrm>
            <a:off x="2787586" y="5081143"/>
            <a:ext cx="1409554" cy="368291"/>
          </a:xfrm>
          <a:prstGeom prst="rect">
            <a:avLst/>
          </a:prstGeom>
          <a:noFill/>
          <a:ln/>
        </p:spPr>
        <p:txBody>
          <a:bodyPr wrap="none" lIns="0" tIns="0" rIns="0" bIns="0" rtlCol="0" anchor="t"/>
          <a:lstStyle/>
          <a:p>
            <a:pPr algn="ctr" indent="0" marL="0">
              <a:lnSpc>
                <a:spcPts val="2280"/>
              </a:lnSpc>
              <a:buNone/>
            </a:pPr>
            <a:r>
              <a:rPr lang="en-US" sz="1900" dirty="0">
                <a:solidFill>
                  <a:srgbClr val="FFFFFF"/>
                </a:solidFill>
                <a:latin typeface="Anton" pitchFamily="34" charset="0"/>
                <a:ea typeface="Anton" pitchFamily="34" charset="-122"/>
                <a:cs typeface="Anton" pitchFamily="34" charset="-120"/>
              </a:rPr>
              <a:t>OBSERVACIÓN</a:t>
            </a:r>
            <a:endParaRPr lang="en-US" sz="1900" dirty="0"/>
          </a:p>
        </p:txBody>
      </p:sp>
      <p:sp>
        <p:nvSpPr>
          <p:cNvPr id="16" name="Text 13"/>
          <p:cNvSpPr/>
          <p:nvPr/>
        </p:nvSpPr>
        <p:spPr>
          <a:xfrm>
            <a:off x="2884596" y="5462133"/>
            <a:ext cx="1215534" cy="177796"/>
          </a:xfrm>
          <a:prstGeom prst="rect">
            <a:avLst/>
          </a:prstGeom>
          <a:noFill/>
          <a:ln/>
        </p:spPr>
        <p:txBody>
          <a:bodyPr wrap="none" lIns="0" tIns="0" rIns="0" bIns="0" rtlCol="0" anchor="t"/>
          <a:lstStyle/>
          <a:p>
            <a:pPr algn="ctr" indent="0" marL="0">
              <a:lnSpc>
                <a:spcPts val="1380"/>
              </a:lnSpc>
              <a:buNone/>
            </a:pPr>
            <a:r>
              <a:rPr lang="en-US" sz="1150" dirty="0">
                <a:solidFill>
                  <a:srgbClr val="C9D6EA"/>
                </a:solidFill>
                <a:latin typeface="Arial" pitchFamily="34" charset="0"/>
                <a:ea typeface="Arial" pitchFamily="34" charset="-122"/>
                <a:cs typeface="Arial" pitchFamily="34" charset="-120"/>
              </a:rPr>
              <a:t>Lee resultados</a:t>
            </a:r>
            <a:endParaRPr lang="en-US" sz="1150" dirty="0"/>
          </a:p>
        </p:txBody>
      </p:sp>
      <p:sp>
        <p:nvSpPr>
          <p:cNvPr id="17" name="Shape 14"/>
          <p:cNvSpPr/>
          <p:nvPr/>
        </p:nvSpPr>
        <p:spPr>
          <a:xfrm>
            <a:off x="1485863" y="3200320"/>
            <a:ext cx="584185" cy="584185"/>
          </a:xfrm>
          <a:prstGeom prst="roundRect">
            <a:avLst>
              <a:gd name="adj" fmla="val 50000"/>
            </a:avLst>
          </a:prstGeom>
          <a:solidFill>
            <a:srgbClr val="06183A"/>
          </a:solidFill>
          <a:ln/>
        </p:spPr>
      </p:sp>
      <p:sp>
        <p:nvSpPr>
          <p:cNvPr id="18" name="Text 15"/>
          <p:cNvSpPr/>
          <p:nvPr/>
        </p:nvSpPr>
        <p:spPr>
          <a:xfrm>
            <a:off x="1616955" y="3370496"/>
            <a:ext cx="322000" cy="243834"/>
          </a:xfrm>
          <a:prstGeom prst="rect">
            <a:avLst/>
          </a:prstGeom>
          <a:noFill/>
          <a:ln/>
        </p:spPr>
        <p:txBody>
          <a:bodyPr wrap="none" lIns="0" tIns="0" rIns="0" bIns="0" rtlCol="0" anchor="t"/>
          <a:lstStyle/>
          <a:p>
            <a:pPr algn="ctr"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04</a:t>
            </a:r>
            <a:endParaRPr lang="en-US" sz="1600" dirty="0"/>
          </a:p>
        </p:txBody>
      </p:sp>
      <p:sp>
        <p:nvSpPr>
          <p:cNvPr id="19" name="Text 16"/>
          <p:cNvSpPr/>
          <p:nvPr/>
        </p:nvSpPr>
        <p:spPr>
          <a:xfrm>
            <a:off x="1296923" y="3874673"/>
            <a:ext cx="962064" cy="368291"/>
          </a:xfrm>
          <a:prstGeom prst="rect">
            <a:avLst/>
          </a:prstGeom>
          <a:noFill/>
          <a:ln/>
        </p:spPr>
        <p:txBody>
          <a:bodyPr wrap="none" lIns="0" tIns="0" rIns="0" bIns="0" rtlCol="0" anchor="t"/>
          <a:lstStyle/>
          <a:p>
            <a:pPr algn="ctr" indent="0" marL="0">
              <a:lnSpc>
                <a:spcPts val="2280"/>
              </a:lnSpc>
              <a:buNone/>
            </a:pPr>
            <a:r>
              <a:rPr lang="en-US" sz="1900" dirty="0">
                <a:solidFill>
                  <a:srgbClr val="FFFFFF"/>
                </a:solidFill>
                <a:latin typeface="Anton" pitchFamily="34" charset="0"/>
                <a:ea typeface="Anton" pitchFamily="34" charset="-122"/>
                <a:cs typeface="Anton" pitchFamily="34" charset="-120"/>
              </a:rPr>
              <a:t>DECISIÓN</a:t>
            </a:r>
            <a:endParaRPr lang="en-US" sz="1900" dirty="0"/>
          </a:p>
        </p:txBody>
      </p:sp>
      <p:sp>
        <p:nvSpPr>
          <p:cNvPr id="20" name="Text 17"/>
          <p:cNvSpPr/>
          <p:nvPr/>
        </p:nvSpPr>
        <p:spPr>
          <a:xfrm>
            <a:off x="1089792" y="4255664"/>
            <a:ext cx="1376328" cy="177796"/>
          </a:xfrm>
          <a:prstGeom prst="rect">
            <a:avLst/>
          </a:prstGeom>
          <a:noFill/>
          <a:ln/>
        </p:spPr>
        <p:txBody>
          <a:bodyPr wrap="none" lIns="0" tIns="0" rIns="0" bIns="0" rtlCol="0" anchor="t"/>
          <a:lstStyle/>
          <a:p>
            <a:pPr algn="ctr" indent="0" marL="0">
              <a:lnSpc>
                <a:spcPts val="1380"/>
              </a:lnSpc>
              <a:buNone/>
            </a:pPr>
            <a:r>
              <a:rPr lang="en-US" sz="1150" dirty="0">
                <a:solidFill>
                  <a:srgbClr val="C9D6EA"/>
                </a:solidFill>
                <a:latin typeface="Arial" pitchFamily="34" charset="0"/>
                <a:ea typeface="Arial" pitchFamily="34" charset="-122"/>
                <a:cs typeface="Arial" pitchFamily="34" charset="-120"/>
              </a:rPr>
              <a:t>Seguir o corregir</a:t>
            </a:r>
            <a:endParaRPr lang="en-US" sz="1150" dirty="0"/>
          </a:p>
        </p:txBody>
      </p:sp>
      <p:sp>
        <p:nvSpPr>
          <p:cNvPr id="21" name="Shape 18"/>
          <p:cNvSpPr/>
          <p:nvPr/>
        </p:nvSpPr>
        <p:spPr>
          <a:xfrm>
            <a:off x="6540336" y="2758014"/>
            <a:ext cx="4698883" cy="1367101"/>
          </a:xfrm>
          <a:prstGeom prst="rect">
            <a:avLst/>
          </a:prstGeom>
          <a:solidFill>
            <a:srgbClr val="0A285A">
              <a:alpha val="72000"/>
            </a:srgbClr>
          </a:solidFill>
          <a:ln w="12700">
            <a:solidFill>
              <a:srgbClr val="FF4B3A">
                <a:alpha val="55000"/>
              </a:srgbClr>
            </a:solidFill>
            <a:prstDash val="solid"/>
          </a:ln>
        </p:spPr>
      </p:sp>
      <p:sp>
        <p:nvSpPr>
          <p:cNvPr id="22" name="Text 19"/>
          <p:cNvSpPr/>
          <p:nvPr/>
        </p:nvSpPr>
        <p:spPr>
          <a:xfrm>
            <a:off x="6832429" y="3017087"/>
            <a:ext cx="1349881"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FF4B3A"/>
                </a:solidFill>
                <a:latin typeface="Share Tech Mono" pitchFamily="34" charset="0"/>
                <a:ea typeface="Share Tech Mono" pitchFamily="34" charset="-122"/>
                <a:cs typeface="Share Tech Mono" pitchFamily="34" charset="-120"/>
              </a:rPr>
              <a:t>05 · PARADA</a:t>
            </a:r>
            <a:endParaRPr lang="en-US" sz="1100" dirty="0"/>
          </a:p>
        </p:txBody>
      </p:sp>
      <p:sp>
        <p:nvSpPr>
          <p:cNvPr id="23" name="Text 20"/>
          <p:cNvSpPr/>
          <p:nvPr/>
        </p:nvSpPr>
        <p:spPr>
          <a:xfrm>
            <a:off x="6832429" y="3234506"/>
            <a:ext cx="1661134" cy="438139"/>
          </a:xfrm>
          <a:prstGeom prst="rect">
            <a:avLst/>
          </a:prstGeom>
          <a:noFill/>
          <a:ln/>
        </p:spPr>
        <p:txBody>
          <a:bodyPr wrap="none" lIns="0" tIns="0" rIns="0" bIns="0" rtlCol="0" anchor="t"/>
          <a:lstStyle/>
          <a:p>
            <a:pPr algn="l" indent="0" marL="0">
              <a:lnSpc>
                <a:spcPts val="2350"/>
              </a:lnSpc>
              <a:buNone/>
            </a:pPr>
            <a:r>
              <a:rPr lang="en-US" sz="2300" spc="20" kern="0" dirty="0">
                <a:solidFill>
                  <a:srgbClr val="FFFFFF"/>
                </a:solidFill>
                <a:latin typeface="Anton" pitchFamily="34" charset="0"/>
                <a:ea typeface="Anton" pitchFamily="34" charset="-122"/>
                <a:cs typeface="Anton" pitchFamily="34" charset="-120"/>
              </a:rPr>
              <a:t>ÉXITO O TOPE</a:t>
            </a:r>
            <a:endParaRPr lang="en-US" sz="2300" dirty="0"/>
          </a:p>
        </p:txBody>
      </p:sp>
      <p:sp>
        <p:nvSpPr>
          <p:cNvPr id="24" name="Text 21"/>
          <p:cNvSpPr/>
          <p:nvPr/>
        </p:nvSpPr>
        <p:spPr>
          <a:xfrm>
            <a:off x="6832429" y="3622902"/>
            <a:ext cx="3390641" cy="231134"/>
          </a:xfrm>
          <a:prstGeom prst="rect">
            <a:avLst/>
          </a:prstGeom>
          <a:noFill/>
          <a:ln/>
        </p:spPr>
        <p:txBody>
          <a:bodyPr wrap="non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La verifica una máquina, no el modelo</a:t>
            </a:r>
            <a:endParaRPr lang="en-US" sz="1300" dirty="0"/>
          </a:p>
        </p:txBody>
      </p:sp>
      <p:sp>
        <p:nvSpPr>
          <p:cNvPr id="25" name="Text 22"/>
          <p:cNvSpPr/>
          <p:nvPr/>
        </p:nvSpPr>
        <p:spPr>
          <a:xfrm>
            <a:off x="6540336" y="4379108"/>
            <a:ext cx="4839849" cy="533387"/>
          </a:xfrm>
          <a:prstGeom prst="rect">
            <a:avLst/>
          </a:prstGeom>
          <a:noFill/>
          <a:ln/>
        </p:spPr>
        <p:txBody>
          <a:bodyPr wrap="square" lIns="0" tIns="0" rIns="0" bIns="0" rtlCol="0" anchor="t"/>
          <a:lstStyle/>
          <a:p>
            <a:pPr algn="l" indent="0" marL="0">
              <a:lnSpc>
                <a:spcPts val="2100"/>
              </a:lnSpc>
              <a:buNone/>
            </a:pPr>
            <a:r>
              <a:rPr lang="en-US" sz="1500" b="1" spc="60" kern="0" dirty="0">
                <a:solidFill>
                  <a:srgbClr val="1FD3F5"/>
                </a:solidFill>
                <a:latin typeface="Share Tech Mono" pitchFamily="34" charset="0"/>
                <a:ea typeface="Share Tech Mono" pitchFamily="34" charset="-122"/>
                <a:cs typeface="Share Tech Mono" pitchFamily="34" charset="-120"/>
              </a:rPr>
              <a:t>Como un termostato: fijas la meta, él mide y corrige</a:t>
            </a:r>
            <a:endParaRPr lang="en-US" sz="1500" dirty="0"/>
          </a:p>
        </p:txBody>
      </p:sp>
      <p:sp>
        <p:nvSpPr>
          <p:cNvPr id="26" name="Text 23"/>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7" name="Text 24"/>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1174721" y="784840"/>
            <a:ext cx="3158840"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04 · LOOP ENGINEERING</a:t>
            </a:r>
            <a:endParaRPr lang="en-US" sz="1200" dirty="0"/>
          </a:p>
        </p:txBody>
      </p:sp>
      <p:sp>
        <p:nvSpPr>
          <p:cNvPr id="3" name="Text 1"/>
          <p:cNvSpPr/>
          <p:nvPr/>
        </p:nvSpPr>
        <p:spPr>
          <a:xfrm>
            <a:off x="952476" y="1231869"/>
            <a:ext cx="8789514"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CUATRO LOOPS QUE YA PUEDES USAR</a:t>
            </a:r>
            <a:endParaRPr lang="en-US" sz="4600" dirty="0"/>
          </a:p>
        </p:txBody>
      </p:sp>
      <p:sp>
        <p:nvSpPr>
          <p:cNvPr id="4" name="Shape 2"/>
          <p:cNvSpPr/>
          <p:nvPr/>
        </p:nvSpPr>
        <p:spPr>
          <a:xfrm>
            <a:off x="952476" y="2374841"/>
            <a:ext cx="2912494" cy="12700"/>
          </a:xfrm>
          <a:prstGeom prst="rect">
            <a:avLst/>
          </a:prstGeom>
          <a:solidFill>
            <a:srgbClr val="1ED2F5">
              <a:alpha val="40000"/>
            </a:srgbClr>
          </a:solidFill>
          <a:ln/>
        </p:spPr>
      </p:sp>
      <p:sp>
        <p:nvSpPr>
          <p:cNvPr id="5" name="Text 3"/>
          <p:cNvSpPr/>
          <p:nvPr/>
        </p:nvSpPr>
        <p:spPr>
          <a:xfrm>
            <a:off x="952476" y="2117672"/>
            <a:ext cx="429011" cy="152396"/>
          </a:xfrm>
          <a:prstGeom prst="rect">
            <a:avLst/>
          </a:prstGeom>
          <a:noFill/>
          <a:ln/>
        </p:spPr>
        <p:txBody>
          <a:bodyPr wrap="none" lIns="0" tIns="0" rIns="0" bIns="0" rtlCol="0" anchor="t"/>
          <a:lstStyle/>
          <a:p>
            <a:pPr algn="l" indent="0" marL="0">
              <a:lnSpc>
                <a:spcPts val="1200"/>
              </a:lnSpc>
              <a:buNone/>
            </a:pPr>
            <a:r>
              <a:rPr lang="en-US" sz="1000" b="1" spc="80" kern="0" dirty="0">
                <a:solidFill>
                  <a:srgbClr val="93A4C2"/>
                </a:solidFill>
                <a:latin typeface="Share Tech Mono" pitchFamily="34" charset="0"/>
                <a:ea typeface="Share Tech Mono" pitchFamily="34" charset="-122"/>
                <a:cs typeface="Share Tech Mono" pitchFamily="34" charset="-120"/>
              </a:rPr>
              <a:t>LOOP</a:t>
            </a:r>
            <a:endParaRPr lang="en-US" sz="1000" dirty="0"/>
          </a:p>
        </p:txBody>
      </p:sp>
      <p:sp>
        <p:nvSpPr>
          <p:cNvPr id="6" name="Shape 4"/>
          <p:cNvSpPr/>
          <p:nvPr/>
        </p:nvSpPr>
        <p:spPr>
          <a:xfrm>
            <a:off x="3864970" y="2374841"/>
            <a:ext cx="3908526" cy="12700"/>
          </a:xfrm>
          <a:prstGeom prst="rect">
            <a:avLst/>
          </a:prstGeom>
          <a:solidFill>
            <a:srgbClr val="1ED2F5">
              <a:alpha val="40000"/>
            </a:srgbClr>
          </a:solidFill>
          <a:ln/>
        </p:spPr>
      </p:sp>
      <p:sp>
        <p:nvSpPr>
          <p:cNvPr id="7" name="Text 5"/>
          <p:cNvSpPr/>
          <p:nvPr/>
        </p:nvSpPr>
        <p:spPr>
          <a:xfrm>
            <a:off x="3864970" y="2117672"/>
            <a:ext cx="429011" cy="152396"/>
          </a:xfrm>
          <a:prstGeom prst="rect">
            <a:avLst/>
          </a:prstGeom>
          <a:noFill/>
          <a:ln/>
        </p:spPr>
        <p:txBody>
          <a:bodyPr wrap="none" lIns="0" tIns="0" rIns="0" bIns="0" rtlCol="0" anchor="t"/>
          <a:lstStyle/>
          <a:p>
            <a:pPr algn="l" indent="0" marL="0">
              <a:lnSpc>
                <a:spcPts val="1200"/>
              </a:lnSpc>
              <a:buNone/>
            </a:pPr>
            <a:r>
              <a:rPr lang="en-US" sz="1000" b="1" spc="80" kern="0" dirty="0">
                <a:solidFill>
                  <a:srgbClr val="93A4C2"/>
                </a:solidFill>
                <a:latin typeface="Share Tech Mono" pitchFamily="34" charset="0"/>
                <a:ea typeface="Share Tech Mono" pitchFamily="34" charset="-122"/>
                <a:cs typeface="Share Tech Mono" pitchFamily="34" charset="-120"/>
              </a:rPr>
              <a:t>IDEA</a:t>
            </a:r>
            <a:endParaRPr lang="en-US" sz="1000" dirty="0"/>
          </a:p>
        </p:txBody>
      </p:sp>
      <p:sp>
        <p:nvSpPr>
          <p:cNvPr id="8" name="Shape 6"/>
          <p:cNvSpPr/>
          <p:nvPr/>
        </p:nvSpPr>
        <p:spPr>
          <a:xfrm>
            <a:off x="7773496" y="2374841"/>
            <a:ext cx="3465724" cy="12700"/>
          </a:xfrm>
          <a:prstGeom prst="rect">
            <a:avLst/>
          </a:prstGeom>
          <a:solidFill>
            <a:srgbClr val="1ED2F5">
              <a:alpha val="40000"/>
            </a:srgbClr>
          </a:solidFill>
          <a:ln/>
        </p:spPr>
      </p:sp>
      <p:sp>
        <p:nvSpPr>
          <p:cNvPr id="9" name="Text 7"/>
          <p:cNvSpPr/>
          <p:nvPr/>
        </p:nvSpPr>
        <p:spPr>
          <a:xfrm>
            <a:off x="7773496" y="2117672"/>
            <a:ext cx="693593" cy="152396"/>
          </a:xfrm>
          <a:prstGeom prst="rect">
            <a:avLst/>
          </a:prstGeom>
          <a:noFill/>
          <a:ln/>
        </p:spPr>
        <p:txBody>
          <a:bodyPr wrap="none" lIns="0" tIns="0" rIns="0" bIns="0" rtlCol="0" anchor="t"/>
          <a:lstStyle/>
          <a:p>
            <a:pPr algn="l" indent="0" marL="0">
              <a:lnSpc>
                <a:spcPts val="1200"/>
              </a:lnSpc>
              <a:buNone/>
            </a:pPr>
            <a:r>
              <a:rPr lang="en-US" sz="1000" b="1" spc="80" kern="0" dirty="0">
                <a:solidFill>
                  <a:srgbClr val="93A4C2"/>
                </a:solidFill>
                <a:latin typeface="Share Tech Mono" pitchFamily="34" charset="0"/>
                <a:ea typeface="Share Tech Mono" pitchFamily="34" charset="-122"/>
                <a:cs typeface="Share Tech Mono" pitchFamily="34" charset="-120"/>
              </a:rPr>
              <a:t>EJEMPLO</a:t>
            </a:r>
            <a:endParaRPr lang="en-US" sz="1000" dirty="0"/>
          </a:p>
        </p:txBody>
      </p:sp>
      <p:sp>
        <p:nvSpPr>
          <p:cNvPr id="10" name="Shape 8"/>
          <p:cNvSpPr/>
          <p:nvPr/>
        </p:nvSpPr>
        <p:spPr>
          <a:xfrm>
            <a:off x="952476" y="2387540"/>
            <a:ext cx="2912494" cy="523862"/>
          </a:xfrm>
          <a:prstGeom prst="rect">
            <a:avLst/>
          </a:prstGeom>
          <a:solidFill>
            <a:srgbClr val="071A3A"/>
          </a:solidFill>
          <a:ln/>
        </p:spPr>
      </p:sp>
      <p:sp>
        <p:nvSpPr>
          <p:cNvPr id="11" name="Shape 9"/>
          <p:cNvSpPr/>
          <p:nvPr/>
        </p:nvSpPr>
        <p:spPr>
          <a:xfrm>
            <a:off x="952476" y="2905052"/>
            <a:ext cx="2912494" cy="6350"/>
          </a:xfrm>
          <a:prstGeom prst="rect">
            <a:avLst/>
          </a:prstGeom>
          <a:solidFill>
            <a:srgbClr val="20D1F6">
              <a:alpha val="22000"/>
            </a:srgbClr>
          </a:solidFill>
          <a:ln/>
        </p:spPr>
      </p:sp>
      <p:sp>
        <p:nvSpPr>
          <p:cNvPr id="12" name="Text 10"/>
          <p:cNvSpPr/>
          <p:nvPr/>
        </p:nvSpPr>
        <p:spPr>
          <a:xfrm>
            <a:off x="952476" y="2539937"/>
            <a:ext cx="652256" cy="228594"/>
          </a:xfrm>
          <a:prstGeom prst="rect">
            <a:avLst/>
          </a:prstGeom>
          <a:noFill/>
          <a:ln/>
        </p:spPr>
        <p:txBody>
          <a:bodyPr wrap="none" lIns="0" tIns="0" rIns="0" bIns="0" rtlCol="0" anchor="t"/>
          <a:lstStyle/>
          <a:p>
            <a:pPr algn="l" indent="0" marL="0">
              <a:lnSpc>
                <a:spcPts val="1800"/>
              </a:lnSpc>
              <a:buNone/>
            </a:pPr>
            <a:r>
              <a:rPr lang="en-US" sz="1500" b="1" dirty="0">
                <a:solidFill>
                  <a:srgbClr val="FFFFFF"/>
                </a:solidFill>
                <a:latin typeface="Share Tech Mono" pitchFamily="34" charset="0"/>
                <a:ea typeface="Share Tech Mono" pitchFamily="34" charset="-122"/>
                <a:cs typeface="Share Tech Mono" pitchFamily="34" charset="-120"/>
              </a:rPr>
              <a:t>/goal</a:t>
            </a:r>
            <a:endParaRPr lang="en-US" sz="1500" dirty="0"/>
          </a:p>
        </p:txBody>
      </p:sp>
      <p:sp>
        <p:nvSpPr>
          <p:cNvPr id="13" name="Shape 11"/>
          <p:cNvSpPr/>
          <p:nvPr/>
        </p:nvSpPr>
        <p:spPr>
          <a:xfrm>
            <a:off x="3864970" y="2387540"/>
            <a:ext cx="3908526" cy="523862"/>
          </a:xfrm>
          <a:prstGeom prst="rect">
            <a:avLst/>
          </a:prstGeom>
          <a:solidFill>
            <a:srgbClr val="071A3A"/>
          </a:solidFill>
          <a:ln/>
        </p:spPr>
      </p:sp>
      <p:sp>
        <p:nvSpPr>
          <p:cNvPr id="14" name="Shape 12"/>
          <p:cNvSpPr/>
          <p:nvPr/>
        </p:nvSpPr>
        <p:spPr>
          <a:xfrm>
            <a:off x="3864970" y="2905052"/>
            <a:ext cx="3908526" cy="6350"/>
          </a:xfrm>
          <a:prstGeom prst="rect">
            <a:avLst/>
          </a:prstGeom>
          <a:solidFill>
            <a:srgbClr val="20D1F6">
              <a:alpha val="22000"/>
            </a:srgbClr>
          </a:solidFill>
          <a:ln/>
        </p:spPr>
      </p:sp>
      <p:sp>
        <p:nvSpPr>
          <p:cNvPr id="15" name="Text 13"/>
          <p:cNvSpPr/>
          <p:nvPr/>
        </p:nvSpPr>
        <p:spPr>
          <a:xfrm>
            <a:off x="3864970" y="2536762"/>
            <a:ext cx="3515986" cy="228594"/>
          </a:xfrm>
          <a:prstGeom prst="rect">
            <a:avLst/>
          </a:prstGeom>
          <a:noFill/>
          <a:ln/>
        </p:spPr>
        <p:txBody>
          <a:bodyPr wrap="none" lIns="0" tIns="0" rIns="0" bIns="0" rtlCol="0" anchor="t"/>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Itera hasta cumplir una condición</a:t>
            </a:r>
            <a:endParaRPr lang="en-US" sz="1500" dirty="0"/>
          </a:p>
        </p:txBody>
      </p:sp>
      <p:sp>
        <p:nvSpPr>
          <p:cNvPr id="16" name="Shape 14"/>
          <p:cNvSpPr/>
          <p:nvPr/>
        </p:nvSpPr>
        <p:spPr>
          <a:xfrm>
            <a:off x="7773496" y="2387540"/>
            <a:ext cx="3465724" cy="523862"/>
          </a:xfrm>
          <a:prstGeom prst="rect">
            <a:avLst/>
          </a:prstGeom>
          <a:solidFill>
            <a:srgbClr val="071A3A"/>
          </a:solidFill>
          <a:ln/>
        </p:spPr>
      </p:sp>
      <p:sp>
        <p:nvSpPr>
          <p:cNvPr id="17" name="Shape 15"/>
          <p:cNvSpPr/>
          <p:nvPr/>
        </p:nvSpPr>
        <p:spPr>
          <a:xfrm>
            <a:off x="7773496" y="2905052"/>
            <a:ext cx="3465724" cy="6350"/>
          </a:xfrm>
          <a:prstGeom prst="rect">
            <a:avLst/>
          </a:prstGeom>
          <a:solidFill>
            <a:srgbClr val="20D1F6">
              <a:alpha val="22000"/>
            </a:srgbClr>
          </a:solidFill>
          <a:ln/>
        </p:spPr>
      </p:sp>
      <p:sp>
        <p:nvSpPr>
          <p:cNvPr id="18" name="Text 16"/>
          <p:cNvSpPr/>
          <p:nvPr/>
        </p:nvSpPr>
        <p:spPr>
          <a:xfrm>
            <a:off x="7773496" y="2536762"/>
            <a:ext cx="2733575" cy="228594"/>
          </a:xfrm>
          <a:prstGeom prst="rect">
            <a:avLst/>
          </a:prstGeom>
          <a:noFill/>
          <a:ln/>
        </p:spPr>
        <p:txBody>
          <a:bodyPr wrap="none" lIns="0" tIns="0" rIns="0" bIns="0" rtlCol="0" anchor="t"/>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Que pase la suite de tests</a:t>
            </a:r>
            <a:endParaRPr lang="en-US" sz="1500" dirty="0"/>
          </a:p>
        </p:txBody>
      </p:sp>
      <p:sp>
        <p:nvSpPr>
          <p:cNvPr id="19" name="Shape 17"/>
          <p:cNvSpPr/>
          <p:nvPr/>
        </p:nvSpPr>
        <p:spPr>
          <a:xfrm>
            <a:off x="952476" y="3425739"/>
            <a:ext cx="2912494" cy="6350"/>
          </a:xfrm>
          <a:prstGeom prst="rect">
            <a:avLst/>
          </a:prstGeom>
          <a:solidFill>
            <a:srgbClr val="20D1F6">
              <a:alpha val="22000"/>
            </a:srgbClr>
          </a:solidFill>
          <a:ln/>
        </p:spPr>
      </p:sp>
      <p:sp>
        <p:nvSpPr>
          <p:cNvPr id="20" name="Text 18"/>
          <p:cNvSpPr/>
          <p:nvPr/>
        </p:nvSpPr>
        <p:spPr>
          <a:xfrm>
            <a:off x="952476" y="3060623"/>
            <a:ext cx="652256" cy="228594"/>
          </a:xfrm>
          <a:prstGeom prst="rect">
            <a:avLst/>
          </a:prstGeom>
          <a:noFill/>
          <a:ln/>
        </p:spPr>
        <p:txBody>
          <a:bodyPr wrap="none" lIns="0" tIns="0" rIns="0" bIns="0" rtlCol="0" anchor="t"/>
          <a:lstStyle/>
          <a:p>
            <a:pPr algn="l" indent="0" marL="0">
              <a:lnSpc>
                <a:spcPts val="1800"/>
              </a:lnSpc>
              <a:buNone/>
            </a:pPr>
            <a:r>
              <a:rPr lang="en-US" sz="1500" b="1" dirty="0">
                <a:solidFill>
                  <a:srgbClr val="FFFFFF"/>
                </a:solidFill>
                <a:latin typeface="Share Tech Mono" pitchFamily="34" charset="0"/>
                <a:ea typeface="Share Tech Mono" pitchFamily="34" charset="-122"/>
                <a:cs typeface="Share Tech Mono" pitchFamily="34" charset="-120"/>
              </a:rPr>
              <a:t>/loop</a:t>
            </a:r>
            <a:endParaRPr lang="en-US" sz="1500" dirty="0"/>
          </a:p>
        </p:txBody>
      </p:sp>
      <p:sp>
        <p:nvSpPr>
          <p:cNvPr id="21" name="Shape 19"/>
          <p:cNvSpPr/>
          <p:nvPr/>
        </p:nvSpPr>
        <p:spPr>
          <a:xfrm>
            <a:off x="3864970" y="3425739"/>
            <a:ext cx="3908526" cy="6350"/>
          </a:xfrm>
          <a:prstGeom prst="rect">
            <a:avLst/>
          </a:prstGeom>
          <a:solidFill>
            <a:srgbClr val="20D1F6">
              <a:alpha val="22000"/>
            </a:srgbClr>
          </a:solidFill>
          <a:ln/>
        </p:spPr>
      </p:sp>
      <p:sp>
        <p:nvSpPr>
          <p:cNvPr id="22" name="Text 20"/>
          <p:cNvSpPr/>
          <p:nvPr/>
        </p:nvSpPr>
        <p:spPr>
          <a:xfrm>
            <a:off x="3864970" y="3057449"/>
            <a:ext cx="2643899" cy="228594"/>
          </a:xfrm>
          <a:prstGeom prst="rect">
            <a:avLst/>
          </a:prstGeom>
          <a:noFill/>
          <a:ln/>
        </p:spPr>
        <p:txBody>
          <a:bodyPr wrap="none" lIns="0" tIns="0" rIns="0" bIns="0" rtlCol="0" anchor="t"/>
          <a:lstStyle/>
          <a:p>
            <a:pPr algn="l" indent="0" marL="0">
              <a:lnSpc>
                <a:spcPts val="1800"/>
              </a:lnSpc>
              <a:buNone/>
            </a:pPr>
            <a:r>
              <a:rPr lang="en-US" sz="1500" dirty="0">
                <a:solidFill>
                  <a:srgbClr val="C9D6EA"/>
                </a:solidFill>
                <a:latin typeface="Arial" pitchFamily="34" charset="0"/>
                <a:ea typeface="Arial" pitchFamily="34" charset="-122"/>
                <a:cs typeface="Arial" pitchFamily="34" charset="-120"/>
              </a:rPr>
              <a:t>Repite cada cierto tiempo</a:t>
            </a:r>
            <a:endParaRPr lang="en-US" sz="1500" dirty="0"/>
          </a:p>
        </p:txBody>
      </p:sp>
      <p:sp>
        <p:nvSpPr>
          <p:cNvPr id="23" name="Shape 21"/>
          <p:cNvSpPr/>
          <p:nvPr/>
        </p:nvSpPr>
        <p:spPr>
          <a:xfrm>
            <a:off x="7773496" y="3425739"/>
            <a:ext cx="3465724" cy="6350"/>
          </a:xfrm>
          <a:prstGeom prst="rect">
            <a:avLst/>
          </a:prstGeom>
          <a:solidFill>
            <a:srgbClr val="20D1F6">
              <a:alpha val="22000"/>
            </a:srgbClr>
          </a:solidFill>
          <a:ln/>
        </p:spPr>
      </p:sp>
      <p:sp>
        <p:nvSpPr>
          <p:cNvPr id="24" name="Text 22"/>
          <p:cNvSpPr/>
          <p:nvPr/>
        </p:nvSpPr>
        <p:spPr>
          <a:xfrm>
            <a:off x="7773496" y="3057449"/>
            <a:ext cx="3077387" cy="228594"/>
          </a:xfrm>
          <a:prstGeom prst="rect">
            <a:avLst/>
          </a:prstGeom>
          <a:noFill/>
          <a:ln/>
        </p:spPr>
        <p:txBody>
          <a:bodyPr wrap="none" lIns="0" tIns="0" rIns="0" bIns="0" rtlCol="0" anchor="t"/>
          <a:lstStyle/>
          <a:p>
            <a:pPr algn="l" indent="0" marL="0">
              <a:lnSpc>
                <a:spcPts val="1800"/>
              </a:lnSpc>
              <a:buNone/>
            </a:pPr>
            <a:r>
              <a:rPr lang="en-US" sz="1500" dirty="0">
                <a:solidFill>
                  <a:srgbClr val="C9D6EA"/>
                </a:solidFill>
                <a:latin typeface="Arial" pitchFamily="34" charset="0"/>
                <a:ea typeface="Arial" pitchFamily="34" charset="-122"/>
                <a:cs typeface="Arial" pitchFamily="34" charset="-120"/>
              </a:rPr>
              <a:t>Vigilar el CI y arreglar lo trivial</a:t>
            </a:r>
            <a:endParaRPr lang="en-US" sz="1500" dirty="0"/>
          </a:p>
        </p:txBody>
      </p:sp>
      <p:sp>
        <p:nvSpPr>
          <p:cNvPr id="25" name="Shape 23"/>
          <p:cNvSpPr/>
          <p:nvPr/>
        </p:nvSpPr>
        <p:spPr>
          <a:xfrm>
            <a:off x="952476" y="3940076"/>
            <a:ext cx="2912494" cy="6350"/>
          </a:xfrm>
          <a:prstGeom prst="rect">
            <a:avLst/>
          </a:prstGeom>
          <a:solidFill>
            <a:srgbClr val="20D1F6">
              <a:alpha val="22000"/>
            </a:srgbClr>
          </a:solidFill>
          <a:ln/>
        </p:spPr>
      </p:sp>
      <p:sp>
        <p:nvSpPr>
          <p:cNvPr id="26" name="Text 24"/>
          <p:cNvSpPr/>
          <p:nvPr/>
        </p:nvSpPr>
        <p:spPr>
          <a:xfrm>
            <a:off x="952476" y="3574961"/>
            <a:ext cx="2581449" cy="228594"/>
          </a:xfrm>
          <a:prstGeom prst="rect">
            <a:avLst/>
          </a:prstGeom>
          <a:noFill/>
          <a:ln/>
        </p:spPr>
        <p:txBody>
          <a:bodyPr wrap="none" lIns="0" tIns="0" rIns="0" bIns="0" rtlCol="0" anchor="t"/>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Evaluador y optimizador</a:t>
            </a:r>
            <a:endParaRPr lang="en-US" sz="1500" dirty="0"/>
          </a:p>
        </p:txBody>
      </p:sp>
      <p:sp>
        <p:nvSpPr>
          <p:cNvPr id="27" name="Shape 25"/>
          <p:cNvSpPr/>
          <p:nvPr/>
        </p:nvSpPr>
        <p:spPr>
          <a:xfrm>
            <a:off x="3864970" y="3940076"/>
            <a:ext cx="3908526" cy="6350"/>
          </a:xfrm>
          <a:prstGeom prst="rect">
            <a:avLst/>
          </a:prstGeom>
          <a:solidFill>
            <a:srgbClr val="20D1F6">
              <a:alpha val="22000"/>
            </a:srgbClr>
          </a:solidFill>
          <a:ln/>
        </p:spPr>
      </p:sp>
      <p:sp>
        <p:nvSpPr>
          <p:cNvPr id="28" name="Text 26"/>
          <p:cNvSpPr/>
          <p:nvPr/>
        </p:nvSpPr>
        <p:spPr>
          <a:xfrm>
            <a:off x="3864970" y="3574961"/>
            <a:ext cx="2448880" cy="228594"/>
          </a:xfrm>
          <a:prstGeom prst="rect">
            <a:avLst/>
          </a:prstGeom>
          <a:noFill/>
          <a:ln/>
        </p:spPr>
        <p:txBody>
          <a:bodyPr wrap="none" lIns="0" tIns="0" rIns="0" bIns="0" rtlCol="0" anchor="t"/>
          <a:lstStyle/>
          <a:p>
            <a:pPr algn="l" indent="0" marL="0">
              <a:lnSpc>
                <a:spcPts val="1800"/>
              </a:lnSpc>
              <a:buNone/>
            </a:pPr>
            <a:r>
              <a:rPr lang="en-US" sz="1500" dirty="0">
                <a:solidFill>
                  <a:srgbClr val="C9D6EA"/>
                </a:solidFill>
                <a:latin typeface="Arial" pitchFamily="34" charset="0"/>
                <a:ea typeface="Arial" pitchFamily="34" charset="-122"/>
                <a:cs typeface="Arial" pitchFamily="34" charset="-120"/>
              </a:rPr>
              <a:t>Uno genera, otro critica</a:t>
            </a:r>
            <a:endParaRPr lang="en-US" sz="1500" dirty="0"/>
          </a:p>
        </p:txBody>
      </p:sp>
      <p:sp>
        <p:nvSpPr>
          <p:cNvPr id="29" name="Shape 27"/>
          <p:cNvSpPr/>
          <p:nvPr/>
        </p:nvSpPr>
        <p:spPr>
          <a:xfrm>
            <a:off x="7773496" y="3940076"/>
            <a:ext cx="3465724" cy="6350"/>
          </a:xfrm>
          <a:prstGeom prst="rect">
            <a:avLst/>
          </a:prstGeom>
          <a:solidFill>
            <a:srgbClr val="20D1F6">
              <a:alpha val="22000"/>
            </a:srgbClr>
          </a:solidFill>
          <a:ln/>
        </p:spPr>
      </p:sp>
      <p:sp>
        <p:nvSpPr>
          <p:cNvPr id="30" name="Text 28"/>
          <p:cNvSpPr/>
          <p:nvPr/>
        </p:nvSpPr>
        <p:spPr>
          <a:xfrm>
            <a:off x="7773496" y="3574961"/>
            <a:ext cx="2662568" cy="228594"/>
          </a:xfrm>
          <a:prstGeom prst="rect">
            <a:avLst/>
          </a:prstGeom>
          <a:noFill/>
          <a:ln/>
        </p:spPr>
        <p:txBody>
          <a:bodyPr wrap="none" lIns="0" tIns="0" rIns="0" bIns="0" rtlCol="0" anchor="t"/>
          <a:lstStyle/>
          <a:p>
            <a:pPr algn="l" indent="0" marL="0">
              <a:lnSpc>
                <a:spcPts val="1800"/>
              </a:lnSpc>
              <a:buNone/>
            </a:pPr>
            <a:r>
              <a:rPr lang="en-US" sz="1500" dirty="0">
                <a:solidFill>
                  <a:srgbClr val="C9D6EA"/>
                </a:solidFill>
                <a:latin typeface="Arial" pitchFamily="34" charset="0"/>
                <a:ea typeface="Arial" pitchFamily="34" charset="-122"/>
                <a:cs typeface="Arial" pitchFamily="34" charset="-120"/>
              </a:rPr>
              <a:t>Código y revisión en ciclo</a:t>
            </a:r>
            <a:endParaRPr lang="en-US" sz="1500" dirty="0"/>
          </a:p>
        </p:txBody>
      </p:sp>
      <p:sp>
        <p:nvSpPr>
          <p:cNvPr id="31" name="Text 29"/>
          <p:cNvSpPr/>
          <p:nvPr/>
        </p:nvSpPr>
        <p:spPr>
          <a:xfrm>
            <a:off x="952476" y="4089298"/>
            <a:ext cx="1128526" cy="228594"/>
          </a:xfrm>
          <a:prstGeom prst="rect">
            <a:avLst/>
          </a:prstGeom>
          <a:noFill/>
          <a:ln/>
        </p:spPr>
        <p:txBody>
          <a:bodyPr wrap="none" lIns="0" tIns="0" rIns="0" bIns="0" rtlCol="0" anchor="t"/>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Monitoreo</a:t>
            </a:r>
            <a:endParaRPr lang="en-US" sz="1500" dirty="0"/>
          </a:p>
        </p:txBody>
      </p:sp>
      <p:sp>
        <p:nvSpPr>
          <p:cNvPr id="32" name="Text 30"/>
          <p:cNvSpPr/>
          <p:nvPr/>
        </p:nvSpPr>
        <p:spPr>
          <a:xfrm>
            <a:off x="3864970" y="4089298"/>
            <a:ext cx="2735797" cy="228594"/>
          </a:xfrm>
          <a:prstGeom prst="rect">
            <a:avLst/>
          </a:prstGeom>
          <a:noFill/>
          <a:ln/>
        </p:spPr>
        <p:txBody>
          <a:bodyPr wrap="none" lIns="0" tIns="0" rIns="0" bIns="0" rtlCol="0" anchor="t"/>
          <a:lstStyle/>
          <a:p>
            <a:pPr algn="l" indent="0" marL="0">
              <a:lnSpc>
                <a:spcPts val="1800"/>
              </a:lnSpc>
              <a:buNone/>
            </a:pPr>
            <a:r>
              <a:rPr lang="en-US" sz="1500" dirty="0">
                <a:solidFill>
                  <a:srgbClr val="C9D6EA"/>
                </a:solidFill>
                <a:latin typeface="Arial" pitchFamily="34" charset="0"/>
                <a:ea typeface="Arial" pitchFamily="34" charset="-122"/>
                <a:cs typeface="Arial" pitchFamily="34" charset="-120"/>
              </a:rPr>
              <a:t>Corre a lo largo del tiempo</a:t>
            </a:r>
            <a:endParaRPr lang="en-US" sz="1500" dirty="0"/>
          </a:p>
        </p:txBody>
      </p:sp>
      <p:sp>
        <p:nvSpPr>
          <p:cNvPr id="33" name="Text 31"/>
          <p:cNvSpPr/>
          <p:nvPr/>
        </p:nvSpPr>
        <p:spPr>
          <a:xfrm>
            <a:off x="7773496" y="4089298"/>
            <a:ext cx="3327857" cy="228594"/>
          </a:xfrm>
          <a:prstGeom prst="rect">
            <a:avLst/>
          </a:prstGeom>
          <a:noFill/>
          <a:ln/>
        </p:spPr>
        <p:txBody>
          <a:bodyPr wrap="none" lIns="0" tIns="0" rIns="0" bIns="0" rtlCol="0" anchor="t"/>
          <a:lstStyle/>
          <a:p>
            <a:pPr algn="l" indent="0" marL="0">
              <a:lnSpc>
                <a:spcPts val="1800"/>
              </a:lnSpc>
              <a:buNone/>
            </a:pPr>
            <a:r>
              <a:rPr lang="en-US" sz="1500" dirty="0">
                <a:solidFill>
                  <a:srgbClr val="C9D6EA"/>
                </a:solidFill>
                <a:latin typeface="Arial" pitchFamily="34" charset="0"/>
                <a:ea typeface="Arial" pitchFamily="34" charset="-122"/>
                <a:cs typeface="Arial" pitchFamily="34" charset="-120"/>
              </a:rPr>
              <a:t>Revisión diaria de dependencias</a:t>
            </a:r>
            <a:endParaRPr lang="en-US" sz="1500" dirty="0"/>
          </a:p>
        </p:txBody>
      </p:sp>
      <p:sp>
        <p:nvSpPr>
          <p:cNvPr id="34" name="Text 32"/>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35" name="Text 33"/>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1174721" y="784840"/>
            <a:ext cx="3158840"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04 · LOOP ENGINEERING</a:t>
            </a:r>
            <a:endParaRPr lang="en-US" sz="1200" dirty="0"/>
          </a:p>
        </p:txBody>
      </p:sp>
      <p:sp>
        <p:nvSpPr>
          <p:cNvPr id="3" name="Text 1"/>
          <p:cNvSpPr/>
          <p:nvPr/>
        </p:nvSpPr>
        <p:spPr>
          <a:xfrm>
            <a:off x="952476" y="1231869"/>
            <a:ext cx="10743487"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UN LOOP SIN TOPE ES UNA FACTURA SIN TOPE</a:t>
            </a:r>
            <a:endParaRPr lang="en-US" sz="4600" dirty="0"/>
          </a:p>
        </p:txBody>
      </p:sp>
      <p:sp>
        <p:nvSpPr>
          <p:cNvPr id="4" name="Shape 2"/>
          <p:cNvSpPr/>
          <p:nvPr/>
        </p:nvSpPr>
        <p:spPr>
          <a:xfrm>
            <a:off x="952476" y="2120847"/>
            <a:ext cx="5167084" cy="2088701"/>
          </a:xfrm>
          <a:prstGeom prst="roundRect">
            <a:avLst>
              <a:gd name="adj" fmla="val 4256"/>
            </a:avLst>
          </a:prstGeom>
          <a:solidFill>
            <a:srgbClr val="010814"/>
          </a:solidFill>
          <a:ln w="12700">
            <a:solidFill>
              <a:srgbClr val="1ED2F5">
                <a:alpha val="40000"/>
              </a:srgbClr>
            </a:solidFill>
            <a:prstDash val="solid"/>
          </a:ln>
        </p:spPr>
      </p:sp>
      <p:sp>
        <p:nvSpPr>
          <p:cNvPr id="5" name="Shape 3"/>
          <p:cNvSpPr/>
          <p:nvPr/>
        </p:nvSpPr>
        <p:spPr>
          <a:xfrm>
            <a:off x="965176" y="2489138"/>
            <a:ext cx="5141685" cy="6350"/>
          </a:xfrm>
          <a:prstGeom prst="rect">
            <a:avLst/>
          </a:prstGeom>
          <a:solidFill>
            <a:srgbClr val="20D3F3">
              <a:alpha val="25000"/>
            </a:srgbClr>
          </a:solidFill>
          <a:ln/>
        </p:spPr>
      </p:sp>
      <p:sp>
        <p:nvSpPr>
          <p:cNvPr id="6" name="Shape 4"/>
          <p:cNvSpPr/>
          <p:nvPr/>
        </p:nvSpPr>
        <p:spPr>
          <a:xfrm>
            <a:off x="1092173" y="2266893"/>
            <a:ext cx="88898" cy="88898"/>
          </a:xfrm>
          <a:prstGeom prst="roundRect">
            <a:avLst>
              <a:gd name="adj" fmla="val 50000"/>
            </a:avLst>
          </a:prstGeom>
          <a:solidFill>
            <a:srgbClr val="1FD3F5">
              <a:alpha val="70000"/>
            </a:srgbClr>
          </a:solidFill>
          <a:ln/>
        </p:spPr>
      </p:sp>
      <p:sp>
        <p:nvSpPr>
          <p:cNvPr id="7" name="Shape 5"/>
          <p:cNvSpPr/>
          <p:nvPr/>
        </p:nvSpPr>
        <p:spPr>
          <a:xfrm>
            <a:off x="1244569" y="2266893"/>
            <a:ext cx="88898" cy="88898"/>
          </a:xfrm>
          <a:prstGeom prst="roundRect">
            <a:avLst>
              <a:gd name="adj" fmla="val 50000"/>
            </a:avLst>
          </a:prstGeom>
          <a:solidFill>
            <a:srgbClr val="D2F21E">
              <a:alpha val="70000"/>
            </a:srgbClr>
          </a:solidFill>
          <a:ln/>
        </p:spPr>
      </p:sp>
      <p:sp>
        <p:nvSpPr>
          <p:cNvPr id="8" name="Shape 6"/>
          <p:cNvSpPr/>
          <p:nvPr/>
        </p:nvSpPr>
        <p:spPr>
          <a:xfrm>
            <a:off x="1396965" y="2266893"/>
            <a:ext cx="88898" cy="88898"/>
          </a:xfrm>
          <a:prstGeom prst="roundRect">
            <a:avLst>
              <a:gd name="adj" fmla="val 50000"/>
            </a:avLst>
          </a:prstGeom>
          <a:solidFill>
            <a:srgbClr val="FF4B3A">
              <a:alpha val="70000"/>
            </a:srgbClr>
          </a:solidFill>
          <a:ln/>
        </p:spPr>
      </p:sp>
      <p:sp>
        <p:nvSpPr>
          <p:cNvPr id="9" name="Text 7"/>
          <p:cNvSpPr/>
          <p:nvPr/>
        </p:nvSpPr>
        <p:spPr>
          <a:xfrm>
            <a:off x="1638259" y="2227524"/>
            <a:ext cx="1628353"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93A4C2"/>
                </a:solidFill>
                <a:latin typeface="Share Tech Mono" pitchFamily="34" charset="0"/>
                <a:ea typeface="Share Tech Mono" pitchFamily="34" charset="-122"/>
                <a:cs typeface="Share Tech Mono" pitchFamily="34" charset="-120"/>
              </a:rPr>
              <a:t>agente · ejemplo</a:t>
            </a:r>
            <a:endParaRPr lang="en-US" sz="1100" dirty="0"/>
          </a:p>
        </p:txBody>
      </p:sp>
      <p:sp>
        <p:nvSpPr>
          <p:cNvPr id="10" name="Text 8"/>
          <p:cNvSpPr/>
          <p:nvPr/>
        </p:nvSpPr>
        <p:spPr>
          <a:xfrm>
            <a:off x="1155671" y="2659948"/>
            <a:ext cx="4903515" cy="1371566"/>
          </a:xfrm>
          <a:prstGeom prst="rect">
            <a:avLst/>
          </a:prstGeom>
          <a:noFill/>
          <a:ln/>
        </p:spPr>
        <p:txBody>
          <a:bodyPr wrap="square" lIns="0" tIns="0" rIns="0" bIns="0" rtlCol="0" anchor="t"/>
          <a:lstStyle/>
          <a:p>
            <a:pPr algn="l" indent="0" marL="0">
              <a:lnSpc>
                <a:spcPts val="2160"/>
              </a:lnSpc>
              <a:buNone/>
            </a:pPr>
            <a:r>
              <a:rPr lang="en-US" sz="1350" dirty="0">
                <a:solidFill>
                  <a:srgbClr val="D2F21E"/>
                </a:solidFill>
                <a:latin typeface="Share Tech Mono" pitchFamily="34" charset="0"/>
                <a:ea typeface="Share Tech Mono" pitchFamily="34" charset="-122"/>
                <a:cs typeface="Share Tech Mono" pitchFamily="34" charset="-120"/>
              </a:rPr>
              <a:t>/goal</a:t>
            </a:r>
            <a:r>
              <a:rPr lang="en-US" sz="1350" dirty="0">
                <a:solidFill>
                  <a:srgbClr val="C9D6EA"/>
                </a:solidFill>
                <a:latin typeface="Share Tech Mono" pitchFamily="34" charset="0"/>
                <a:ea typeface="Share Tech Mono" pitchFamily="34" charset="-122"/>
                <a:cs typeface="Share Tech Mono" pitchFamily="34" charset="-120"/>
              </a:rPr>
              <a:t> tests de auth en verde · tope 3</a:t>
            </a:r>
            <a:endParaRPr lang="en-US" sz="1350" dirty="0"/>
          </a:p>
          <a:p>
            <a:pPr algn="l" indent="0" marL="0">
              <a:lnSpc>
                <a:spcPts val="2160"/>
              </a:lnSpc>
              <a:buNone/>
            </a:pPr>
            <a:r>
              <a:rPr lang="en-US" sz="1350" dirty="0">
                <a:solidFill>
                  <a:srgbClr val="93A4C2"/>
                </a:solidFill>
                <a:latin typeface="Share Tech Mono" pitchFamily="34" charset="0"/>
                <a:ea typeface="Share Tech Mono" pitchFamily="34" charset="-122"/>
                <a:cs typeface="Share Tech Mono" pitchFamily="34" charset="-120"/>
              </a:rPr>
              <a:t>vuelta 1</a:t>
            </a:r>
            <a:r>
              <a:rPr lang="en-US" sz="1350" dirty="0">
                <a:solidFill>
                  <a:srgbClr val="C9D6EA"/>
                </a:solidFill>
                <a:latin typeface="Share Tech Mono" pitchFamily="34" charset="0"/>
                <a:ea typeface="Share Tech Mono" pitchFamily="34" charset="-122"/>
                <a:cs typeface="Share Tech Mono" pitchFamily="34" charset="-120"/>
              </a:rPr>
              <a:t>  </a:t>
            </a:r>
            <a:r>
              <a:rPr lang="en-US" sz="1350" dirty="0">
                <a:solidFill>
                  <a:srgbClr val="FF4B3A"/>
                </a:solidFill>
                <a:latin typeface="Share Tech Mono" pitchFamily="34" charset="0"/>
                <a:ea typeface="Share Tech Mono" pitchFamily="34" charset="-122"/>
                <a:cs typeface="Share Tech Mono" pitchFamily="34" charset="-120"/>
              </a:rPr>
              <a:t>4 tests fallan</a:t>
            </a:r>
            <a:endParaRPr lang="en-US" sz="1350" dirty="0"/>
          </a:p>
          <a:p>
            <a:pPr algn="l" indent="0" marL="0">
              <a:lnSpc>
                <a:spcPts val="2160"/>
              </a:lnSpc>
              <a:buNone/>
            </a:pPr>
            <a:r>
              <a:rPr lang="en-US" sz="1350" dirty="0">
                <a:solidFill>
                  <a:srgbClr val="93A4C2"/>
                </a:solidFill>
                <a:latin typeface="Share Tech Mono" pitchFamily="34" charset="0"/>
                <a:ea typeface="Share Tech Mono" pitchFamily="34" charset="-122"/>
                <a:cs typeface="Share Tech Mono" pitchFamily="34" charset="-120"/>
              </a:rPr>
              <a:t>vuelta 2</a:t>
            </a:r>
            <a:r>
              <a:rPr lang="en-US" sz="1350" dirty="0">
                <a:solidFill>
                  <a:srgbClr val="C9D6EA"/>
                </a:solidFill>
                <a:latin typeface="Share Tech Mono" pitchFamily="34" charset="0"/>
                <a:ea typeface="Share Tech Mono" pitchFamily="34" charset="-122"/>
                <a:cs typeface="Share Tech Mono" pitchFamily="34" charset="-120"/>
              </a:rPr>
              <a:t>  </a:t>
            </a:r>
            <a:r>
              <a:rPr lang="en-US" sz="1350" dirty="0">
                <a:solidFill>
                  <a:srgbClr val="FF4B3A"/>
                </a:solidFill>
                <a:latin typeface="Share Tech Mono" pitchFamily="34" charset="0"/>
                <a:ea typeface="Share Tech Mono" pitchFamily="34" charset="-122"/>
                <a:cs typeface="Share Tech Mono" pitchFamily="34" charset="-120"/>
              </a:rPr>
              <a:t>1 test falla</a:t>
            </a:r>
            <a:endParaRPr lang="en-US" sz="1350" dirty="0"/>
          </a:p>
          <a:p>
            <a:pPr algn="l" indent="0" marL="0">
              <a:lnSpc>
                <a:spcPts val="2160"/>
              </a:lnSpc>
              <a:buNone/>
            </a:pPr>
            <a:r>
              <a:rPr lang="en-US" sz="1350" dirty="0">
                <a:solidFill>
                  <a:srgbClr val="93A4C2"/>
                </a:solidFill>
                <a:latin typeface="Share Tech Mono" pitchFamily="34" charset="0"/>
                <a:ea typeface="Share Tech Mono" pitchFamily="34" charset="-122"/>
                <a:cs typeface="Share Tech Mono" pitchFamily="34" charset="-120"/>
              </a:rPr>
              <a:t>vuelta 3</a:t>
            </a:r>
            <a:r>
              <a:rPr lang="en-US" sz="1350" dirty="0">
                <a:solidFill>
                  <a:srgbClr val="C9D6EA"/>
                </a:solidFill>
                <a:latin typeface="Share Tech Mono" pitchFamily="34" charset="0"/>
                <a:ea typeface="Share Tech Mono" pitchFamily="34" charset="-122"/>
                <a:cs typeface="Share Tech Mono" pitchFamily="34" charset="-120"/>
              </a:rPr>
              <a:t>  </a:t>
            </a:r>
            <a:r>
              <a:rPr lang="en-US" sz="1350" dirty="0">
                <a:solidFill>
                  <a:srgbClr val="FF4B3A"/>
                </a:solidFill>
                <a:latin typeface="Share Tech Mono" pitchFamily="34" charset="0"/>
                <a:ea typeface="Share Tech Mono" pitchFamily="34" charset="-122"/>
                <a:cs typeface="Share Tech Mono" pitchFamily="34" charset="-120"/>
              </a:rPr>
              <a:t>1 test falla</a:t>
            </a:r>
            <a:endParaRPr lang="en-US" sz="1350" dirty="0"/>
          </a:p>
          <a:p>
            <a:pPr algn="l" indent="0" marL="0">
              <a:lnSpc>
                <a:spcPts val="2160"/>
              </a:lnSpc>
              <a:buNone/>
            </a:pPr>
            <a:r>
              <a:rPr lang="en-US" sz="1350" dirty="0">
                <a:solidFill>
                  <a:srgbClr val="1FD3F5"/>
                </a:solidFill>
                <a:latin typeface="Share Tech Mono" pitchFamily="34" charset="0"/>
                <a:ea typeface="Share Tech Mono" pitchFamily="34" charset="-122"/>
                <a:cs typeface="Share Tech Mono" pitchFamily="34" charset="-120"/>
              </a:rPr>
              <a:t>Tope alcanzado: me detengo</a:t>
            </a:r>
            <a:endParaRPr lang="en-US" sz="1350" dirty="0"/>
          </a:p>
        </p:txBody>
      </p:sp>
      <p:sp>
        <p:nvSpPr>
          <p:cNvPr id="11" name="Text 9"/>
          <p:cNvSpPr/>
          <p:nvPr/>
        </p:nvSpPr>
        <p:spPr>
          <a:xfrm>
            <a:off x="6889975" y="2280030"/>
            <a:ext cx="2510441" cy="222244"/>
          </a:xfrm>
          <a:prstGeom prst="rect">
            <a:avLst/>
          </a:prstGeom>
          <a:noFill/>
          <a:ln/>
        </p:spPr>
        <p:txBody>
          <a:bodyPr wrap="none" lIns="0" tIns="0" rIns="0" bIns="0" rtlCol="0" anchor="t"/>
          <a:lstStyle/>
          <a:p>
            <a:pPr algn="l" indent="0" marL="0">
              <a:lnSpc>
                <a:spcPts val="1740"/>
              </a:lnSpc>
              <a:buNone/>
            </a:pPr>
            <a:r>
              <a:rPr lang="en-US" sz="1450" dirty="0">
                <a:solidFill>
                  <a:srgbClr val="FFFFFF"/>
                </a:solidFill>
                <a:latin typeface="Arial" pitchFamily="34" charset="0"/>
                <a:ea typeface="Arial" pitchFamily="34" charset="-122"/>
                <a:cs typeface="Arial" pitchFamily="34" charset="-120"/>
              </a:rPr>
              <a:t>Topes de vueltas y costo</a:t>
            </a:r>
            <a:endParaRPr lang="en-US" sz="1450" dirty="0"/>
          </a:p>
        </p:txBody>
      </p:sp>
      <p:sp>
        <p:nvSpPr>
          <p:cNvPr id="12" name="Text 10"/>
          <p:cNvSpPr/>
          <p:nvPr/>
        </p:nvSpPr>
        <p:spPr>
          <a:xfrm>
            <a:off x="6564049" y="2280030"/>
            <a:ext cx="298998" cy="220974"/>
          </a:xfrm>
          <a:prstGeom prst="rect">
            <a:avLst/>
          </a:prstGeom>
          <a:noFill/>
          <a:ln/>
        </p:spPr>
        <p:txBody>
          <a:bodyPr wrap="none" lIns="0" tIns="0" rIns="0" bIns="0" rtlCol="0" anchor="t"/>
          <a:lstStyle/>
          <a:p>
            <a:pPr algn="l" indent="0" marL="0">
              <a:lnSpc>
                <a:spcPts val="1740"/>
              </a:lnSpc>
              <a:buNone/>
            </a:pPr>
            <a:r>
              <a:rPr lang="en-US" sz="1450" dirty="0">
                <a:solidFill>
                  <a:srgbClr val="D2F21E"/>
                </a:solidFill>
                <a:latin typeface="Share Tech Mono" pitchFamily="34" charset="0"/>
                <a:ea typeface="Share Tech Mono" pitchFamily="34" charset="-122"/>
                <a:cs typeface="Share Tech Mono" pitchFamily="34" charset="-120"/>
              </a:rPr>
              <a:t>01</a:t>
            </a:r>
            <a:endParaRPr lang="en-US" sz="1450" dirty="0"/>
          </a:p>
        </p:txBody>
      </p:sp>
      <p:sp>
        <p:nvSpPr>
          <p:cNvPr id="13" name="Text 11"/>
          <p:cNvSpPr/>
          <p:nvPr/>
        </p:nvSpPr>
        <p:spPr>
          <a:xfrm>
            <a:off x="6889975" y="2667370"/>
            <a:ext cx="1745698" cy="222244"/>
          </a:xfrm>
          <a:prstGeom prst="rect">
            <a:avLst/>
          </a:prstGeom>
          <a:noFill/>
          <a:ln/>
        </p:spPr>
        <p:txBody>
          <a:bodyPr wrap="none" lIns="0" tIns="0" rIns="0" bIns="0" rtlCol="0" anchor="t"/>
          <a:lstStyle/>
          <a:p>
            <a:pPr algn="l" indent="0" marL="0">
              <a:lnSpc>
                <a:spcPts val="1740"/>
              </a:lnSpc>
              <a:buNone/>
            </a:pPr>
            <a:r>
              <a:rPr lang="en-US" sz="1450" dirty="0">
                <a:solidFill>
                  <a:srgbClr val="FFFFFF"/>
                </a:solidFill>
                <a:latin typeface="Arial" pitchFamily="34" charset="0"/>
                <a:ea typeface="Arial" pitchFamily="34" charset="-122"/>
                <a:cs typeface="Arial" pitchFamily="34" charset="-120"/>
              </a:rPr>
              <a:t>Salida verificable</a:t>
            </a:r>
            <a:endParaRPr lang="en-US" sz="1450" dirty="0"/>
          </a:p>
        </p:txBody>
      </p:sp>
      <p:sp>
        <p:nvSpPr>
          <p:cNvPr id="14" name="Text 12"/>
          <p:cNvSpPr/>
          <p:nvPr/>
        </p:nvSpPr>
        <p:spPr>
          <a:xfrm>
            <a:off x="6564049" y="2667370"/>
            <a:ext cx="298998" cy="220974"/>
          </a:xfrm>
          <a:prstGeom prst="rect">
            <a:avLst/>
          </a:prstGeom>
          <a:noFill/>
          <a:ln/>
        </p:spPr>
        <p:txBody>
          <a:bodyPr wrap="none" lIns="0" tIns="0" rIns="0" bIns="0" rtlCol="0" anchor="t"/>
          <a:lstStyle/>
          <a:p>
            <a:pPr algn="l" indent="0" marL="0">
              <a:lnSpc>
                <a:spcPts val="1740"/>
              </a:lnSpc>
              <a:buNone/>
            </a:pPr>
            <a:r>
              <a:rPr lang="en-US" sz="1450" dirty="0">
                <a:solidFill>
                  <a:srgbClr val="D2F21E"/>
                </a:solidFill>
                <a:latin typeface="Share Tech Mono" pitchFamily="34" charset="0"/>
                <a:ea typeface="Share Tech Mono" pitchFamily="34" charset="-122"/>
                <a:cs typeface="Share Tech Mono" pitchFamily="34" charset="-120"/>
              </a:rPr>
              <a:t>02</a:t>
            </a:r>
            <a:endParaRPr lang="en-US" sz="1450" dirty="0"/>
          </a:p>
        </p:txBody>
      </p:sp>
      <p:sp>
        <p:nvSpPr>
          <p:cNvPr id="15" name="Text 13"/>
          <p:cNvSpPr/>
          <p:nvPr/>
        </p:nvSpPr>
        <p:spPr>
          <a:xfrm>
            <a:off x="6889975" y="3054710"/>
            <a:ext cx="1853598" cy="222244"/>
          </a:xfrm>
          <a:prstGeom prst="rect">
            <a:avLst/>
          </a:prstGeom>
          <a:noFill/>
          <a:ln/>
        </p:spPr>
        <p:txBody>
          <a:bodyPr wrap="none" lIns="0" tIns="0" rIns="0" bIns="0" rtlCol="0" anchor="t"/>
          <a:lstStyle/>
          <a:p>
            <a:pPr algn="l" indent="0" marL="0">
              <a:lnSpc>
                <a:spcPts val="1740"/>
              </a:lnSpc>
              <a:buNone/>
            </a:pPr>
            <a:r>
              <a:rPr lang="en-US" sz="1450" dirty="0">
                <a:solidFill>
                  <a:srgbClr val="FFFFFF"/>
                </a:solidFill>
                <a:latin typeface="Arial" pitchFamily="34" charset="0"/>
                <a:ea typeface="Arial" pitchFamily="34" charset="-122"/>
                <a:cs typeface="Arial" pitchFamily="34" charset="-120"/>
              </a:rPr>
              <a:t>Permisos mínimos</a:t>
            </a:r>
            <a:endParaRPr lang="en-US" sz="1450" dirty="0"/>
          </a:p>
        </p:txBody>
      </p:sp>
      <p:sp>
        <p:nvSpPr>
          <p:cNvPr id="16" name="Text 14"/>
          <p:cNvSpPr/>
          <p:nvPr/>
        </p:nvSpPr>
        <p:spPr>
          <a:xfrm>
            <a:off x="6564049" y="3054710"/>
            <a:ext cx="298998" cy="220974"/>
          </a:xfrm>
          <a:prstGeom prst="rect">
            <a:avLst/>
          </a:prstGeom>
          <a:noFill/>
          <a:ln/>
        </p:spPr>
        <p:txBody>
          <a:bodyPr wrap="none" lIns="0" tIns="0" rIns="0" bIns="0" rtlCol="0" anchor="t"/>
          <a:lstStyle/>
          <a:p>
            <a:pPr algn="l" indent="0" marL="0">
              <a:lnSpc>
                <a:spcPts val="1740"/>
              </a:lnSpc>
              <a:buNone/>
            </a:pPr>
            <a:r>
              <a:rPr lang="en-US" sz="1450" dirty="0">
                <a:solidFill>
                  <a:srgbClr val="D2F21E"/>
                </a:solidFill>
                <a:latin typeface="Share Tech Mono" pitchFamily="34" charset="0"/>
                <a:ea typeface="Share Tech Mono" pitchFamily="34" charset="-122"/>
                <a:cs typeface="Share Tech Mono" pitchFamily="34" charset="-120"/>
              </a:rPr>
              <a:t>03</a:t>
            </a:r>
            <a:endParaRPr lang="en-US" sz="1450" dirty="0"/>
          </a:p>
        </p:txBody>
      </p:sp>
      <p:sp>
        <p:nvSpPr>
          <p:cNvPr id="17" name="Text 15"/>
          <p:cNvSpPr/>
          <p:nvPr/>
        </p:nvSpPr>
        <p:spPr>
          <a:xfrm>
            <a:off x="6889975" y="3442051"/>
            <a:ext cx="2569447" cy="222244"/>
          </a:xfrm>
          <a:prstGeom prst="rect">
            <a:avLst/>
          </a:prstGeom>
          <a:noFill/>
          <a:ln/>
        </p:spPr>
        <p:txBody>
          <a:bodyPr wrap="none" lIns="0" tIns="0" rIns="0" bIns="0" rtlCol="0" anchor="t"/>
          <a:lstStyle/>
          <a:p>
            <a:pPr algn="l" indent="0" marL="0">
              <a:lnSpc>
                <a:spcPts val="1740"/>
              </a:lnSpc>
              <a:buNone/>
            </a:pPr>
            <a:r>
              <a:rPr lang="en-US" sz="1450" dirty="0">
                <a:solidFill>
                  <a:srgbClr val="FFFFFF"/>
                </a:solidFill>
                <a:latin typeface="Arial" pitchFamily="34" charset="0"/>
                <a:ea typeface="Arial" pitchFamily="34" charset="-122"/>
                <a:cs typeface="Arial" pitchFamily="34" charset="-120"/>
              </a:rPr>
              <a:t>Humano en lo irreversible</a:t>
            </a:r>
            <a:endParaRPr lang="en-US" sz="1450" dirty="0"/>
          </a:p>
        </p:txBody>
      </p:sp>
      <p:sp>
        <p:nvSpPr>
          <p:cNvPr id="18" name="Text 16"/>
          <p:cNvSpPr/>
          <p:nvPr/>
        </p:nvSpPr>
        <p:spPr>
          <a:xfrm>
            <a:off x="6564049" y="3442051"/>
            <a:ext cx="298998" cy="220974"/>
          </a:xfrm>
          <a:prstGeom prst="rect">
            <a:avLst/>
          </a:prstGeom>
          <a:noFill/>
          <a:ln/>
        </p:spPr>
        <p:txBody>
          <a:bodyPr wrap="none" lIns="0" tIns="0" rIns="0" bIns="0" rtlCol="0" anchor="t"/>
          <a:lstStyle/>
          <a:p>
            <a:pPr algn="l" indent="0" marL="0">
              <a:lnSpc>
                <a:spcPts val="1740"/>
              </a:lnSpc>
              <a:buNone/>
            </a:pPr>
            <a:r>
              <a:rPr lang="en-US" sz="1450" dirty="0">
                <a:solidFill>
                  <a:srgbClr val="D2F21E"/>
                </a:solidFill>
                <a:latin typeface="Share Tech Mono" pitchFamily="34" charset="0"/>
                <a:ea typeface="Share Tech Mono" pitchFamily="34" charset="-122"/>
                <a:cs typeface="Share Tech Mono" pitchFamily="34" charset="-120"/>
              </a:rPr>
              <a:t>04</a:t>
            </a:r>
            <a:endParaRPr lang="en-US" sz="1450" dirty="0"/>
          </a:p>
        </p:txBody>
      </p:sp>
      <p:sp>
        <p:nvSpPr>
          <p:cNvPr id="19" name="Text 17"/>
          <p:cNvSpPr/>
          <p:nvPr/>
        </p:nvSpPr>
        <p:spPr>
          <a:xfrm>
            <a:off x="6889975" y="3829391"/>
            <a:ext cx="729708" cy="222244"/>
          </a:xfrm>
          <a:prstGeom prst="rect">
            <a:avLst/>
          </a:prstGeom>
          <a:noFill/>
          <a:ln/>
        </p:spPr>
        <p:txBody>
          <a:bodyPr wrap="none" lIns="0" tIns="0" rIns="0" bIns="0" rtlCol="0" anchor="t"/>
          <a:lstStyle/>
          <a:p>
            <a:pPr algn="l" indent="0" marL="0">
              <a:lnSpc>
                <a:spcPts val="1740"/>
              </a:lnSpc>
              <a:buNone/>
            </a:pPr>
            <a:r>
              <a:rPr lang="en-US" sz="1450" dirty="0">
                <a:solidFill>
                  <a:srgbClr val="FFFFFF"/>
                </a:solidFill>
                <a:latin typeface="Arial" pitchFamily="34" charset="0"/>
                <a:ea typeface="Arial" pitchFamily="34" charset="-122"/>
                <a:cs typeface="Arial" pitchFamily="34" charset="-120"/>
              </a:rPr>
              <a:t>Trazas</a:t>
            </a:r>
            <a:endParaRPr lang="en-US" sz="1450" dirty="0"/>
          </a:p>
        </p:txBody>
      </p:sp>
      <p:sp>
        <p:nvSpPr>
          <p:cNvPr id="20" name="Text 18"/>
          <p:cNvSpPr/>
          <p:nvPr/>
        </p:nvSpPr>
        <p:spPr>
          <a:xfrm>
            <a:off x="6564049" y="3829391"/>
            <a:ext cx="298998" cy="220974"/>
          </a:xfrm>
          <a:prstGeom prst="rect">
            <a:avLst/>
          </a:prstGeom>
          <a:noFill/>
          <a:ln/>
        </p:spPr>
        <p:txBody>
          <a:bodyPr wrap="none" lIns="0" tIns="0" rIns="0" bIns="0" rtlCol="0" anchor="t"/>
          <a:lstStyle/>
          <a:p>
            <a:pPr algn="l" indent="0" marL="0">
              <a:lnSpc>
                <a:spcPts val="1740"/>
              </a:lnSpc>
              <a:buNone/>
            </a:pPr>
            <a:r>
              <a:rPr lang="en-US" sz="1450" dirty="0">
                <a:solidFill>
                  <a:srgbClr val="D2F21E"/>
                </a:solidFill>
                <a:latin typeface="Share Tech Mono" pitchFamily="34" charset="0"/>
                <a:ea typeface="Share Tech Mono" pitchFamily="34" charset="-122"/>
                <a:cs typeface="Share Tech Mono" pitchFamily="34" charset="-120"/>
              </a:rPr>
              <a:t>05</a:t>
            </a:r>
            <a:endParaRPr lang="en-US" sz="1450" dirty="0"/>
          </a:p>
        </p:txBody>
      </p:sp>
      <p:sp>
        <p:nvSpPr>
          <p:cNvPr id="21" name="Text 19"/>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2" name="Text 20"/>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1079473" y="3693822"/>
            <a:ext cx="2158946" cy="2211531"/>
          </a:xfrm>
          <a:prstGeom prst="rect">
            <a:avLst/>
          </a:prstGeom>
        </p:spPr>
      </p:pic>
      <p:sp>
        <p:nvSpPr>
          <p:cNvPr id="3" name="Text 0"/>
          <p:cNvSpPr/>
          <p:nvPr/>
        </p:nvSpPr>
        <p:spPr>
          <a:xfrm>
            <a:off x="4809963" y="2285983"/>
            <a:ext cx="2571670" cy="182875"/>
          </a:xfrm>
          <a:prstGeom prst="rect">
            <a:avLst/>
          </a:prstGeom>
          <a:noFill/>
          <a:ln/>
        </p:spPr>
        <p:txBody>
          <a:bodyPr wrap="none" lIns="0" tIns="0" rIns="0" bIns="0" rtlCol="0" anchor="t"/>
          <a:lstStyle/>
          <a:p>
            <a:pPr algn="ctr"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05 · ORQUESTACIÓN</a:t>
            </a:r>
            <a:endParaRPr lang="en-US" sz="1200" dirty="0"/>
          </a:p>
        </p:txBody>
      </p:sp>
      <p:sp>
        <p:nvSpPr>
          <p:cNvPr id="4" name="Text 1"/>
          <p:cNvSpPr/>
          <p:nvPr/>
        </p:nvSpPr>
        <p:spPr>
          <a:xfrm>
            <a:off x="397516" y="2727297"/>
            <a:ext cx="11396663" cy="1530312"/>
          </a:xfrm>
          <a:prstGeom prst="rect">
            <a:avLst/>
          </a:prstGeom>
          <a:noFill/>
          <a:ln/>
        </p:spPr>
        <p:txBody>
          <a:bodyPr wrap="none" lIns="0" tIns="0" rIns="0" bIns="0" rtlCol="0" anchor="t"/>
          <a:lstStyle/>
          <a:p>
            <a:pPr algn="ctr" indent="0" marL="0">
              <a:lnSpc>
                <a:spcPts val="7840"/>
              </a:lnSpc>
              <a:buNone/>
            </a:pPr>
            <a:r>
              <a:rPr lang="en-US" sz="8000" spc="40" kern="0" dirty="0">
                <a:solidFill>
                  <a:srgbClr val="FFFFFF"/>
                </a:solidFill>
                <a:latin typeface="Anton" pitchFamily="34" charset="0"/>
                <a:ea typeface="Anton" pitchFamily="34" charset="-122"/>
                <a:cs typeface="Anton" pitchFamily="34" charset="-120"/>
              </a:rPr>
              <a:t>DE UN AGENTE A UNA </a:t>
            </a:r>
            <a:r>
              <a:rPr lang="en-US" sz="8000" spc="40" kern="0" dirty="0">
                <a:solidFill>
                  <a:srgbClr val="1FD3F5"/>
                </a:solidFill>
                <a:latin typeface="Anton" pitchFamily="34" charset="0"/>
                <a:ea typeface="Anton" pitchFamily="34" charset="-122"/>
                <a:cs typeface="Anton" pitchFamily="34" charset="-120"/>
              </a:rPr>
              <a:t>FLOTA</a:t>
            </a:r>
            <a:endParaRPr lang="en-US" sz="8000" dirty="0"/>
          </a:p>
        </p:txBody>
      </p:sp>
      <p:sp>
        <p:nvSpPr>
          <p:cNvPr id="5" name="Text 2"/>
          <p:cNvSpPr/>
          <p:nvPr/>
        </p:nvSpPr>
        <p:spPr>
          <a:xfrm>
            <a:off x="3339699" y="3955971"/>
            <a:ext cx="5512297" cy="320032"/>
          </a:xfrm>
          <a:prstGeom prst="rect">
            <a:avLst/>
          </a:prstGeom>
          <a:noFill/>
          <a:ln/>
        </p:spPr>
        <p:txBody>
          <a:bodyPr wrap="none" lIns="0" tIns="0" rIns="0" bIns="0" rtlCol="0" anchor="t"/>
          <a:lstStyle/>
          <a:p>
            <a:pPr algn="ctr" indent="0" marL="0">
              <a:lnSpc>
                <a:spcPts val="2520"/>
              </a:lnSpc>
              <a:buNone/>
            </a:pPr>
            <a:r>
              <a:rPr lang="en-US" sz="1800" dirty="0">
                <a:solidFill>
                  <a:srgbClr val="C9D6EA"/>
                </a:solidFill>
                <a:latin typeface="Arial" pitchFamily="34" charset="0"/>
                <a:ea typeface="Arial" pitchFamily="34" charset="-122"/>
                <a:cs typeface="Arial" pitchFamily="34" charset="-120"/>
              </a:rPr>
              <a:t>Tú marcas el ritmo, cada agente toca su parte</a:t>
            </a:r>
            <a:endParaRPr lang="en-US" sz="1800" dirty="0"/>
          </a:p>
        </p:txBody>
      </p:sp>
      <p:sp>
        <p:nvSpPr>
          <p:cNvPr id="6" name="Text 3"/>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7" name="Text 4"/>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Equipo trabajando en una mesa con documentos">    </p:cNvPr>
          <p:cNvPicPr>
            <a:picLocks noChangeAspect="1"/>
          </p:cNvPicPr>
          <p:nvPr/>
        </p:nvPicPr>
        <p:blipFill>
          <a:blip r:embed="rId1"/>
          <a:stretch>
            <a:fillRect/>
          </a:stretch>
        </p:blipFill>
        <p:spPr>
          <a:xfrm>
            <a:off x="7683308" y="1269968"/>
            <a:ext cx="3555911" cy="2539937"/>
          </a:xfrm>
          <a:prstGeom prst="rect">
            <a:avLst/>
          </a:prstGeom>
        </p:spPr>
      </p:pic>
      <p:sp>
        <p:nvSpPr>
          <p:cNvPr id="3" name="Text 0"/>
          <p:cNvSpPr/>
          <p:nvPr/>
        </p:nvSpPr>
        <p:spPr>
          <a:xfrm>
            <a:off x="1174721" y="784840"/>
            <a:ext cx="2571670"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05 · ORQUESTACIÓN</a:t>
            </a:r>
            <a:endParaRPr lang="en-US" sz="1200" dirty="0"/>
          </a:p>
        </p:txBody>
      </p:sp>
      <p:sp>
        <p:nvSpPr>
          <p:cNvPr id="4" name="Text 1"/>
          <p:cNvSpPr/>
          <p:nvPr/>
        </p:nvSpPr>
        <p:spPr>
          <a:xfrm>
            <a:off x="952476" y="1231869"/>
            <a:ext cx="5514409"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ORCA: DIRIGE TU FLOTA</a:t>
            </a:r>
            <a:endParaRPr lang="en-US" sz="4600" dirty="0"/>
          </a:p>
        </p:txBody>
      </p:sp>
      <p:sp>
        <p:nvSpPr>
          <p:cNvPr id="5" name="Text 2"/>
          <p:cNvSpPr/>
          <p:nvPr/>
        </p:nvSpPr>
        <p:spPr>
          <a:xfrm>
            <a:off x="952476" y="2158946"/>
            <a:ext cx="1099634" cy="380990"/>
          </a:xfrm>
          <a:prstGeom prst="rect">
            <a:avLst/>
          </a:prstGeom>
          <a:noFill/>
          <a:ln/>
        </p:spPr>
        <p:txBody>
          <a:bodyPr wrap="none" lIns="0" tIns="0" rIns="0" bIns="0" rtlCol="0" anchor="t"/>
          <a:lstStyle/>
          <a:p>
            <a:pPr algn="l" indent="0" marL="0">
              <a:lnSpc>
                <a:spcPts val="2400"/>
              </a:lnSpc>
              <a:buNone/>
            </a:pPr>
            <a:r>
              <a:rPr lang="en-US" sz="2000" dirty="0">
                <a:solidFill>
                  <a:srgbClr val="1FD3F5"/>
                </a:solidFill>
                <a:latin typeface="Anton" pitchFamily="34" charset="0"/>
                <a:ea typeface="Anton" pitchFamily="34" charset="-122"/>
                <a:cs typeface="Anton" pitchFamily="34" charset="-120"/>
              </a:rPr>
              <a:t>PARALELO</a:t>
            </a:r>
            <a:endParaRPr lang="en-US" sz="2000" dirty="0"/>
          </a:p>
        </p:txBody>
      </p:sp>
      <p:sp>
        <p:nvSpPr>
          <p:cNvPr id="6" name="Text 3"/>
          <p:cNvSpPr/>
          <p:nvPr/>
        </p:nvSpPr>
        <p:spPr>
          <a:xfrm>
            <a:off x="2349441" y="2249114"/>
            <a:ext cx="3642221" cy="215895"/>
          </a:xfrm>
          <a:prstGeom prst="rect">
            <a:avLst/>
          </a:prstGeom>
          <a:noFill/>
          <a:ln/>
        </p:spPr>
        <p:txBody>
          <a:bodyPr wrap="none" lIns="0" tIns="0" rIns="0" bIns="0" rtlCol="0" anchor="t"/>
          <a:lstStyle/>
          <a:p>
            <a:pPr algn="l" indent="0" marL="0">
              <a:lnSpc>
                <a:spcPts val="1680"/>
              </a:lnSpc>
              <a:buNone/>
            </a:pPr>
            <a:r>
              <a:rPr lang="en-US" sz="1400" dirty="0">
                <a:solidFill>
                  <a:srgbClr val="FFFFFF"/>
                </a:solidFill>
                <a:latin typeface="Arial" pitchFamily="34" charset="0"/>
                <a:ea typeface="Arial" pitchFamily="34" charset="-122"/>
                <a:cs typeface="Arial" pitchFamily="34" charset="-120"/>
              </a:rPr>
              <a:t>Varios agentes, un worktree cada uno</a:t>
            </a:r>
            <a:endParaRPr lang="en-US" sz="1400" dirty="0"/>
          </a:p>
        </p:txBody>
      </p:sp>
      <p:sp>
        <p:nvSpPr>
          <p:cNvPr id="7" name="Text 4"/>
          <p:cNvSpPr/>
          <p:nvPr/>
        </p:nvSpPr>
        <p:spPr>
          <a:xfrm>
            <a:off x="952476" y="2679633"/>
            <a:ext cx="1002624" cy="380990"/>
          </a:xfrm>
          <a:prstGeom prst="rect">
            <a:avLst/>
          </a:prstGeom>
          <a:noFill/>
          <a:ln/>
        </p:spPr>
        <p:txBody>
          <a:bodyPr wrap="none" lIns="0" tIns="0" rIns="0" bIns="0" rtlCol="0" anchor="t"/>
          <a:lstStyle/>
          <a:p>
            <a:pPr algn="l" indent="0" marL="0">
              <a:lnSpc>
                <a:spcPts val="2400"/>
              </a:lnSpc>
              <a:buNone/>
            </a:pPr>
            <a:r>
              <a:rPr lang="en-US" sz="2000" dirty="0">
                <a:solidFill>
                  <a:srgbClr val="1FD3F5"/>
                </a:solidFill>
                <a:latin typeface="Anton" pitchFamily="34" charset="0"/>
                <a:ea typeface="Anton" pitchFamily="34" charset="-122"/>
                <a:cs typeface="Anton" pitchFamily="34" charset="-120"/>
              </a:rPr>
              <a:t>REVISIÓN</a:t>
            </a:r>
            <a:endParaRPr lang="en-US" sz="2000" dirty="0"/>
          </a:p>
        </p:txBody>
      </p:sp>
      <p:sp>
        <p:nvSpPr>
          <p:cNvPr id="8" name="Text 5"/>
          <p:cNvSpPr/>
          <p:nvPr/>
        </p:nvSpPr>
        <p:spPr>
          <a:xfrm>
            <a:off x="2349441" y="2769801"/>
            <a:ext cx="2605451" cy="215895"/>
          </a:xfrm>
          <a:prstGeom prst="rect">
            <a:avLst/>
          </a:prstGeom>
          <a:noFill/>
          <a:ln/>
        </p:spPr>
        <p:txBody>
          <a:bodyPr wrap="none" lIns="0" tIns="0" rIns="0" bIns="0" rtlCol="0" anchor="t"/>
          <a:lstStyle/>
          <a:p>
            <a:pPr algn="l" indent="0" marL="0">
              <a:lnSpc>
                <a:spcPts val="1680"/>
              </a:lnSpc>
              <a:buNone/>
            </a:pPr>
            <a:r>
              <a:rPr lang="en-US" sz="1400" dirty="0">
                <a:solidFill>
                  <a:srgbClr val="FFFFFF"/>
                </a:solidFill>
                <a:latin typeface="Arial" pitchFamily="34" charset="0"/>
                <a:ea typeface="Arial" pitchFamily="34" charset="-122"/>
                <a:cs typeface="Arial" pitchFamily="34" charset="-120"/>
              </a:rPr>
              <a:t>Diffs anotados línea a línea</a:t>
            </a:r>
            <a:endParaRPr lang="en-US" sz="1400" dirty="0"/>
          </a:p>
        </p:txBody>
      </p:sp>
      <p:sp>
        <p:nvSpPr>
          <p:cNvPr id="9" name="Text 6"/>
          <p:cNvSpPr/>
          <p:nvPr/>
        </p:nvSpPr>
        <p:spPr>
          <a:xfrm>
            <a:off x="952476" y="3200320"/>
            <a:ext cx="737820" cy="380990"/>
          </a:xfrm>
          <a:prstGeom prst="rect">
            <a:avLst/>
          </a:prstGeom>
          <a:noFill/>
          <a:ln/>
        </p:spPr>
        <p:txBody>
          <a:bodyPr wrap="none" lIns="0" tIns="0" rIns="0" bIns="0" rtlCol="0" anchor="t"/>
          <a:lstStyle/>
          <a:p>
            <a:pPr algn="l" indent="0" marL="0">
              <a:lnSpc>
                <a:spcPts val="2400"/>
              </a:lnSpc>
              <a:buNone/>
            </a:pPr>
            <a:r>
              <a:rPr lang="en-US" sz="2000" dirty="0">
                <a:solidFill>
                  <a:srgbClr val="1FD3F5"/>
                </a:solidFill>
                <a:latin typeface="Anton" pitchFamily="34" charset="0"/>
                <a:ea typeface="Anton" pitchFamily="34" charset="-122"/>
                <a:cs typeface="Anton" pitchFamily="34" charset="-120"/>
              </a:rPr>
              <a:t>MÓVIL</a:t>
            </a:r>
            <a:endParaRPr lang="en-US" sz="2000" dirty="0"/>
          </a:p>
        </p:txBody>
      </p:sp>
      <p:sp>
        <p:nvSpPr>
          <p:cNvPr id="10" name="Text 7"/>
          <p:cNvSpPr/>
          <p:nvPr/>
        </p:nvSpPr>
        <p:spPr>
          <a:xfrm>
            <a:off x="2349441" y="3290488"/>
            <a:ext cx="3095389" cy="215895"/>
          </a:xfrm>
          <a:prstGeom prst="rect">
            <a:avLst/>
          </a:prstGeom>
          <a:noFill/>
          <a:ln/>
        </p:spPr>
        <p:txBody>
          <a:bodyPr wrap="none" lIns="0" tIns="0" rIns="0" bIns="0" rtlCol="0" anchor="t"/>
          <a:lstStyle/>
          <a:p>
            <a:pPr algn="l" indent="0" marL="0">
              <a:lnSpc>
                <a:spcPts val="1680"/>
              </a:lnSpc>
              <a:buNone/>
            </a:pPr>
            <a:r>
              <a:rPr lang="en-US" sz="1400" dirty="0">
                <a:solidFill>
                  <a:srgbClr val="FFFFFF"/>
                </a:solidFill>
                <a:latin typeface="Arial" pitchFamily="34" charset="0"/>
                <a:ea typeface="Arial" pitchFamily="34" charset="-122"/>
                <a:cs typeface="Arial" pitchFamily="34" charset="-120"/>
              </a:rPr>
              <a:t>Avisa cuando un agente termina</a:t>
            </a:r>
            <a:endParaRPr lang="en-US" sz="1400" dirty="0"/>
          </a:p>
        </p:txBody>
      </p:sp>
      <p:sp>
        <p:nvSpPr>
          <p:cNvPr id="11" name="Text 8"/>
          <p:cNvSpPr/>
          <p:nvPr/>
        </p:nvSpPr>
        <p:spPr>
          <a:xfrm>
            <a:off x="952476" y="3721007"/>
            <a:ext cx="388674" cy="380990"/>
          </a:xfrm>
          <a:prstGeom prst="rect">
            <a:avLst/>
          </a:prstGeom>
          <a:noFill/>
          <a:ln/>
        </p:spPr>
        <p:txBody>
          <a:bodyPr wrap="none" lIns="0" tIns="0" rIns="0" bIns="0" rtlCol="0" anchor="t"/>
          <a:lstStyle/>
          <a:p>
            <a:pPr algn="l" indent="0" marL="0">
              <a:lnSpc>
                <a:spcPts val="2400"/>
              </a:lnSpc>
              <a:buNone/>
            </a:pPr>
            <a:r>
              <a:rPr lang="en-US" sz="2000" dirty="0">
                <a:solidFill>
                  <a:srgbClr val="1FD3F5"/>
                </a:solidFill>
                <a:latin typeface="Anton" pitchFamily="34" charset="0"/>
                <a:ea typeface="Anton" pitchFamily="34" charset="-122"/>
                <a:cs typeface="Anton" pitchFamily="34" charset="-120"/>
              </a:rPr>
              <a:t>CLI</a:t>
            </a:r>
            <a:endParaRPr lang="en-US" sz="2000" dirty="0"/>
          </a:p>
        </p:txBody>
      </p:sp>
      <p:sp>
        <p:nvSpPr>
          <p:cNvPr id="12" name="Text 9"/>
          <p:cNvSpPr/>
          <p:nvPr/>
        </p:nvSpPr>
        <p:spPr>
          <a:xfrm>
            <a:off x="2349441" y="3811175"/>
            <a:ext cx="2629453" cy="215895"/>
          </a:xfrm>
          <a:prstGeom prst="rect">
            <a:avLst/>
          </a:prstGeom>
          <a:noFill/>
          <a:ln/>
        </p:spPr>
        <p:txBody>
          <a:bodyPr wrap="none" lIns="0" tIns="0" rIns="0" bIns="0" rtlCol="0" anchor="t"/>
          <a:lstStyle/>
          <a:p>
            <a:pPr algn="l" indent="0" marL="0">
              <a:lnSpc>
                <a:spcPts val="1680"/>
              </a:lnSpc>
              <a:buNone/>
            </a:pPr>
            <a:r>
              <a:rPr lang="en-US" sz="1400" dirty="0">
                <a:solidFill>
                  <a:srgbClr val="FFFFFF"/>
                </a:solidFill>
                <a:latin typeface="Arial" pitchFamily="34" charset="0"/>
                <a:ea typeface="Arial" pitchFamily="34" charset="-122"/>
                <a:cs typeface="Arial" pitchFamily="34" charset="-120"/>
              </a:rPr>
              <a:t>Un agente coordina a otros</a:t>
            </a:r>
            <a:endParaRPr lang="en-US" sz="1400" dirty="0"/>
          </a:p>
        </p:txBody>
      </p:sp>
      <p:sp>
        <p:nvSpPr>
          <p:cNvPr id="13" name="Shape 10"/>
          <p:cNvSpPr/>
          <p:nvPr/>
        </p:nvSpPr>
        <p:spPr>
          <a:xfrm>
            <a:off x="952476" y="4343291"/>
            <a:ext cx="3921721" cy="492708"/>
          </a:xfrm>
          <a:prstGeom prst="roundRect">
            <a:avLst>
              <a:gd name="adj" fmla="val 18043"/>
            </a:avLst>
          </a:prstGeom>
          <a:solidFill>
            <a:srgbClr val="010814"/>
          </a:solidFill>
          <a:ln w="12700">
            <a:solidFill>
              <a:srgbClr val="1ED2F5">
                <a:alpha val="40000"/>
              </a:srgbClr>
            </a:solidFill>
            <a:prstDash val="solid"/>
          </a:ln>
        </p:spPr>
      </p:sp>
      <p:sp>
        <p:nvSpPr>
          <p:cNvPr id="14" name="Text 11"/>
          <p:cNvSpPr/>
          <p:nvPr/>
        </p:nvSpPr>
        <p:spPr>
          <a:xfrm>
            <a:off x="1130272" y="4455684"/>
            <a:ext cx="4070264" cy="264153"/>
          </a:xfrm>
          <a:prstGeom prst="rect">
            <a:avLst/>
          </a:prstGeom>
          <a:noFill/>
          <a:ln/>
        </p:spPr>
        <p:txBody>
          <a:bodyPr wrap="none" lIns="0" tIns="0" rIns="0" bIns="0" rtlCol="0" anchor="t"/>
          <a:lstStyle/>
          <a:p>
            <a:pPr algn="l" indent="0" marL="0">
              <a:lnSpc>
                <a:spcPts val="2080"/>
              </a:lnSpc>
              <a:buNone/>
            </a:pPr>
            <a:r>
              <a:rPr lang="en-US" sz="1300" dirty="0">
                <a:solidFill>
                  <a:srgbClr val="D2F21E"/>
                </a:solidFill>
                <a:latin typeface="Share Tech Mono" pitchFamily="34" charset="0"/>
                <a:ea typeface="Share Tech Mono" pitchFamily="34" charset="-122"/>
                <a:cs typeface="Share Tech Mono" pitchFamily="34" charset="-120"/>
              </a:rPr>
              <a:t>$</a:t>
            </a:r>
            <a:r>
              <a:rPr lang="en-US" sz="1300" dirty="0">
                <a:solidFill>
                  <a:srgbClr val="C9D6EA"/>
                </a:solidFill>
                <a:latin typeface="Share Tech Mono" pitchFamily="34" charset="0"/>
                <a:ea typeface="Share Tech Mono" pitchFamily="34" charset="-122"/>
                <a:cs typeface="Share Tech Mono" pitchFamily="34" charset="-120"/>
              </a:rPr>
              <a:t> brew install --cask stablyai/orca/orca</a:t>
            </a:r>
            <a:endParaRPr lang="en-US" sz="1300" dirty="0"/>
          </a:p>
        </p:txBody>
      </p:sp>
      <p:sp>
        <p:nvSpPr>
          <p:cNvPr id="15" name="Shape 12"/>
          <p:cNvSpPr/>
          <p:nvPr/>
        </p:nvSpPr>
        <p:spPr>
          <a:xfrm>
            <a:off x="5064693" y="4443599"/>
            <a:ext cx="1713763" cy="292093"/>
          </a:xfrm>
          <a:prstGeom prst="rect">
            <a:avLst/>
          </a:prstGeom>
          <a:ln w="6350">
            <a:solidFill>
              <a:srgbClr val="D2F21E"/>
            </a:solidFill>
            <a:prstDash val="solid"/>
          </a:ln>
        </p:spPr>
      </p:sp>
      <p:sp>
        <p:nvSpPr>
          <p:cNvPr id="16" name="Text 13"/>
          <p:cNvSpPr/>
          <p:nvPr/>
        </p:nvSpPr>
        <p:spPr>
          <a:xfrm>
            <a:off x="5185340" y="4505828"/>
            <a:ext cx="1725363"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D2F21E"/>
                </a:solidFill>
                <a:latin typeface="Share Tech Mono" pitchFamily="34" charset="0"/>
                <a:ea typeface="Share Tech Mono" pitchFamily="34" charset="-122"/>
                <a:cs typeface="Share Tech Mono" pitchFamily="34" charset="-120"/>
              </a:rPr>
              <a:t>Open source · MIT</a:t>
            </a:r>
            <a:endParaRPr lang="en-US" sz="1100" dirty="0"/>
          </a:p>
        </p:txBody>
      </p:sp>
      <p:sp>
        <p:nvSpPr>
          <p:cNvPr id="17" name="Shape 14"/>
          <p:cNvSpPr/>
          <p:nvPr/>
        </p:nvSpPr>
        <p:spPr>
          <a:xfrm>
            <a:off x="6867353" y="4443599"/>
            <a:ext cx="1713763" cy="292093"/>
          </a:xfrm>
          <a:prstGeom prst="rect">
            <a:avLst/>
          </a:prstGeom>
          <a:ln w="6350">
            <a:solidFill>
              <a:srgbClr val="20D3F5">
                <a:alpha val="50000"/>
              </a:srgbClr>
            </a:solidFill>
            <a:prstDash val="solid"/>
          </a:ln>
        </p:spPr>
      </p:sp>
      <p:sp>
        <p:nvSpPr>
          <p:cNvPr id="18" name="Text 15"/>
          <p:cNvSpPr/>
          <p:nvPr/>
        </p:nvSpPr>
        <p:spPr>
          <a:xfrm>
            <a:off x="6988000" y="4505828"/>
            <a:ext cx="1725363"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Tus suscripciones</a:t>
            </a:r>
            <a:endParaRPr lang="en-US" sz="1100" dirty="0"/>
          </a:p>
        </p:txBody>
      </p:sp>
      <p:sp>
        <p:nvSpPr>
          <p:cNvPr id="19" name="Text 16"/>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0" name="Text 17"/>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143771" y="609585"/>
            <a:ext cx="2095448" cy="1556406"/>
          </a:xfrm>
          <a:prstGeom prst="rect">
            <a:avLst/>
          </a:prstGeom>
        </p:spPr>
      </p:pic>
      <p:sp>
        <p:nvSpPr>
          <p:cNvPr id="3" name="Text 0"/>
          <p:cNvSpPr/>
          <p:nvPr/>
        </p:nvSpPr>
        <p:spPr>
          <a:xfrm>
            <a:off x="1174721" y="784840"/>
            <a:ext cx="1837708"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DEMO EN VIVO</a:t>
            </a:r>
            <a:endParaRPr lang="en-US" sz="1200" dirty="0"/>
          </a:p>
        </p:txBody>
      </p:sp>
      <p:sp>
        <p:nvSpPr>
          <p:cNvPr id="4" name="Text 1"/>
          <p:cNvSpPr/>
          <p:nvPr/>
        </p:nvSpPr>
        <p:spPr>
          <a:xfrm>
            <a:off x="952476" y="1231869"/>
            <a:ext cx="5021470"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¿QUÉ AGENTE GANA?</a:t>
            </a:r>
            <a:endParaRPr lang="en-US" sz="4600" dirty="0"/>
          </a:p>
        </p:txBody>
      </p:sp>
      <p:sp>
        <p:nvSpPr>
          <p:cNvPr id="5" name="Shape 2"/>
          <p:cNvSpPr/>
          <p:nvPr/>
        </p:nvSpPr>
        <p:spPr>
          <a:xfrm>
            <a:off x="952476" y="2247844"/>
            <a:ext cx="3276518" cy="1732911"/>
          </a:xfrm>
          <a:prstGeom prst="rect">
            <a:avLst/>
          </a:prstGeom>
          <a:solidFill>
            <a:srgbClr val="0A285A">
              <a:alpha val="72000"/>
            </a:srgbClr>
          </a:solidFill>
          <a:ln w="12700">
            <a:solidFill>
              <a:srgbClr val="1FD3F4">
                <a:alpha val="45000"/>
              </a:srgbClr>
            </a:solidFill>
            <a:prstDash val="solid"/>
          </a:ln>
        </p:spPr>
      </p:sp>
      <p:sp>
        <p:nvSpPr>
          <p:cNvPr id="6" name="Shape 3"/>
          <p:cNvSpPr/>
          <p:nvPr/>
        </p:nvSpPr>
        <p:spPr>
          <a:xfrm>
            <a:off x="1244569" y="2514537"/>
            <a:ext cx="584185" cy="584185"/>
          </a:xfrm>
          <a:prstGeom prst="roundRect">
            <a:avLst>
              <a:gd name="adj" fmla="val 50000"/>
            </a:avLst>
          </a:prstGeom>
          <a:solidFill>
            <a:srgbClr val="06183A"/>
          </a:solidFill>
          <a:ln/>
        </p:spPr>
      </p:sp>
      <p:sp>
        <p:nvSpPr>
          <p:cNvPr id="7" name="Text 4"/>
          <p:cNvSpPr/>
          <p:nvPr/>
        </p:nvSpPr>
        <p:spPr>
          <a:xfrm>
            <a:off x="1481795" y="2684713"/>
            <a:ext cx="199099"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A</a:t>
            </a:r>
            <a:endParaRPr lang="en-US" sz="1600" dirty="0"/>
          </a:p>
        </p:txBody>
      </p:sp>
      <p:sp>
        <p:nvSpPr>
          <p:cNvPr id="8" name="Text 5"/>
          <p:cNvSpPr/>
          <p:nvPr/>
        </p:nvSpPr>
        <p:spPr>
          <a:xfrm>
            <a:off x="2903068" y="2722812"/>
            <a:ext cx="1234092"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1FD3F5"/>
                </a:solidFill>
                <a:latin typeface="Share Tech Mono" pitchFamily="34" charset="0"/>
                <a:ea typeface="Share Tech Mono" pitchFamily="34" charset="-122"/>
                <a:cs typeface="Share Tech Mono" pitchFamily="34" charset="-120"/>
              </a:rPr>
              <a:t>WORKTREE-A</a:t>
            </a:r>
            <a:endParaRPr lang="en-US" sz="1100" dirty="0"/>
          </a:p>
        </p:txBody>
      </p:sp>
      <p:sp>
        <p:nvSpPr>
          <p:cNvPr id="9" name="Text 6"/>
          <p:cNvSpPr/>
          <p:nvPr/>
        </p:nvSpPr>
        <p:spPr>
          <a:xfrm>
            <a:off x="1244569" y="3232323"/>
            <a:ext cx="1693915" cy="438139"/>
          </a:xfrm>
          <a:prstGeom prst="rect">
            <a:avLst/>
          </a:prstGeom>
          <a:noFill/>
          <a:ln/>
        </p:spPr>
        <p:txBody>
          <a:bodyPr wrap="none" lIns="0" tIns="0" rIns="0" bIns="0" rtlCol="0" anchor="t"/>
          <a:lstStyle/>
          <a:p>
            <a:pPr algn="l" indent="0" marL="0">
              <a:lnSpc>
                <a:spcPts val="2350"/>
              </a:lnSpc>
              <a:buNone/>
            </a:pPr>
            <a:r>
              <a:rPr lang="en-US" sz="2300" spc="20" kern="0" dirty="0">
                <a:solidFill>
                  <a:srgbClr val="FFFFFF"/>
                </a:solidFill>
                <a:latin typeface="Anton" pitchFamily="34" charset="0"/>
                <a:ea typeface="Anton" pitchFamily="34" charset="-122"/>
                <a:cs typeface="Anton" pitchFamily="34" charset="-120"/>
              </a:rPr>
              <a:t>CLAUDE CODE</a:t>
            </a:r>
            <a:endParaRPr lang="en-US" sz="2300" dirty="0"/>
          </a:p>
        </p:txBody>
      </p:sp>
      <p:sp>
        <p:nvSpPr>
          <p:cNvPr id="10" name="Shape 7"/>
          <p:cNvSpPr/>
          <p:nvPr/>
        </p:nvSpPr>
        <p:spPr>
          <a:xfrm>
            <a:off x="1244569" y="3637864"/>
            <a:ext cx="2692333" cy="76198"/>
          </a:xfrm>
          <a:prstGeom prst="rect">
            <a:avLst/>
          </a:prstGeom>
          <a:solidFill>
            <a:srgbClr val="22D0F8">
              <a:alpha val="15000"/>
            </a:srgbClr>
          </a:solidFill>
          <a:ln/>
        </p:spPr>
      </p:sp>
      <p:sp>
        <p:nvSpPr>
          <p:cNvPr id="11" name="Shape 8"/>
          <p:cNvSpPr/>
          <p:nvPr/>
        </p:nvSpPr>
        <p:spPr>
          <a:xfrm>
            <a:off x="1244569" y="3637864"/>
            <a:ext cx="1938388" cy="76198"/>
          </a:xfrm>
          <a:prstGeom prst="rect">
            <a:avLst/>
          </a:prstGeom>
          <a:solidFill>
            <a:srgbClr val="1FD3F5"/>
          </a:solidFill>
          <a:ln/>
        </p:spPr>
      </p:sp>
      <p:sp>
        <p:nvSpPr>
          <p:cNvPr id="12" name="Shape 9"/>
          <p:cNvSpPr/>
          <p:nvPr/>
        </p:nvSpPr>
        <p:spPr>
          <a:xfrm>
            <a:off x="4457589" y="2247844"/>
            <a:ext cx="3276518" cy="1732911"/>
          </a:xfrm>
          <a:prstGeom prst="rect">
            <a:avLst/>
          </a:prstGeom>
          <a:solidFill>
            <a:srgbClr val="0A285A">
              <a:alpha val="72000"/>
            </a:srgbClr>
          </a:solidFill>
          <a:ln w="12700">
            <a:solidFill>
              <a:srgbClr val="1FD3F4">
                <a:alpha val="45000"/>
              </a:srgbClr>
            </a:solidFill>
            <a:prstDash val="solid"/>
          </a:ln>
        </p:spPr>
      </p:sp>
      <p:sp>
        <p:nvSpPr>
          <p:cNvPr id="13" name="Shape 10"/>
          <p:cNvSpPr/>
          <p:nvPr/>
        </p:nvSpPr>
        <p:spPr>
          <a:xfrm>
            <a:off x="4749681" y="2514537"/>
            <a:ext cx="584185" cy="584185"/>
          </a:xfrm>
          <a:prstGeom prst="roundRect">
            <a:avLst>
              <a:gd name="adj" fmla="val 50000"/>
            </a:avLst>
          </a:prstGeom>
          <a:solidFill>
            <a:srgbClr val="06183A"/>
          </a:solidFill>
          <a:ln/>
        </p:spPr>
      </p:sp>
      <p:sp>
        <p:nvSpPr>
          <p:cNvPr id="14" name="Text 11"/>
          <p:cNvSpPr/>
          <p:nvPr/>
        </p:nvSpPr>
        <p:spPr>
          <a:xfrm>
            <a:off x="4986907" y="2684713"/>
            <a:ext cx="199099"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B</a:t>
            </a:r>
            <a:endParaRPr lang="en-US" sz="1600" dirty="0"/>
          </a:p>
        </p:txBody>
      </p:sp>
      <p:sp>
        <p:nvSpPr>
          <p:cNvPr id="15" name="Text 12"/>
          <p:cNvSpPr/>
          <p:nvPr/>
        </p:nvSpPr>
        <p:spPr>
          <a:xfrm>
            <a:off x="6408180" y="2722812"/>
            <a:ext cx="1234092"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1FD3F5"/>
                </a:solidFill>
                <a:latin typeface="Share Tech Mono" pitchFamily="34" charset="0"/>
                <a:ea typeface="Share Tech Mono" pitchFamily="34" charset="-122"/>
                <a:cs typeface="Share Tech Mono" pitchFamily="34" charset="-120"/>
              </a:rPr>
              <a:t>WORKTREE-B</a:t>
            </a:r>
            <a:endParaRPr lang="en-US" sz="1100" dirty="0"/>
          </a:p>
        </p:txBody>
      </p:sp>
      <p:sp>
        <p:nvSpPr>
          <p:cNvPr id="16" name="Text 13"/>
          <p:cNvSpPr/>
          <p:nvPr/>
        </p:nvSpPr>
        <p:spPr>
          <a:xfrm>
            <a:off x="4749681" y="3232323"/>
            <a:ext cx="861165" cy="438139"/>
          </a:xfrm>
          <a:prstGeom prst="rect">
            <a:avLst/>
          </a:prstGeom>
          <a:noFill/>
          <a:ln/>
        </p:spPr>
        <p:txBody>
          <a:bodyPr wrap="none" lIns="0" tIns="0" rIns="0" bIns="0" rtlCol="0" anchor="t"/>
          <a:lstStyle/>
          <a:p>
            <a:pPr algn="l" indent="0" marL="0">
              <a:lnSpc>
                <a:spcPts val="2350"/>
              </a:lnSpc>
              <a:buNone/>
            </a:pPr>
            <a:r>
              <a:rPr lang="en-US" sz="2300" spc="20" kern="0" dirty="0">
                <a:solidFill>
                  <a:srgbClr val="FFFFFF"/>
                </a:solidFill>
                <a:latin typeface="Anton" pitchFamily="34" charset="0"/>
                <a:ea typeface="Anton" pitchFamily="34" charset="-122"/>
                <a:cs typeface="Anton" pitchFamily="34" charset="-120"/>
              </a:rPr>
              <a:t>CODEX</a:t>
            </a:r>
            <a:endParaRPr lang="en-US" sz="2300" dirty="0"/>
          </a:p>
        </p:txBody>
      </p:sp>
      <p:sp>
        <p:nvSpPr>
          <p:cNvPr id="17" name="Shape 14"/>
          <p:cNvSpPr/>
          <p:nvPr/>
        </p:nvSpPr>
        <p:spPr>
          <a:xfrm>
            <a:off x="4749681" y="3637864"/>
            <a:ext cx="2692333" cy="76198"/>
          </a:xfrm>
          <a:prstGeom prst="rect">
            <a:avLst/>
          </a:prstGeom>
          <a:solidFill>
            <a:srgbClr val="22D0F8">
              <a:alpha val="15000"/>
            </a:srgbClr>
          </a:solidFill>
          <a:ln/>
        </p:spPr>
      </p:sp>
      <p:sp>
        <p:nvSpPr>
          <p:cNvPr id="18" name="Shape 15"/>
          <p:cNvSpPr/>
          <p:nvPr/>
        </p:nvSpPr>
        <p:spPr>
          <a:xfrm>
            <a:off x="4749681" y="3637864"/>
            <a:ext cx="2369185" cy="76198"/>
          </a:xfrm>
          <a:prstGeom prst="rect">
            <a:avLst/>
          </a:prstGeom>
          <a:solidFill>
            <a:srgbClr val="1FD3F5"/>
          </a:solidFill>
          <a:ln/>
        </p:spPr>
      </p:sp>
      <p:sp>
        <p:nvSpPr>
          <p:cNvPr id="19" name="Shape 16"/>
          <p:cNvSpPr/>
          <p:nvPr/>
        </p:nvSpPr>
        <p:spPr>
          <a:xfrm>
            <a:off x="7962701" y="2247844"/>
            <a:ext cx="3276518" cy="1732911"/>
          </a:xfrm>
          <a:prstGeom prst="rect">
            <a:avLst/>
          </a:prstGeom>
          <a:solidFill>
            <a:srgbClr val="0A285A">
              <a:alpha val="72000"/>
            </a:srgbClr>
          </a:solidFill>
          <a:ln w="12700">
            <a:solidFill>
              <a:srgbClr val="1FD3F4">
                <a:alpha val="45000"/>
              </a:srgbClr>
            </a:solidFill>
            <a:prstDash val="solid"/>
          </a:ln>
        </p:spPr>
      </p:sp>
      <p:sp>
        <p:nvSpPr>
          <p:cNvPr id="20" name="Shape 17"/>
          <p:cNvSpPr/>
          <p:nvPr/>
        </p:nvSpPr>
        <p:spPr>
          <a:xfrm>
            <a:off x="8254794" y="2514537"/>
            <a:ext cx="584185" cy="584185"/>
          </a:xfrm>
          <a:prstGeom prst="roundRect">
            <a:avLst>
              <a:gd name="adj" fmla="val 50000"/>
            </a:avLst>
          </a:prstGeom>
          <a:solidFill>
            <a:srgbClr val="06183A"/>
          </a:solidFill>
          <a:ln/>
        </p:spPr>
      </p:sp>
      <p:sp>
        <p:nvSpPr>
          <p:cNvPr id="21" name="Text 18"/>
          <p:cNvSpPr/>
          <p:nvPr/>
        </p:nvSpPr>
        <p:spPr>
          <a:xfrm>
            <a:off x="8492020" y="2684713"/>
            <a:ext cx="199099"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C</a:t>
            </a:r>
            <a:endParaRPr lang="en-US" sz="1600" dirty="0"/>
          </a:p>
        </p:txBody>
      </p:sp>
      <p:sp>
        <p:nvSpPr>
          <p:cNvPr id="22" name="Text 19"/>
          <p:cNvSpPr/>
          <p:nvPr/>
        </p:nvSpPr>
        <p:spPr>
          <a:xfrm>
            <a:off x="9913293" y="2722812"/>
            <a:ext cx="1234092"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1FD3F5"/>
                </a:solidFill>
                <a:latin typeface="Share Tech Mono" pitchFamily="34" charset="0"/>
                <a:ea typeface="Share Tech Mono" pitchFamily="34" charset="-122"/>
                <a:cs typeface="Share Tech Mono" pitchFamily="34" charset="-120"/>
              </a:rPr>
              <a:t>WORKTREE-C</a:t>
            </a:r>
            <a:endParaRPr lang="en-US" sz="1100" dirty="0"/>
          </a:p>
        </p:txBody>
      </p:sp>
      <p:sp>
        <p:nvSpPr>
          <p:cNvPr id="23" name="Text 20"/>
          <p:cNvSpPr/>
          <p:nvPr/>
        </p:nvSpPr>
        <p:spPr>
          <a:xfrm>
            <a:off x="8254794" y="3232323"/>
            <a:ext cx="1393441" cy="438139"/>
          </a:xfrm>
          <a:prstGeom prst="rect">
            <a:avLst/>
          </a:prstGeom>
          <a:noFill/>
          <a:ln/>
        </p:spPr>
        <p:txBody>
          <a:bodyPr wrap="none" lIns="0" tIns="0" rIns="0" bIns="0" rtlCol="0" anchor="t"/>
          <a:lstStyle/>
          <a:p>
            <a:pPr algn="l" indent="0" marL="0">
              <a:lnSpc>
                <a:spcPts val="2350"/>
              </a:lnSpc>
              <a:buNone/>
            </a:pPr>
            <a:r>
              <a:rPr lang="en-US" sz="2300" spc="20" kern="0" dirty="0">
                <a:solidFill>
                  <a:srgbClr val="FFFFFF"/>
                </a:solidFill>
                <a:latin typeface="Anton" pitchFamily="34" charset="0"/>
                <a:ea typeface="Anton" pitchFamily="34" charset="-122"/>
                <a:cs typeface="Anton" pitchFamily="34" charset="-120"/>
              </a:rPr>
              <a:t>GEMINI CLI</a:t>
            </a:r>
            <a:endParaRPr lang="en-US" sz="2300" dirty="0"/>
          </a:p>
        </p:txBody>
      </p:sp>
      <p:sp>
        <p:nvSpPr>
          <p:cNvPr id="24" name="Shape 21"/>
          <p:cNvSpPr/>
          <p:nvPr/>
        </p:nvSpPr>
        <p:spPr>
          <a:xfrm>
            <a:off x="8254794" y="3637864"/>
            <a:ext cx="2692333" cy="76198"/>
          </a:xfrm>
          <a:prstGeom prst="rect">
            <a:avLst/>
          </a:prstGeom>
          <a:solidFill>
            <a:srgbClr val="22D0F8">
              <a:alpha val="15000"/>
            </a:srgbClr>
          </a:solidFill>
          <a:ln/>
        </p:spPr>
      </p:sp>
      <p:sp>
        <p:nvSpPr>
          <p:cNvPr id="25" name="Shape 22"/>
          <p:cNvSpPr/>
          <p:nvPr/>
        </p:nvSpPr>
        <p:spPr>
          <a:xfrm>
            <a:off x="8254794" y="3637864"/>
            <a:ext cx="1453816" cy="76198"/>
          </a:xfrm>
          <a:prstGeom prst="rect">
            <a:avLst/>
          </a:prstGeom>
          <a:solidFill>
            <a:srgbClr val="1FD3F5"/>
          </a:solidFill>
          <a:ln/>
        </p:spPr>
      </p:sp>
      <p:sp>
        <p:nvSpPr>
          <p:cNvPr id="26" name="Text 23"/>
          <p:cNvSpPr/>
          <p:nvPr/>
        </p:nvSpPr>
        <p:spPr>
          <a:xfrm>
            <a:off x="952476" y="4336346"/>
            <a:ext cx="5273607" cy="266693"/>
          </a:xfrm>
          <a:prstGeom prst="rect">
            <a:avLst/>
          </a:prstGeom>
          <a:noFill/>
          <a:ln/>
        </p:spPr>
        <p:txBody>
          <a:bodyPr wrap="none" lIns="0" tIns="0" rIns="0" bIns="0" rtlCol="0" anchor="t"/>
          <a:lstStyle/>
          <a:p>
            <a:pPr algn="l" indent="0" marL="0">
              <a:lnSpc>
                <a:spcPts val="2100"/>
              </a:lnSpc>
              <a:buNone/>
            </a:pPr>
            <a:r>
              <a:rPr lang="en-US" sz="1500" b="1" spc="60" kern="0" dirty="0">
                <a:solidFill>
                  <a:srgbClr val="D2F21E"/>
                </a:solidFill>
                <a:latin typeface="Share Tech Mono" pitchFamily="34" charset="0"/>
                <a:ea typeface="Share Tech Mono" pitchFamily="34" charset="-122"/>
                <a:cs typeface="Share Tech Mono" pitchFamily="34" charset="-120"/>
              </a:rPr>
              <a:t>Votamos, comparamos diffs, merge del mejor</a:t>
            </a:r>
            <a:endParaRPr lang="en-US" sz="1500" dirty="0"/>
          </a:p>
        </p:txBody>
      </p:sp>
      <p:sp>
        <p:nvSpPr>
          <p:cNvPr id="27" name="Text 24"/>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8" name="Text 25"/>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1174721" y="784840"/>
            <a:ext cx="2571670"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05 · ORQUESTACIÓN</a:t>
            </a:r>
            <a:endParaRPr lang="en-US" sz="1200" dirty="0"/>
          </a:p>
        </p:txBody>
      </p:sp>
      <p:sp>
        <p:nvSpPr>
          <p:cNvPr id="3" name="Text 1"/>
          <p:cNvSpPr/>
          <p:nvPr/>
        </p:nvSpPr>
        <p:spPr>
          <a:xfrm>
            <a:off x="952476" y="1231869"/>
            <a:ext cx="6103579"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NO ES SOLO PARALELIZAR</a:t>
            </a:r>
            <a:endParaRPr lang="en-US" sz="4600" dirty="0"/>
          </a:p>
        </p:txBody>
      </p:sp>
      <p:pic>
        <p:nvPicPr>
          <p:cNvPr id="4" name="Image 0" descr="preencoded.png">    </p:cNvPr>
          <p:cNvPicPr>
            <a:picLocks noChangeAspect="1"/>
          </p:cNvPicPr>
          <p:nvPr/>
        </p:nvPicPr>
        <p:blipFill>
          <a:blip r:embed="rId1"/>
          <a:stretch>
            <a:fillRect/>
          </a:stretch>
        </p:blipFill>
        <p:spPr>
          <a:xfrm>
            <a:off x="952476" y="2120847"/>
            <a:ext cx="10286743" cy="2158946"/>
          </a:xfrm>
          <a:prstGeom prst="rect">
            <a:avLst/>
          </a:prstGeom>
        </p:spPr>
      </p:pic>
      <p:sp>
        <p:nvSpPr>
          <p:cNvPr id="5" name="Shape 2"/>
          <p:cNvSpPr/>
          <p:nvPr/>
        </p:nvSpPr>
        <p:spPr>
          <a:xfrm>
            <a:off x="952476" y="2914577"/>
            <a:ext cx="1587460" cy="537951"/>
          </a:xfrm>
          <a:prstGeom prst="rect">
            <a:avLst/>
          </a:prstGeom>
          <a:solidFill>
            <a:srgbClr val="0A285A">
              <a:alpha val="72000"/>
            </a:srgbClr>
          </a:solidFill>
          <a:ln w="12700">
            <a:solidFill>
              <a:srgbClr val="1FD3F4">
                <a:alpha val="45000"/>
              </a:srgbClr>
            </a:solidFill>
            <a:prstDash val="solid"/>
          </a:ln>
        </p:spPr>
      </p:sp>
      <p:sp>
        <p:nvSpPr>
          <p:cNvPr id="6" name="Text 3"/>
          <p:cNvSpPr/>
          <p:nvPr/>
        </p:nvSpPr>
        <p:spPr>
          <a:xfrm>
            <a:off x="1313629" y="3064687"/>
            <a:ext cx="865055" cy="342891"/>
          </a:xfrm>
          <a:prstGeom prst="rect">
            <a:avLst/>
          </a:prstGeom>
          <a:noFill/>
          <a:ln/>
        </p:spPr>
        <p:txBody>
          <a:bodyPr wrap="none" lIns="0" tIns="0" rIns="0" bIns="0" rtlCol="0" anchor="t"/>
          <a:lstStyle/>
          <a:p>
            <a:pPr algn="ctr" indent="0" marL="0">
              <a:lnSpc>
                <a:spcPts val="1840"/>
              </a:lnSpc>
              <a:buNone/>
            </a:pPr>
            <a:r>
              <a:rPr lang="en-US" sz="1800" spc="20" kern="0" dirty="0">
                <a:solidFill>
                  <a:srgbClr val="FFFFFF"/>
                </a:solidFill>
                <a:latin typeface="Anton" pitchFamily="34" charset="0"/>
                <a:ea typeface="Anton" pitchFamily="34" charset="-122"/>
                <a:cs typeface="Anton" pitchFamily="34" charset="-120"/>
              </a:rPr>
              <a:t>MODELO</a:t>
            </a:r>
            <a:endParaRPr lang="en-US" sz="1800" dirty="0"/>
          </a:p>
        </p:txBody>
      </p:sp>
      <p:sp>
        <p:nvSpPr>
          <p:cNvPr id="7" name="Shape 4"/>
          <p:cNvSpPr/>
          <p:nvPr/>
        </p:nvSpPr>
        <p:spPr>
          <a:xfrm>
            <a:off x="3047924" y="2914577"/>
            <a:ext cx="1587460" cy="537951"/>
          </a:xfrm>
          <a:prstGeom prst="rect">
            <a:avLst/>
          </a:prstGeom>
          <a:solidFill>
            <a:srgbClr val="0A285A">
              <a:alpha val="72000"/>
            </a:srgbClr>
          </a:solidFill>
          <a:ln w="12700">
            <a:solidFill>
              <a:srgbClr val="1FD3F4">
                <a:alpha val="45000"/>
              </a:srgbClr>
            </a:solidFill>
            <a:prstDash val="solid"/>
          </a:ln>
        </p:spPr>
      </p:sp>
      <p:sp>
        <p:nvSpPr>
          <p:cNvPr id="8" name="Text 5"/>
          <p:cNvSpPr/>
          <p:nvPr/>
        </p:nvSpPr>
        <p:spPr>
          <a:xfrm>
            <a:off x="3648095" y="3064687"/>
            <a:ext cx="387118" cy="342891"/>
          </a:xfrm>
          <a:prstGeom prst="rect">
            <a:avLst/>
          </a:prstGeom>
          <a:noFill/>
          <a:ln/>
        </p:spPr>
        <p:txBody>
          <a:bodyPr wrap="none" lIns="0" tIns="0" rIns="0" bIns="0" rtlCol="0" anchor="t"/>
          <a:lstStyle/>
          <a:p>
            <a:pPr algn="ctr" indent="0" marL="0">
              <a:lnSpc>
                <a:spcPts val="1840"/>
              </a:lnSpc>
              <a:buNone/>
            </a:pPr>
            <a:r>
              <a:rPr lang="en-US" sz="1800" spc="20" kern="0" dirty="0">
                <a:solidFill>
                  <a:srgbClr val="FFFFFF"/>
                </a:solidFill>
                <a:latin typeface="Anton" pitchFamily="34" charset="0"/>
                <a:ea typeface="Anton" pitchFamily="34" charset="-122"/>
                <a:cs typeface="Anton" pitchFamily="34" charset="-120"/>
              </a:rPr>
              <a:t>API</a:t>
            </a:r>
            <a:endParaRPr lang="en-US" sz="1800" dirty="0"/>
          </a:p>
        </p:txBody>
      </p:sp>
      <p:sp>
        <p:nvSpPr>
          <p:cNvPr id="9" name="Shape 6"/>
          <p:cNvSpPr/>
          <p:nvPr/>
        </p:nvSpPr>
        <p:spPr>
          <a:xfrm>
            <a:off x="5143371" y="2279593"/>
            <a:ext cx="1587460" cy="537951"/>
          </a:xfrm>
          <a:prstGeom prst="rect">
            <a:avLst/>
          </a:prstGeom>
          <a:solidFill>
            <a:srgbClr val="0A285A">
              <a:alpha val="72000"/>
            </a:srgbClr>
          </a:solidFill>
          <a:ln w="12700">
            <a:solidFill>
              <a:srgbClr val="1FD3F4">
                <a:alpha val="45000"/>
              </a:srgbClr>
            </a:solidFill>
            <a:prstDash val="solid"/>
          </a:ln>
        </p:spPr>
      </p:sp>
      <p:sp>
        <p:nvSpPr>
          <p:cNvPr id="10" name="Text 7"/>
          <p:cNvSpPr/>
          <p:nvPr/>
        </p:nvSpPr>
        <p:spPr>
          <a:xfrm>
            <a:off x="5806771" y="2429703"/>
            <a:ext cx="260661" cy="342891"/>
          </a:xfrm>
          <a:prstGeom prst="rect">
            <a:avLst/>
          </a:prstGeom>
          <a:noFill/>
          <a:ln/>
        </p:spPr>
        <p:txBody>
          <a:bodyPr wrap="none" lIns="0" tIns="0" rIns="0" bIns="0" rtlCol="0" anchor="t"/>
          <a:lstStyle/>
          <a:p>
            <a:pPr algn="ctr" indent="0" marL="0">
              <a:lnSpc>
                <a:spcPts val="1840"/>
              </a:lnSpc>
              <a:buNone/>
            </a:pPr>
            <a:r>
              <a:rPr lang="en-US" sz="1800" spc="20" kern="0" dirty="0">
                <a:solidFill>
                  <a:srgbClr val="FFFFFF"/>
                </a:solidFill>
                <a:latin typeface="Anton" pitchFamily="34" charset="0"/>
                <a:ea typeface="Anton" pitchFamily="34" charset="-122"/>
                <a:cs typeface="Anton" pitchFamily="34" charset="-120"/>
              </a:rPr>
              <a:t>UI</a:t>
            </a:r>
            <a:endParaRPr lang="en-US" sz="1800" dirty="0"/>
          </a:p>
        </p:txBody>
      </p:sp>
      <p:sp>
        <p:nvSpPr>
          <p:cNvPr id="11" name="Shape 8"/>
          <p:cNvSpPr/>
          <p:nvPr/>
        </p:nvSpPr>
        <p:spPr>
          <a:xfrm>
            <a:off x="5143371" y="3549561"/>
            <a:ext cx="1587460" cy="537951"/>
          </a:xfrm>
          <a:prstGeom prst="rect">
            <a:avLst/>
          </a:prstGeom>
          <a:solidFill>
            <a:srgbClr val="0A285A">
              <a:alpha val="72000"/>
            </a:srgbClr>
          </a:solidFill>
          <a:ln w="12700">
            <a:solidFill>
              <a:srgbClr val="1FD3F4">
                <a:alpha val="45000"/>
              </a:srgbClr>
            </a:solidFill>
            <a:prstDash val="solid"/>
          </a:ln>
        </p:spPr>
      </p:sp>
      <p:sp>
        <p:nvSpPr>
          <p:cNvPr id="12" name="Text 9"/>
          <p:cNvSpPr/>
          <p:nvPr/>
        </p:nvSpPr>
        <p:spPr>
          <a:xfrm>
            <a:off x="5472744" y="3699672"/>
            <a:ext cx="928617" cy="342891"/>
          </a:xfrm>
          <a:prstGeom prst="rect">
            <a:avLst/>
          </a:prstGeom>
          <a:noFill/>
          <a:ln/>
        </p:spPr>
        <p:txBody>
          <a:bodyPr wrap="none" lIns="0" tIns="0" rIns="0" bIns="0" rtlCol="0" anchor="t"/>
          <a:lstStyle/>
          <a:p>
            <a:pPr algn="ctr" indent="0" marL="0">
              <a:lnSpc>
                <a:spcPts val="1840"/>
              </a:lnSpc>
              <a:buNone/>
            </a:pPr>
            <a:r>
              <a:rPr lang="en-US" sz="1800" spc="20" kern="0" dirty="0">
                <a:solidFill>
                  <a:srgbClr val="FFFFFF"/>
                </a:solidFill>
                <a:latin typeface="Anton" pitchFamily="34" charset="0"/>
                <a:ea typeface="Anton" pitchFamily="34" charset="-122"/>
                <a:cs typeface="Anton" pitchFamily="34" charset="-120"/>
              </a:rPr>
              <a:t>PRUEBAS</a:t>
            </a:r>
            <a:endParaRPr lang="en-US" sz="1800" dirty="0"/>
          </a:p>
        </p:txBody>
      </p:sp>
      <p:sp>
        <p:nvSpPr>
          <p:cNvPr id="13" name="Shape 10"/>
          <p:cNvSpPr/>
          <p:nvPr/>
        </p:nvSpPr>
        <p:spPr>
          <a:xfrm>
            <a:off x="7238819" y="2914577"/>
            <a:ext cx="1587460" cy="537951"/>
          </a:xfrm>
          <a:prstGeom prst="rect">
            <a:avLst/>
          </a:prstGeom>
          <a:solidFill>
            <a:srgbClr val="0A285A">
              <a:alpha val="72000"/>
            </a:srgbClr>
          </a:solidFill>
          <a:ln w="12700">
            <a:solidFill>
              <a:srgbClr val="FF4B3A">
                <a:alpha val="55000"/>
              </a:srgbClr>
            </a:solidFill>
            <a:prstDash val="solid"/>
          </a:ln>
        </p:spPr>
      </p:sp>
      <p:sp>
        <p:nvSpPr>
          <p:cNvPr id="14" name="Text 11"/>
          <p:cNvSpPr/>
          <p:nvPr/>
        </p:nvSpPr>
        <p:spPr>
          <a:xfrm>
            <a:off x="7418510" y="3064687"/>
            <a:ext cx="1227980" cy="342891"/>
          </a:xfrm>
          <a:prstGeom prst="rect">
            <a:avLst/>
          </a:prstGeom>
          <a:noFill/>
          <a:ln/>
        </p:spPr>
        <p:txBody>
          <a:bodyPr wrap="none" lIns="0" tIns="0" rIns="0" bIns="0" rtlCol="0" anchor="t"/>
          <a:lstStyle/>
          <a:p>
            <a:pPr algn="ctr" indent="0" marL="0">
              <a:lnSpc>
                <a:spcPts val="1840"/>
              </a:lnSpc>
              <a:buNone/>
            </a:pPr>
            <a:r>
              <a:rPr lang="en-US" sz="1800" spc="20" kern="0" dirty="0">
                <a:solidFill>
                  <a:srgbClr val="FFFFFF"/>
                </a:solidFill>
                <a:latin typeface="Anton" pitchFamily="34" charset="0"/>
                <a:ea typeface="Anton" pitchFamily="34" charset="-122"/>
                <a:cs typeface="Anton" pitchFamily="34" charset="-120"/>
              </a:rPr>
              <a:t>COMPUERTA</a:t>
            </a:r>
            <a:endParaRPr lang="en-US" sz="1800" dirty="0"/>
          </a:p>
        </p:txBody>
      </p:sp>
      <p:sp>
        <p:nvSpPr>
          <p:cNvPr id="15" name="Shape 12"/>
          <p:cNvSpPr/>
          <p:nvPr/>
        </p:nvSpPr>
        <p:spPr>
          <a:xfrm>
            <a:off x="9334267" y="2914577"/>
            <a:ext cx="1587460" cy="537951"/>
          </a:xfrm>
          <a:prstGeom prst="rect">
            <a:avLst/>
          </a:prstGeom>
          <a:solidFill>
            <a:srgbClr val="0A285A">
              <a:alpha val="72000"/>
            </a:srgbClr>
          </a:solidFill>
          <a:ln w="12700">
            <a:solidFill>
              <a:srgbClr val="D1F21D">
                <a:alpha val="55000"/>
              </a:srgbClr>
            </a:solidFill>
            <a:prstDash val="solid"/>
          </a:ln>
        </p:spPr>
      </p:sp>
      <p:sp>
        <p:nvSpPr>
          <p:cNvPr id="16" name="Text 13"/>
          <p:cNvSpPr/>
          <p:nvPr/>
        </p:nvSpPr>
        <p:spPr>
          <a:xfrm>
            <a:off x="9759426" y="3064687"/>
            <a:ext cx="737042" cy="342891"/>
          </a:xfrm>
          <a:prstGeom prst="rect">
            <a:avLst/>
          </a:prstGeom>
          <a:noFill/>
          <a:ln/>
        </p:spPr>
        <p:txBody>
          <a:bodyPr wrap="none" lIns="0" tIns="0" rIns="0" bIns="0" rtlCol="0" anchor="t"/>
          <a:lstStyle/>
          <a:p>
            <a:pPr algn="ctr" indent="0" marL="0">
              <a:lnSpc>
                <a:spcPts val="1840"/>
              </a:lnSpc>
              <a:buNone/>
            </a:pPr>
            <a:r>
              <a:rPr lang="en-US" sz="1800" spc="20" kern="0" dirty="0">
                <a:solidFill>
                  <a:srgbClr val="FFFFFF"/>
                </a:solidFill>
                <a:latin typeface="Anton" pitchFamily="34" charset="0"/>
                <a:ea typeface="Anton" pitchFamily="34" charset="-122"/>
                <a:cs typeface="Anton" pitchFamily="34" charset="-120"/>
              </a:rPr>
              <a:t>MERGE</a:t>
            </a:r>
            <a:endParaRPr lang="en-US" sz="1800" dirty="0"/>
          </a:p>
        </p:txBody>
      </p:sp>
      <p:sp>
        <p:nvSpPr>
          <p:cNvPr id="17" name="Shape 14"/>
          <p:cNvSpPr/>
          <p:nvPr/>
        </p:nvSpPr>
        <p:spPr>
          <a:xfrm>
            <a:off x="952476" y="4533787"/>
            <a:ext cx="1194068" cy="292093"/>
          </a:xfrm>
          <a:prstGeom prst="rect">
            <a:avLst/>
          </a:prstGeom>
          <a:ln w="6350">
            <a:solidFill>
              <a:srgbClr val="20D3F5">
                <a:alpha val="50000"/>
              </a:srgbClr>
            </a:solidFill>
            <a:prstDash val="solid"/>
          </a:ln>
        </p:spPr>
      </p:sp>
      <p:sp>
        <p:nvSpPr>
          <p:cNvPr id="18" name="Text 15"/>
          <p:cNvSpPr/>
          <p:nvPr/>
        </p:nvSpPr>
        <p:spPr>
          <a:xfrm>
            <a:off x="1073123" y="4596015"/>
            <a:ext cx="1143305"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task-create</a:t>
            </a:r>
            <a:endParaRPr lang="en-US" sz="1100" dirty="0"/>
          </a:p>
        </p:txBody>
      </p:sp>
      <p:sp>
        <p:nvSpPr>
          <p:cNvPr id="19" name="Shape 16"/>
          <p:cNvSpPr/>
          <p:nvPr/>
        </p:nvSpPr>
        <p:spPr>
          <a:xfrm>
            <a:off x="2235442" y="4533787"/>
            <a:ext cx="934220" cy="292093"/>
          </a:xfrm>
          <a:prstGeom prst="rect">
            <a:avLst/>
          </a:prstGeom>
          <a:ln w="6350">
            <a:solidFill>
              <a:srgbClr val="20D3F5">
                <a:alpha val="50000"/>
              </a:srgbClr>
            </a:solidFill>
            <a:prstDash val="solid"/>
          </a:ln>
        </p:spPr>
      </p:sp>
      <p:sp>
        <p:nvSpPr>
          <p:cNvPr id="20" name="Text 17"/>
          <p:cNvSpPr/>
          <p:nvPr/>
        </p:nvSpPr>
        <p:spPr>
          <a:xfrm>
            <a:off x="2356089" y="4596015"/>
            <a:ext cx="852276"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dispatch</a:t>
            </a:r>
            <a:endParaRPr lang="en-US" sz="1100" dirty="0"/>
          </a:p>
        </p:txBody>
      </p:sp>
      <p:sp>
        <p:nvSpPr>
          <p:cNvPr id="21" name="Shape 18"/>
          <p:cNvSpPr/>
          <p:nvPr/>
        </p:nvSpPr>
        <p:spPr>
          <a:xfrm>
            <a:off x="3258560" y="4533787"/>
            <a:ext cx="1194068" cy="292093"/>
          </a:xfrm>
          <a:prstGeom prst="rect">
            <a:avLst/>
          </a:prstGeom>
          <a:ln w="6350">
            <a:solidFill>
              <a:srgbClr val="20D3F5">
                <a:alpha val="50000"/>
              </a:srgbClr>
            </a:solidFill>
            <a:prstDash val="solid"/>
          </a:ln>
        </p:spPr>
      </p:sp>
      <p:sp>
        <p:nvSpPr>
          <p:cNvPr id="22" name="Text 19"/>
          <p:cNvSpPr/>
          <p:nvPr/>
        </p:nvSpPr>
        <p:spPr>
          <a:xfrm>
            <a:off x="3379207" y="4596015"/>
            <a:ext cx="1143305"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ask · reply</a:t>
            </a:r>
            <a:endParaRPr lang="en-US" sz="1100" dirty="0"/>
          </a:p>
        </p:txBody>
      </p:sp>
      <p:sp>
        <p:nvSpPr>
          <p:cNvPr id="23" name="Shape 20"/>
          <p:cNvSpPr/>
          <p:nvPr/>
        </p:nvSpPr>
        <p:spPr>
          <a:xfrm>
            <a:off x="4541526" y="4533787"/>
            <a:ext cx="1194068" cy="292093"/>
          </a:xfrm>
          <a:prstGeom prst="rect">
            <a:avLst/>
          </a:prstGeom>
          <a:ln w="6350">
            <a:solidFill>
              <a:srgbClr val="D2F21E"/>
            </a:solidFill>
            <a:prstDash val="solid"/>
          </a:ln>
        </p:spPr>
      </p:sp>
      <p:sp>
        <p:nvSpPr>
          <p:cNvPr id="24" name="Text 21"/>
          <p:cNvSpPr/>
          <p:nvPr/>
        </p:nvSpPr>
        <p:spPr>
          <a:xfrm>
            <a:off x="4662173" y="4596015"/>
            <a:ext cx="1143305"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D2F21E"/>
                </a:solidFill>
                <a:latin typeface="Share Tech Mono" pitchFamily="34" charset="0"/>
                <a:ea typeface="Share Tech Mono" pitchFamily="34" charset="-122"/>
                <a:cs typeface="Share Tech Mono" pitchFamily="34" charset="-120"/>
              </a:rPr>
              <a:t>gate-create</a:t>
            </a:r>
            <a:endParaRPr lang="en-US" sz="1100" dirty="0"/>
          </a:p>
        </p:txBody>
      </p:sp>
      <p:sp>
        <p:nvSpPr>
          <p:cNvPr id="25" name="Shape 22"/>
          <p:cNvSpPr/>
          <p:nvPr/>
        </p:nvSpPr>
        <p:spPr>
          <a:xfrm>
            <a:off x="5824491" y="4533787"/>
            <a:ext cx="501141" cy="292093"/>
          </a:xfrm>
          <a:prstGeom prst="rect">
            <a:avLst/>
          </a:prstGeom>
          <a:ln w="6350">
            <a:solidFill>
              <a:srgbClr val="20D3F5">
                <a:alpha val="50000"/>
              </a:srgbClr>
            </a:solidFill>
            <a:prstDash val="solid"/>
          </a:ln>
        </p:spPr>
      </p:sp>
      <p:sp>
        <p:nvSpPr>
          <p:cNvPr id="26" name="Text 23"/>
          <p:cNvSpPr/>
          <p:nvPr/>
        </p:nvSpPr>
        <p:spPr>
          <a:xfrm>
            <a:off x="5945138" y="4596015"/>
            <a:ext cx="367227" cy="167636"/>
          </a:xfrm>
          <a:prstGeom prst="rect">
            <a:avLst/>
          </a:prstGeom>
          <a:noFill/>
          <a:ln/>
        </p:spPr>
        <p:txBody>
          <a:bodyPr wrap="none" lIns="0" tIns="0" rIns="0" bIns="0" rtlCol="0" anchor="t"/>
          <a:lstStyle/>
          <a:p>
            <a:pPr algn="l" indent="0" marL="0">
              <a:lnSpc>
                <a:spcPts val="1320"/>
              </a:lnSpc>
              <a:buNone/>
            </a:pPr>
            <a:r>
              <a:rPr lang="en-US" sz="1100" spc="90" kern="0" dirty="0">
                <a:solidFill>
                  <a:srgbClr val="C9D6EA"/>
                </a:solidFill>
                <a:latin typeface="Share Tech Mono" pitchFamily="34" charset="0"/>
                <a:ea typeface="Share Tech Mono" pitchFamily="34" charset="-122"/>
                <a:cs typeface="Share Tech Mono" pitchFamily="34" charset="-120"/>
              </a:rPr>
              <a:t>run</a:t>
            </a:r>
            <a:endParaRPr lang="en-US" sz="1100" dirty="0"/>
          </a:p>
        </p:txBody>
      </p:sp>
      <p:sp>
        <p:nvSpPr>
          <p:cNvPr id="27" name="Text 24"/>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8" name="Text 25"/>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080273" y="3626851"/>
            <a:ext cx="2158946" cy="2215003"/>
          </a:xfrm>
          <a:prstGeom prst="rect">
            <a:avLst/>
          </a:prstGeom>
        </p:spPr>
      </p:pic>
      <p:sp>
        <p:nvSpPr>
          <p:cNvPr id="3" name="Shape 0"/>
          <p:cNvSpPr/>
          <p:nvPr/>
        </p:nvSpPr>
        <p:spPr>
          <a:xfrm>
            <a:off x="952476" y="4132854"/>
            <a:ext cx="8254794" cy="12700"/>
          </a:xfrm>
          <a:prstGeom prst="rect">
            <a:avLst/>
          </a:prstGeom>
          <a:solidFill>
            <a:srgbClr val="20D3F5">
              <a:alpha val="50000"/>
            </a:srgbClr>
          </a:solidFill>
          <a:ln/>
        </p:spPr>
      </p:sp>
      <p:sp>
        <p:nvSpPr>
          <p:cNvPr id="4" name="Text 1"/>
          <p:cNvSpPr/>
          <p:nvPr/>
        </p:nvSpPr>
        <p:spPr>
          <a:xfrm>
            <a:off x="1714457" y="2495238"/>
            <a:ext cx="7717597" cy="1361148"/>
          </a:xfrm>
          <a:prstGeom prst="rect">
            <a:avLst/>
          </a:prstGeom>
          <a:noFill/>
          <a:ln/>
        </p:spPr>
        <p:txBody>
          <a:bodyPr wrap="square" lIns="0" tIns="0" rIns="0" bIns="0" rtlCol="0" anchor="t"/>
          <a:lstStyle/>
          <a:p>
            <a:pPr algn="l" indent="0" marL="0">
              <a:lnSpc>
                <a:spcPts val="4370"/>
              </a:lnSpc>
              <a:buNone/>
            </a:pPr>
            <a:r>
              <a:rPr lang="en-US" sz="4200" dirty="0">
                <a:solidFill>
                  <a:srgbClr val="FFFFFF"/>
                </a:solidFill>
                <a:latin typeface="Anton" pitchFamily="34" charset="0"/>
                <a:ea typeface="Anton" pitchFamily="34" charset="-122"/>
                <a:cs typeface="Anton" pitchFamily="34" charset="-120"/>
              </a:rPr>
              <a:t>PARALELIZAR SIN VERIFICAR SOLO MULTIPLICA LA REVISIÓN</a:t>
            </a:r>
            <a:endParaRPr lang="en-US" sz="4200" dirty="0"/>
          </a:p>
        </p:txBody>
      </p:sp>
      <p:sp>
        <p:nvSpPr>
          <p:cNvPr id="5" name="Text 2"/>
          <p:cNvSpPr/>
          <p:nvPr/>
        </p:nvSpPr>
        <p:spPr>
          <a:xfrm>
            <a:off x="1714457" y="3765198"/>
            <a:ext cx="4138493" cy="182875"/>
          </a:xfrm>
          <a:prstGeom prst="rect">
            <a:avLst/>
          </a:prstGeom>
          <a:noFill/>
          <a:ln/>
        </p:spPr>
        <p:txBody>
          <a:bodyPr wrap="none" lIns="0" tIns="0" rIns="0" bIns="0" rtlCol="0" anchor="t"/>
          <a:lstStyle/>
          <a:p>
            <a:pPr algn="l" indent="0" marL="0">
              <a:lnSpc>
                <a:spcPts val="1440"/>
              </a:lnSpc>
              <a:buNone/>
            </a:pPr>
            <a:r>
              <a:rPr lang="en-US" sz="1200" spc="170" kern="0" dirty="0">
                <a:solidFill>
                  <a:srgbClr val="1FD3F5"/>
                </a:solidFill>
                <a:latin typeface="Share Tech Mono" pitchFamily="34" charset="0"/>
                <a:ea typeface="Share Tech Mono" pitchFamily="34" charset="-122"/>
                <a:cs typeface="Share Tech Mono" pitchFamily="34" charset="-120"/>
              </a:rPr>
              <a:t>MÁS AGENTES, MÁS IMPORTA EL HARNESS</a:t>
            </a:r>
            <a:endParaRPr lang="en-US" sz="1200" dirty="0"/>
          </a:p>
        </p:txBody>
      </p:sp>
      <p:sp>
        <p:nvSpPr>
          <p:cNvPr id="6" name="Text 3"/>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7" name="Text 4"/>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1174721" y="784840"/>
            <a:ext cx="1837708"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06 · TU RUTA</a:t>
            </a:r>
            <a:endParaRPr lang="en-US" sz="1200" dirty="0"/>
          </a:p>
        </p:txBody>
      </p:sp>
      <p:sp>
        <p:nvSpPr>
          <p:cNvPr id="3" name="Text 1"/>
          <p:cNvSpPr/>
          <p:nvPr/>
        </p:nvSpPr>
        <p:spPr>
          <a:xfrm>
            <a:off x="952476" y="1231869"/>
            <a:ext cx="8413698"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TRES NIVELES HACIA CONSTRUCTOR</a:t>
            </a:r>
            <a:endParaRPr lang="en-US" sz="4600" dirty="0"/>
          </a:p>
        </p:txBody>
      </p:sp>
      <p:sp>
        <p:nvSpPr>
          <p:cNvPr id="4" name="Shape 2"/>
          <p:cNvSpPr/>
          <p:nvPr/>
        </p:nvSpPr>
        <p:spPr>
          <a:xfrm>
            <a:off x="952476" y="2120847"/>
            <a:ext cx="3276518" cy="2670704"/>
          </a:xfrm>
          <a:prstGeom prst="rect">
            <a:avLst/>
          </a:prstGeom>
          <a:solidFill>
            <a:srgbClr val="0A285A">
              <a:alpha val="72000"/>
            </a:srgbClr>
          </a:solidFill>
          <a:ln w="12700">
            <a:solidFill>
              <a:srgbClr val="1FD3F4">
                <a:alpha val="45000"/>
              </a:srgbClr>
            </a:solidFill>
            <a:prstDash val="solid"/>
          </a:ln>
        </p:spPr>
      </p:sp>
      <p:sp>
        <p:nvSpPr>
          <p:cNvPr id="5" name="Shape 3"/>
          <p:cNvSpPr/>
          <p:nvPr/>
        </p:nvSpPr>
        <p:spPr>
          <a:xfrm>
            <a:off x="1244569" y="2387540"/>
            <a:ext cx="584185" cy="584185"/>
          </a:xfrm>
          <a:prstGeom prst="roundRect">
            <a:avLst>
              <a:gd name="adj" fmla="val 50000"/>
            </a:avLst>
          </a:prstGeom>
          <a:solidFill>
            <a:srgbClr val="06183A"/>
          </a:solidFill>
          <a:ln/>
        </p:spPr>
      </p:sp>
      <p:sp>
        <p:nvSpPr>
          <p:cNvPr id="6" name="Text 4"/>
          <p:cNvSpPr/>
          <p:nvPr/>
        </p:nvSpPr>
        <p:spPr>
          <a:xfrm>
            <a:off x="1481795" y="2557716"/>
            <a:ext cx="199099"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A</a:t>
            </a:r>
            <a:endParaRPr lang="en-US" sz="1600" dirty="0"/>
          </a:p>
        </p:txBody>
      </p:sp>
      <p:sp>
        <p:nvSpPr>
          <p:cNvPr id="7" name="Text 5"/>
          <p:cNvSpPr/>
          <p:nvPr/>
        </p:nvSpPr>
        <p:spPr>
          <a:xfrm>
            <a:off x="1244569" y="3130726"/>
            <a:ext cx="2447657" cy="438139"/>
          </a:xfrm>
          <a:prstGeom prst="rect">
            <a:avLst/>
          </a:prstGeom>
          <a:noFill/>
          <a:ln/>
        </p:spPr>
        <p:txBody>
          <a:bodyPr wrap="none" lIns="0" tIns="0" rIns="0" bIns="0" rtlCol="0" anchor="t"/>
          <a:lstStyle/>
          <a:p>
            <a:pPr algn="l" indent="0" marL="0">
              <a:lnSpc>
                <a:spcPts val="2350"/>
              </a:lnSpc>
              <a:buNone/>
            </a:pPr>
            <a:r>
              <a:rPr lang="en-US" sz="2300" spc="20" kern="0" dirty="0">
                <a:solidFill>
                  <a:srgbClr val="FFFFFF"/>
                </a:solidFill>
                <a:latin typeface="Anton" pitchFamily="34" charset="0"/>
                <a:ea typeface="Anton" pitchFamily="34" charset="-122"/>
                <a:cs typeface="Anton" pitchFamily="34" charset="-120"/>
              </a:rPr>
              <a:t>USUARIO AVANZADO</a:t>
            </a:r>
            <a:endParaRPr lang="en-US" sz="2300" dirty="0"/>
          </a:p>
        </p:txBody>
      </p:sp>
      <p:sp>
        <p:nvSpPr>
          <p:cNvPr id="8" name="Text 6"/>
          <p:cNvSpPr/>
          <p:nvPr/>
        </p:nvSpPr>
        <p:spPr>
          <a:xfrm>
            <a:off x="1244569" y="3541346"/>
            <a:ext cx="1234092"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1FD3F5"/>
                </a:solidFill>
                <a:latin typeface="Share Tech Mono" pitchFamily="34" charset="0"/>
                <a:ea typeface="Share Tech Mono" pitchFamily="34" charset="-122"/>
                <a:cs typeface="Share Tech Mono" pitchFamily="34" charset="-120"/>
              </a:rPr>
              <a:t>ENTREGABLE</a:t>
            </a:r>
            <a:endParaRPr lang="en-US" sz="1100" dirty="0"/>
          </a:p>
        </p:txBody>
      </p:sp>
      <p:sp>
        <p:nvSpPr>
          <p:cNvPr id="9" name="Text 7"/>
          <p:cNvSpPr/>
          <p:nvPr/>
        </p:nvSpPr>
        <p:spPr>
          <a:xfrm>
            <a:off x="1244569" y="3760416"/>
            <a:ext cx="2773103" cy="462268"/>
          </a:xfrm>
          <a:prstGeom prst="rect">
            <a:avLst/>
          </a:prstGeom>
          <a:noFill/>
          <a:ln/>
        </p:spPr>
        <p:txBody>
          <a:bodyPr wrap="squar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AGENTS.md y un flujo plan, ejecutar, validar</a:t>
            </a:r>
            <a:endParaRPr lang="en-US" sz="1300" dirty="0"/>
          </a:p>
        </p:txBody>
      </p:sp>
      <p:sp>
        <p:nvSpPr>
          <p:cNvPr id="10" name="Shape 8"/>
          <p:cNvSpPr/>
          <p:nvPr/>
        </p:nvSpPr>
        <p:spPr>
          <a:xfrm>
            <a:off x="4457589" y="2120847"/>
            <a:ext cx="3276518" cy="2670704"/>
          </a:xfrm>
          <a:prstGeom prst="rect">
            <a:avLst/>
          </a:prstGeom>
          <a:solidFill>
            <a:srgbClr val="0A285A">
              <a:alpha val="72000"/>
            </a:srgbClr>
          </a:solidFill>
          <a:ln w="12700">
            <a:solidFill>
              <a:srgbClr val="D1F21D">
                <a:alpha val="55000"/>
              </a:srgbClr>
            </a:solidFill>
            <a:prstDash val="solid"/>
          </a:ln>
        </p:spPr>
      </p:sp>
      <p:sp>
        <p:nvSpPr>
          <p:cNvPr id="11" name="Shape 9"/>
          <p:cNvSpPr/>
          <p:nvPr/>
        </p:nvSpPr>
        <p:spPr>
          <a:xfrm>
            <a:off x="4749681" y="2387540"/>
            <a:ext cx="584185" cy="584185"/>
          </a:xfrm>
          <a:prstGeom prst="roundRect">
            <a:avLst>
              <a:gd name="adj" fmla="val 50000"/>
            </a:avLst>
          </a:prstGeom>
          <a:solidFill>
            <a:srgbClr val="06183A"/>
          </a:solidFill>
          <a:ln/>
        </p:spPr>
      </p:sp>
      <p:sp>
        <p:nvSpPr>
          <p:cNvPr id="12" name="Text 10"/>
          <p:cNvSpPr/>
          <p:nvPr/>
        </p:nvSpPr>
        <p:spPr>
          <a:xfrm>
            <a:off x="4986907" y="2557716"/>
            <a:ext cx="199099"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B</a:t>
            </a:r>
            <a:endParaRPr lang="en-US" sz="1600" dirty="0"/>
          </a:p>
        </p:txBody>
      </p:sp>
      <p:sp>
        <p:nvSpPr>
          <p:cNvPr id="13" name="Text 11"/>
          <p:cNvSpPr/>
          <p:nvPr/>
        </p:nvSpPr>
        <p:spPr>
          <a:xfrm>
            <a:off x="4749681" y="3130726"/>
            <a:ext cx="2773103" cy="735986"/>
          </a:xfrm>
          <a:prstGeom prst="rect">
            <a:avLst/>
          </a:prstGeom>
          <a:noFill/>
          <a:ln/>
        </p:spPr>
        <p:txBody>
          <a:bodyPr wrap="square" lIns="0" tIns="0" rIns="0" bIns="0" rtlCol="0" anchor="t"/>
          <a:lstStyle/>
          <a:p>
            <a:pPr algn="l" indent="0" marL="0">
              <a:lnSpc>
                <a:spcPts val="2350"/>
              </a:lnSpc>
              <a:buNone/>
            </a:pPr>
            <a:r>
              <a:rPr lang="en-US" sz="2300" spc="20" kern="0" dirty="0">
                <a:solidFill>
                  <a:srgbClr val="FFFFFF"/>
                </a:solidFill>
                <a:latin typeface="Anton" pitchFamily="34" charset="0"/>
                <a:ea typeface="Anton" pitchFamily="34" charset="-122"/>
                <a:cs typeface="Anton" pitchFamily="34" charset="-120"/>
              </a:rPr>
              <a:t>CONSTRUCTOR DE HARNESS</a:t>
            </a:r>
            <a:endParaRPr lang="en-US" sz="2300" dirty="0"/>
          </a:p>
        </p:txBody>
      </p:sp>
      <p:sp>
        <p:nvSpPr>
          <p:cNvPr id="14" name="Text 12"/>
          <p:cNvSpPr/>
          <p:nvPr/>
        </p:nvSpPr>
        <p:spPr>
          <a:xfrm>
            <a:off x="4749681" y="3839193"/>
            <a:ext cx="1234092"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D2F21E"/>
                </a:solidFill>
                <a:latin typeface="Share Tech Mono" pitchFamily="34" charset="0"/>
                <a:ea typeface="Share Tech Mono" pitchFamily="34" charset="-122"/>
                <a:cs typeface="Share Tech Mono" pitchFamily="34" charset="-120"/>
              </a:rPr>
              <a:t>ENTREGABLE</a:t>
            </a:r>
            <a:endParaRPr lang="en-US" sz="1100" dirty="0"/>
          </a:p>
        </p:txBody>
      </p:sp>
      <p:sp>
        <p:nvSpPr>
          <p:cNvPr id="15" name="Text 13"/>
          <p:cNvSpPr/>
          <p:nvPr/>
        </p:nvSpPr>
        <p:spPr>
          <a:xfrm>
            <a:off x="4749681" y="4058263"/>
            <a:ext cx="2773103" cy="462268"/>
          </a:xfrm>
          <a:prstGeom prst="rect">
            <a:avLst/>
          </a:prstGeom>
          <a:noFill/>
          <a:ln/>
        </p:spPr>
        <p:txBody>
          <a:bodyPr wrap="squar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2 o 3 skills propias y un repo legible</a:t>
            </a:r>
            <a:endParaRPr lang="en-US" sz="1300" dirty="0"/>
          </a:p>
        </p:txBody>
      </p:sp>
      <p:sp>
        <p:nvSpPr>
          <p:cNvPr id="16" name="Shape 14"/>
          <p:cNvSpPr/>
          <p:nvPr/>
        </p:nvSpPr>
        <p:spPr>
          <a:xfrm>
            <a:off x="7962701" y="2120847"/>
            <a:ext cx="3276518" cy="2670704"/>
          </a:xfrm>
          <a:prstGeom prst="rect">
            <a:avLst/>
          </a:prstGeom>
          <a:solidFill>
            <a:srgbClr val="0A285A">
              <a:alpha val="72000"/>
            </a:srgbClr>
          </a:solidFill>
          <a:ln w="12700">
            <a:solidFill>
              <a:srgbClr val="FF4B3A">
                <a:alpha val="55000"/>
              </a:srgbClr>
            </a:solidFill>
            <a:prstDash val="solid"/>
          </a:ln>
        </p:spPr>
      </p:sp>
      <p:sp>
        <p:nvSpPr>
          <p:cNvPr id="17" name="Shape 15"/>
          <p:cNvSpPr/>
          <p:nvPr/>
        </p:nvSpPr>
        <p:spPr>
          <a:xfrm>
            <a:off x="8254794" y="2387540"/>
            <a:ext cx="584185" cy="584185"/>
          </a:xfrm>
          <a:prstGeom prst="roundRect">
            <a:avLst>
              <a:gd name="adj" fmla="val 50000"/>
            </a:avLst>
          </a:prstGeom>
          <a:solidFill>
            <a:srgbClr val="06183A"/>
          </a:solidFill>
          <a:ln/>
        </p:spPr>
      </p:sp>
      <p:sp>
        <p:nvSpPr>
          <p:cNvPr id="18" name="Text 16"/>
          <p:cNvSpPr/>
          <p:nvPr/>
        </p:nvSpPr>
        <p:spPr>
          <a:xfrm>
            <a:off x="8492020" y="2557716"/>
            <a:ext cx="199099" cy="243834"/>
          </a:xfrm>
          <a:prstGeom prst="rect">
            <a:avLst/>
          </a:prstGeom>
          <a:noFill/>
          <a:ln/>
        </p:spPr>
        <p:txBody>
          <a:bodyPr wrap="none" lIns="0" tIns="0" rIns="0" bIns="0" rtlCol="0" anchor="t"/>
          <a:lstStyle/>
          <a:p>
            <a:pPr algn="l" indent="0" marL="0">
              <a:lnSpc>
                <a:spcPts val="1920"/>
              </a:lnSpc>
              <a:buNone/>
            </a:pPr>
            <a:r>
              <a:rPr lang="en-US" sz="1600" dirty="0">
                <a:solidFill>
                  <a:srgbClr val="FFFFFF"/>
                </a:solidFill>
                <a:latin typeface="Share Tech Mono" pitchFamily="34" charset="0"/>
                <a:ea typeface="Share Tech Mono" pitchFamily="34" charset="-122"/>
                <a:cs typeface="Share Tech Mono" pitchFamily="34" charset="-120"/>
              </a:rPr>
              <a:t>C</a:t>
            </a:r>
            <a:endParaRPr lang="en-US" sz="1600" dirty="0"/>
          </a:p>
        </p:txBody>
      </p:sp>
      <p:sp>
        <p:nvSpPr>
          <p:cNvPr id="19" name="Text 17"/>
          <p:cNvSpPr/>
          <p:nvPr/>
        </p:nvSpPr>
        <p:spPr>
          <a:xfrm>
            <a:off x="8254794" y="3130726"/>
            <a:ext cx="2773103" cy="735986"/>
          </a:xfrm>
          <a:prstGeom prst="rect">
            <a:avLst/>
          </a:prstGeom>
          <a:noFill/>
          <a:ln/>
        </p:spPr>
        <p:txBody>
          <a:bodyPr wrap="square" lIns="0" tIns="0" rIns="0" bIns="0" rtlCol="0" anchor="t"/>
          <a:lstStyle/>
          <a:p>
            <a:pPr algn="l" indent="0" marL="0">
              <a:lnSpc>
                <a:spcPts val="2350"/>
              </a:lnSpc>
              <a:buNone/>
            </a:pPr>
            <a:r>
              <a:rPr lang="en-US" sz="2300" spc="20" kern="0" dirty="0">
                <a:solidFill>
                  <a:srgbClr val="FFFFFF"/>
                </a:solidFill>
                <a:latin typeface="Anton" pitchFamily="34" charset="0"/>
                <a:ea typeface="Anton" pitchFamily="34" charset="-122"/>
                <a:cs typeface="Anton" pitchFamily="34" charset="-120"/>
              </a:rPr>
              <a:t>CONSTRUCTOR DE AGENTES</a:t>
            </a:r>
            <a:endParaRPr lang="en-US" sz="2300" dirty="0"/>
          </a:p>
        </p:txBody>
      </p:sp>
      <p:sp>
        <p:nvSpPr>
          <p:cNvPr id="20" name="Text 18"/>
          <p:cNvSpPr/>
          <p:nvPr/>
        </p:nvSpPr>
        <p:spPr>
          <a:xfrm>
            <a:off x="8254794" y="3839193"/>
            <a:ext cx="1234092" cy="167636"/>
          </a:xfrm>
          <a:prstGeom prst="rect">
            <a:avLst/>
          </a:prstGeom>
          <a:noFill/>
          <a:ln/>
        </p:spPr>
        <p:txBody>
          <a:bodyPr wrap="none" lIns="0" tIns="0" rIns="0" bIns="0" rtlCol="0" anchor="t"/>
          <a:lstStyle/>
          <a:p>
            <a:pPr algn="l" indent="0" marL="0">
              <a:lnSpc>
                <a:spcPts val="1320"/>
              </a:lnSpc>
              <a:buNone/>
            </a:pPr>
            <a:r>
              <a:rPr lang="en-US" sz="1100" spc="220" kern="0" dirty="0">
                <a:solidFill>
                  <a:srgbClr val="FF4B3A"/>
                </a:solidFill>
                <a:latin typeface="Share Tech Mono" pitchFamily="34" charset="0"/>
                <a:ea typeface="Share Tech Mono" pitchFamily="34" charset="-122"/>
                <a:cs typeface="Share Tech Mono" pitchFamily="34" charset="-120"/>
              </a:rPr>
              <a:t>ENTREGABLE</a:t>
            </a:r>
            <a:endParaRPr lang="en-US" sz="1100" dirty="0"/>
          </a:p>
        </p:txBody>
      </p:sp>
      <p:sp>
        <p:nvSpPr>
          <p:cNvPr id="21" name="Text 19"/>
          <p:cNvSpPr/>
          <p:nvPr/>
        </p:nvSpPr>
        <p:spPr>
          <a:xfrm>
            <a:off x="8254794" y="4058263"/>
            <a:ext cx="2773103" cy="462268"/>
          </a:xfrm>
          <a:prstGeom prst="rect">
            <a:avLst/>
          </a:prstGeom>
          <a:noFill/>
          <a:ln/>
        </p:spPr>
        <p:txBody>
          <a:bodyPr wrap="square" lIns="0" tIns="0" rIns="0" bIns="0" rtlCol="0" anchor="t"/>
          <a:lstStyle/>
          <a:p>
            <a:pPr algn="l" indent="0" marL="0">
              <a:lnSpc>
                <a:spcPts val="1820"/>
              </a:lnSpc>
              <a:buNone/>
            </a:pPr>
            <a:r>
              <a:rPr lang="en-US" sz="1300" dirty="0">
                <a:solidFill>
                  <a:srgbClr val="C9D6EA"/>
                </a:solidFill>
                <a:latin typeface="Arial" pitchFamily="34" charset="0"/>
                <a:ea typeface="Arial" pitchFamily="34" charset="-122"/>
                <a:cs typeface="Arial" pitchFamily="34" charset="-120"/>
              </a:rPr>
              <a:t>Un agente en producción con evaluaciones</a:t>
            </a:r>
            <a:endParaRPr lang="en-US" sz="1300" dirty="0"/>
          </a:p>
        </p:txBody>
      </p:sp>
      <p:sp>
        <p:nvSpPr>
          <p:cNvPr id="22" name="Text 20"/>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3" name="Text 21"/>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461263" y="634984"/>
            <a:ext cx="1777956" cy="2197740"/>
          </a:xfrm>
          <a:prstGeom prst="rect">
            <a:avLst/>
          </a:prstGeom>
        </p:spPr>
      </p:pic>
      <p:sp>
        <p:nvSpPr>
          <p:cNvPr id="3" name="Text 0"/>
          <p:cNvSpPr/>
          <p:nvPr/>
        </p:nvSpPr>
        <p:spPr>
          <a:xfrm>
            <a:off x="1174721" y="784840"/>
            <a:ext cx="1837708"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06 · TU RUTA</a:t>
            </a:r>
            <a:endParaRPr lang="en-US" sz="1200" dirty="0"/>
          </a:p>
        </p:txBody>
      </p:sp>
      <p:sp>
        <p:nvSpPr>
          <p:cNvPr id="4" name="Text 1"/>
          <p:cNvSpPr/>
          <p:nvPr/>
        </p:nvSpPr>
        <p:spPr>
          <a:xfrm>
            <a:off x="952476" y="1231869"/>
            <a:ext cx="4858565"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TU PLAN DE 90 DÍAS</a:t>
            </a:r>
            <a:endParaRPr lang="en-US" sz="4600" dirty="0"/>
          </a:p>
        </p:txBody>
      </p:sp>
      <p:sp>
        <p:nvSpPr>
          <p:cNvPr id="5" name="Shape 2"/>
          <p:cNvSpPr/>
          <p:nvPr/>
        </p:nvSpPr>
        <p:spPr>
          <a:xfrm>
            <a:off x="952476" y="2628834"/>
            <a:ext cx="3428914" cy="12700"/>
          </a:xfrm>
          <a:prstGeom prst="rect">
            <a:avLst/>
          </a:prstGeom>
          <a:solidFill>
            <a:srgbClr val="1ED2F5">
              <a:alpha val="40000"/>
            </a:srgbClr>
          </a:solidFill>
          <a:ln/>
        </p:spPr>
      </p:sp>
      <p:sp>
        <p:nvSpPr>
          <p:cNvPr id="6" name="Shape 3"/>
          <p:cNvSpPr/>
          <p:nvPr/>
        </p:nvSpPr>
        <p:spPr>
          <a:xfrm>
            <a:off x="952476" y="2558986"/>
            <a:ext cx="152396" cy="152396"/>
          </a:xfrm>
          <a:prstGeom prst="roundRect">
            <a:avLst>
              <a:gd name="adj" fmla="val 50000"/>
            </a:avLst>
          </a:prstGeom>
          <a:solidFill>
            <a:srgbClr val="020D22"/>
          </a:solidFill>
          <a:ln w="25399">
            <a:solidFill>
              <a:srgbClr val="1FD3F5"/>
            </a:solidFill>
            <a:prstDash val="solid"/>
          </a:ln>
        </p:spPr>
      </p:sp>
      <p:sp>
        <p:nvSpPr>
          <p:cNvPr id="7" name="Text 4"/>
          <p:cNvSpPr/>
          <p:nvPr/>
        </p:nvSpPr>
        <p:spPr>
          <a:xfrm>
            <a:off x="952476" y="2913942"/>
            <a:ext cx="1255983" cy="198115"/>
          </a:xfrm>
          <a:prstGeom prst="rect">
            <a:avLst/>
          </a:prstGeom>
          <a:noFill/>
          <a:ln/>
        </p:spPr>
        <p:txBody>
          <a:bodyPr wrap="none" lIns="0" tIns="0" rIns="0" bIns="0" rtlCol="0" anchor="t"/>
          <a:lstStyle/>
          <a:p>
            <a:pPr algn="l" indent="0" marL="0">
              <a:lnSpc>
                <a:spcPts val="1560"/>
              </a:lnSpc>
              <a:buNone/>
            </a:pPr>
            <a:r>
              <a:rPr lang="en-US" sz="1300" b="1" spc="50" kern="0" dirty="0">
                <a:solidFill>
                  <a:srgbClr val="1FD3F5"/>
                </a:solidFill>
                <a:latin typeface="Share Tech Mono" pitchFamily="34" charset="0"/>
                <a:ea typeface="Share Tech Mono" pitchFamily="34" charset="-122"/>
                <a:cs typeface="Share Tech Mono" pitchFamily="34" charset="-120"/>
              </a:rPr>
              <a:t>Días 1 a 30</a:t>
            </a:r>
            <a:endParaRPr lang="en-US" sz="1300" dirty="0"/>
          </a:p>
        </p:txBody>
      </p:sp>
      <p:sp>
        <p:nvSpPr>
          <p:cNvPr id="8" name="Text 5"/>
          <p:cNvSpPr/>
          <p:nvPr/>
        </p:nvSpPr>
        <p:spPr>
          <a:xfrm>
            <a:off x="952476" y="3180953"/>
            <a:ext cx="2099623" cy="520687"/>
          </a:xfrm>
          <a:prstGeom prst="rect">
            <a:avLst/>
          </a:prstGeom>
          <a:noFill/>
          <a:ln/>
        </p:spPr>
        <p:txBody>
          <a:bodyPr wrap="none" lIns="0" tIns="0" rIns="0" bIns="0" rtlCol="0" anchor="t"/>
          <a:lstStyle/>
          <a:p>
            <a:pPr algn="l" indent="0" marL="0">
              <a:lnSpc>
                <a:spcPts val="3100"/>
              </a:lnSpc>
              <a:buNone/>
            </a:pPr>
            <a:r>
              <a:rPr lang="en-US" sz="2700" dirty="0">
                <a:solidFill>
                  <a:srgbClr val="FFFFFF"/>
                </a:solidFill>
                <a:latin typeface="Anton" pitchFamily="34" charset="0"/>
                <a:ea typeface="Anton" pitchFamily="34" charset="-122"/>
                <a:cs typeface="Anton" pitchFamily="34" charset="-120"/>
              </a:rPr>
              <a:t>SUBE UN NIVEL</a:t>
            </a:r>
            <a:endParaRPr lang="en-US" sz="2700" dirty="0"/>
          </a:p>
        </p:txBody>
      </p:sp>
      <p:sp>
        <p:nvSpPr>
          <p:cNvPr id="9" name="Text 6"/>
          <p:cNvSpPr/>
          <p:nvPr/>
        </p:nvSpPr>
        <p:spPr>
          <a:xfrm>
            <a:off x="952476" y="3635244"/>
            <a:ext cx="3343303" cy="248914"/>
          </a:xfrm>
          <a:prstGeom prst="rect">
            <a:avLst/>
          </a:prstGeom>
          <a:noFill/>
          <a:ln/>
        </p:spPr>
        <p:txBody>
          <a:bodyPr wrap="none" lIns="0" tIns="0" rIns="0" bIns="0" rtlCol="0" anchor="t"/>
          <a:lstStyle/>
          <a:p>
            <a:pPr algn="l" indent="0" marL="0">
              <a:lnSpc>
                <a:spcPts val="1960"/>
              </a:lnSpc>
              <a:buNone/>
            </a:pPr>
            <a:r>
              <a:rPr lang="en-US" sz="1400" dirty="0">
                <a:solidFill>
                  <a:srgbClr val="C9D6EA"/>
                </a:solidFill>
                <a:latin typeface="Arial" pitchFamily="34" charset="0"/>
                <a:ea typeface="Arial" pitchFamily="34" charset="-122"/>
                <a:cs typeface="Arial" pitchFamily="34" charset="-120"/>
              </a:rPr>
              <a:t>AGENTS.md y preguntas repetidas</a:t>
            </a:r>
            <a:endParaRPr lang="en-US" sz="1400" dirty="0"/>
          </a:p>
        </p:txBody>
      </p:sp>
      <p:sp>
        <p:nvSpPr>
          <p:cNvPr id="10" name="Shape 7"/>
          <p:cNvSpPr/>
          <p:nvPr/>
        </p:nvSpPr>
        <p:spPr>
          <a:xfrm>
            <a:off x="4381390" y="2628834"/>
            <a:ext cx="3428914" cy="12700"/>
          </a:xfrm>
          <a:prstGeom prst="rect">
            <a:avLst/>
          </a:prstGeom>
          <a:solidFill>
            <a:srgbClr val="1ED2F5">
              <a:alpha val="40000"/>
            </a:srgbClr>
          </a:solidFill>
          <a:ln/>
        </p:spPr>
      </p:sp>
      <p:sp>
        <p:nvSpPr>
          <p:cNvPr id="11" name="Shape 8"/>
          <p:cNvSpPr/>
          <p:nvPr/>
        </p:nvSpPr>
        <p:spPr>
          <a:xfrm>
            <a:off x="4381390" y="2558986"/>
            <a:ext cx="152396" cy="152396"/>
          </a:xfrm>
          <a:prstGeom prst="roundRect">
            <a:avLst>
              <a:gd name="adj" fmla="val 50000"/>
            </a:avLst>
          </a:prstGeom>
          <a:solidFill>
            <a:srgbClr val="020D22"/>
          </a:solidFill>
          <a:ln w="25399">
            <a:solidFill>
              <a:srgbClr val="1FD3F5"/>
            </a:solidFill>
            <a:prstDash val="solid"/>
          </a:ln>
        </p:spPr>
      </p:sp>
      <p:sp>
        <p:nvSpPr>
          <p:cNvPr id="12" name="Text 9"/>
          <p:cNvSpPr/>
          <p:nvPr/>
        </p:nvSpPr>
        <p:spPr>
          <a:xfrm>
            <a:off x="4381390" y="2913942"/>
            <a:ext cx="1363216" cy="198115"/>
          </a:xfrm>
          <a:prstGeom prst="rect">
            <a:avLst/>
          </a:prstGeom>
          <a:noFill/>
          <a:ln/>
        </p:spPr>
        <p:txBody>
          <a:bodyPr wrap="none" lIns="0" tIns="0" rIns="0" bIns="0" rtlCol="0" anchor="t"/>
          <a:lstStyle/>
          <a:p>
            <a:pPr algn="l" indent="0" marL="0">
              <a:lnSpc>
                <a:spcPts val="1560"/>
              </a:lnSpc>
              <a:buNone/>
            </a:pPr>
            <a:r>
              <a:rPr lang="en-US" sz="1300" b="1" spc="50" kern="0" dirty="0">
                <a:solidFill>
                  <a:srgbClr val="1FD3F5"/>
                </a:solidFill>
                <a:latin typeface="Share Tech Mono" pitchFamily="34" charset="0"/>
                <a:ea typeface="Share Tech Mono" pitchFamily="34" charset="-122"/>
                <a:cs typeface="Share Tech Mono" pitchFamily="34" charset="-120"/>
              </a:rPr>
              <a:t>Días 31 a 60</a:t>
            </a:r>
            <a:endParaRPr lang="en-US" sz="1300" dirty="0"/>
          </a:p>
        </p:txBody>
      </p:sp>
      <p:sp>
        <p:nvSpPr>
          <p:cNvPr id="13" name="Text 10"/>
          <p:cNvSpPr/>
          <p:nvPr/>
        </p:nvSpPr>
        <p:spPr>
          <a:xfrm>
            <a:off x="4381390" y="3180953"/>
            <a:ext cx="1764811" cy="520687"/>
          </a:xfrm>
          <a:prstGeom prst="rect">
            <a:avLst/>
          </a:prstGeom>
          <a:noFill/>
          <a:ln/>
        </p:spPr>
        <p:txBody>
          <a:bodyPr wrap="none" lIns="0" tIns="0" rIns="0" bIns="0" rtlCol="0" anchor="t"/>
          <a:lstStyle/>
          <a:p>
            <a:pPr algn="l" indent="0" marL="0">
              <a:lnSpc>
                <a:spcPts val="3100"/>
              </a:lnSpc>
              <a:buNone/>
            </a:pPr>
            <a:r>
              <a:rPr lang="en-US" sz="2700" dirty="0">
                <a:solidFill>
                  <a:srgbClr val="FFFFFF"/>
                </a:solidFill>
                <a:latin typeface="Anton" pitchFamily="34" charset="0"/>
                <a:ea typeface="Anton" pitchFamily="34" charset="-122"/>
                <a:cs typeface="Anton" pitchFamily="34" charset="-120"/>
              </a:rPr>
              <a:t>TU HARNESS</a:t>
            </a:r>
            <a:endParaRPr lang="en-US" sz="2700" dirty="0"/>
          </a:p>
        </p:txBody>
      </p:sp>
      <p:sp>
        <p:nvSpPr>
          <p:cNvPr id="14" name="Text 11"/>
          <p:cNvSpPr/>
          <p:nvPr/>
        </p:nvSpPr>
        <p:spPr>
          <a:xfrm>
            <a:off x="4381390" y="3635244"/>
            <a:ext cx="2412765" cy="248914"/>
          </a:xfrm>
          <a:prstGeom prst="rect">
            <a:avLst/>
          </a:prstGeom>
          <a:noFill/>
          <a:ln/>
        </p:spPr>
        <p:txBody>
          <a:bodyPr wrap="none" lIns="0" tIns="0" rIns="0" bIns="0" rtlCol="0" anchor="t"/>
          <a:lstStyle/>
          <a:p>
            <a:pPr algn="l" indent="0" marL="0">
              <a:lnSpc>
                <a:spcPts val="1960"/>
              </a:lnSpc>
              <a:buNone/>
            </a:pPr>
            <a:r>
              <a:rPr lang="en-US" sz="1400" dirty="0">
                <a:solidFill>
                  <a:srgbClr val="C9D6EA"/>
                </a:solidFill>
                <a:latin typeface="Arial" pitchFamily="34" charset="0"/>
                <a:ea typeface="Arial" pitchFamily="34" charset="-122"/>
                <a:cs typeface="Arial" pitchFamily="34" charset="-120"/>
              </a:rPr>
              <a:t>Skills, sensores, un /goal</a:t>
            </a:r>
            <a:endParaRPr lang="en-US" sz="1400" dirty="0"/>
          </a:p>
        </p:txBody>
      </p:sp>
      <p:sp>
        <p:nvSpPr>
          <p:cNvPr id="15" name="Shape 12"/>
          <p:cNvSpPr/>
          <p:nvPr/>
        </p:nvSpPr>
        <p:spPr>
          <a:xfrm>
            <a:off x="7810305" y="2628834"/>
            <a:ext cx="3428914" cy="12700"/>
          </a:xfrm>
          <a:prstGeom prst="rect">
            <a:avLst/>
          </a:prstGeom>
          <a:solidFill>
            <a:srgbClr val="1ED2F5">
              <a:alpha val="40000"/>
            </a:srgbClr>
          </a:solidFill>
          <a:ln/>
        </p:spPr>
      </p:sp>
      <p:sp>
        <p:nvSpPr>
          <p:cNvPr id="16" name="Shape 13"/>
          <p:cNvSpPr/>
          <p:nvPr/>
        </p:nvSpPr>
        <p:spPr>
          <a:xfrm>
            <a:off x="7810305" y="2558986"/>
            <a:ext cx="152396" cy="152396"/>
          </a:xfrm>
          <a:prstGeom prst="roundRect">
            <a:avLst>
              <a:gd name="adj" fmla="val 50000"/>
            </a:avLst>
          </a:prstGeom>
          <a:solidFill>
            <a:srgbClr val="FF5A4A"/>
          </a:solidFill>
          <a:ln w="25399">
            <a:solidFill>
              <a:srgbClr val="FF5A4A"/>
            </a:solidFill>
            <a:prstDash val="solid"/>
          </a:ln>
        </p:spPr>
      </p:sp>
      <p:sp>
        <p:nvSpPr>
          <p:cNvPr id="17" name="Text 14"/>
          <p:cNvSpPr/>
          <p:nvPr/>
        </p:nvSpPr>
        <p:spPr>
          <a:xfrm>
            <a:off x="7810305" y="2913942"/>
            <a:ext cx="1363216" cy="198115"/>
          </a:xfrm>
          <a:prstGeom prst="rect">
            <a:avLst/>
          </a:prstGeom>
          <a:noFill/>
          <a:ln/>
        </p:spPr>
        <p:txBody>
          <a:bodyPr wrap="none" lIns="0" tIns="0" rIns="0" bIns="0" rtlCol="0" anchor="t"/>
          <a:lstStyle/>
          <a:p>
            <a:pPr algn="l" indent="0" marL="0">
              <a:lnSpc>
                <a:spcPts val="1560"/>
              </a:lnSpc>
              <a:buNone/>
            </a:pPr>
            <a:r>
              <a:rPr lang="en-US" sz="1300" b="1" spc="50" kern="0" dirty="0">
                <a:solidFill>
                  <a:srgbClr val="FF5A4A"/>
                </a:solidFill>
                <a:latin typeface="Share Tech Mono" pitchFamily="34" charset="0"/>
                <a:ea typeface="Share Tech Mono" pitchFamily="34" charset="-122"/>
                <a:cs typeface="Share Tech Mono" pitchFamily="34" charset="-120"/>
              </a:rPr>
              <a:t>Días 61 a 90</a:t>
            </a:r>
            <a:endParaRPr lang="en-US" sz="1300" dirty="0"/>
          </a:p>
        </p:txBody>
      </p:sp>
      <p:sp>
        <p:nvSpPr>
          <p:cNvPr id="18" name="Text 15"/>
          <p:cNvSpPr/>
          <p:nvPr/>
        </p:nvSpPr>
        <p:spPr>
          <a:xfrm>
            <a:off x="7810305" y="3180953"/>
            <a:ext cx="1532010" cy="520687"/>
          </a:xfrm>
          <a:prstGeom prst="rect">
            <a:avLst/>
          </a:prstGeom>
          <a:noFill/>
          <a:ln/>
        </p:spPr>
        <p:txBody>
          <a:bodyPr wrap="none" lIns="0" tIns="0" rIns="0" bIns="0" rtlCol="0" anchor="t"/>
          <a:lstStyle/>
          <a:p>
            <a:pPr algn="l" indent="0" marL="0">
              <a:lnSpc>
                <a:spcPts val="3100"/>
              </a:lnSpc>
              <a:buNone/>
            </a:pPr>
            <a:r>
              <a:rPr lang="en-US" sz="2700" dirty="0">
                <a:solidFill>
                  <a:srgbClr val="FFFFFF"/>
                </a:solidFill>
                <a:latin typeface="Anton" pitchFamily="34" charset="0"/>
                <a:ea typeface="Anton" pitchFamily="34" charset="-122"/>
                <a:cs typeface="Anton" pitchFamily="34" charset="-120"/>
              </a:rPr>
              <a:t>TU AGENTE</a:t>
            </a:r>
            <a:endParaRPr lang="en-US" sz="2700" dirty="0"/>
          </a:p>
        </p:txBody>
      </p:sp>
      <p:sp>
        <p:nvSpPr>
          <p:cNvPr id="19" name="Text 16"/>
          <p:cNvSpPr/>
          <p:nvPr/>
        </p:nvSpPr>
        <p:spPr>
          <a:xfrm>
            <a:off x="7810305" y="3635244"/>
            <a:ext cx="3029605" cy="248914"/>
          </a:xfrm>
          <a:prstGeom prst="rect">
            <a:avLst/>
          </a:prstGeom>
          <a:noFill/>
          <a:ln/>
        </p:spPr>
        <p:txBody>
          <a:bodyPr wrap="none" lIns="0" tIns="0" rIns="0" bIns="0" rtlCol="0" anchor="t"/>
          <a:lstStyle/>
          <a:p>
            <a:pPr algn="l" indent="0" marL="0">
              <a:lnSpc>
                <a:spcPts val="1960"/>
              </a:lnSpc>
              <a:buNone/>
            </a:pPr>
            <a:r>
              <a:rPr lang="en-US" sz="1400" dirty="0">
                <a:solidFill>
                  <a:srgbClr val="C9D6EA"/>
                </a:solidFill>
                <a:latin typeface="Arial" pitchFamily="34" charset="0"/>
                <a:ea typeface="Arial" pitchFamily="34" charset="-122"/>
                <a:cs typeface="Arial" pitchFamily="34" charset="-120"/>
              </a:rPr>
              <a:t>Pequeño, evaluado y publicado</a:t>
            </a:r>
            <a:endParaRPr lang="en-US" sz="1400" dirty="0"/>
          </a:p>
        </p:txBody>
      </p:sp>
      <p:sp>
        <p:nvSpPr>
          <p:cNvPr id="20" name="Text 17"/>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21" name="Text 18"/>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9080273" y="3795221"/>
            <a:ext cx="2158946" cy="2046633"/>
          </a:xfrm>
          <a:prstGeom prst="rect">
            <a:avLst/>
          </a:prstGeom>
        </p:spPr>
      </p:pic>
      <p:sp>
        <p:nvSpPr>
          <p:cNvPr id="3" name="Text 0"/>
          <p:cNvSpPr/>
          <p:nvPr/>
        </p:nvSpPr>
        <p:spPr>
          <a:xfrm>
            <a:off x="1174721" y="784840"/>
            <a:ext cx="1837708"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1FD3F5"/>
                </a:solidFill>
                <a:latin typeface="Share Tech Mono" pitchFamily="34" charset="0"/>
                <a:ea typeface="Share Tech Mono" pitchFamily="34" charset="-122"/>
                <a:cs typeface="Share Tech Mono" pitchFamily="34" charset="-120"/>
              </a:rPr>
              <a:t>LO PROMETIDO</a:t>
            </a:r>
            <a:endParaRPr lang="en-US" sz="1200" dirty="0"/>
          </a:p>
        </p:txBody>
      </p:sp>
      <p:sp>
        <p:nvSpPr>
          <p:cNvPr id="4" name="Text 1"/>
          <p:cNvSpPr/>
          <p:nvPr/>
        </p:nvSpPr>
        <p:spPr>
          <a:xfrm>
            <a:off x="952476" y="1231869"/>
            <a:ext cx="6225035" cy="876278"/>
          </a:xfrm>
          <a:prstGeom prst="rect">
            <a:avLst/>
          </a:prstGeom>
          <a:noFill/>
          <a:ln/>
        </p:spPr>
        <p:txBody>
          <a:bodyPr wrap="none" lIns="0" tIns="0" rIns="0" bIns="0" rtlCol="0" anchor="t"/>
          <a:lstStyle/>
          <a:p>
            <a:pPr algn="l" indent="0" marL="0">
              <a:lnSpc>
                <a:spcPts val="4600"/>
              </a:lnSpc>
              <a:buNone/>
            </a:pPr>
            <a:r>
              <a:rPr lang="en-US" sz="4600" spc="20" kern="0" dirty="0">
                <a:solidFill>
                  <a:srgbClr val="FFFFFF"/>
                </a:solidFill>
                <a:latin typeface="Anton" pitchFamily="34" charset="0"/>
                <a:ea typeface="Anton" pitchFamily="34" charset="-122"/>
                <a:cs typeface="Anton" pitchFamily="34" charset="-120"/>
              </a:rPr>
              <a:t>ELIGE UNA PARA EL LUNES</a:t>
            </a:r>
            <a:endParaRPr lang="en-US" sz="4600" dirty="0"/>
          </a:p>
        </p:txBody>
      </p:sp>
      <p:sp>
        <p:nvSpPr>
          <p:cNvPr id="5" name="Shape 2"/>
          <p:cNvSpPr/>
          <p:nvPr/>
        </p:nvSpPr>
        <p:spPr>
          <a:xfrm>
            <a:off x="952476" y="2184345"/>
            <a:ext cx="698483" cy="698483"/>
          </a:xfrm>
          <a:prstGeom prst="roundRect">
            <a:avLst>
              <a:gd name="adj" fmla="val 45455"/>
            </a:avLst>
          </a:prstGeom>
          <a:solidFill>
            <a:srgbClr val="06183A"/>
          </a:solidFill>
          <a:ln/>
        </p:spPr>
      </p:sp>
      <p:sp>
        <p:nvSpPr>
          <p:cNvPr id="6" name="Text 3"/>
          <p:cNvSpPr/>
          <p:nvPr/>
        </p:nvSpPr>
        <p:spPr>
          <a:xfrm>
            <a:off x="1171347" y="2388810"/>
            <a:ext cx="368116" cy="289553"/>
          </a:xfrm>
          <a:prstGeom prst="rect">
            <a:avLst/>
          </a:prstGeom>
          <a:noFill/>
          <a:ln/>
        </p:spPr>
        <p:txBody>
          <a:bodyPr wrap="none" lIns="0" tIns="0" rIns="0" bIns="0" rtlCol="0" anchor="t"/>
          <a:lstStyle/>
          <a:p>
            <a:pPr algn="l" indent="0" marL="0">
              <a:lnSpc>
                <a:spcPts val="2280"/>
              </a:lnSpc>
              <a:buNone/>
            </a:pPr>
            <a:r>
              <a:rPr lang="en-US" sz="1900" dirty="0">
                <a:solidFill>
                  <a:srgbClr val="FFFFFF"/>
                </a:solidFill>
                <a:latin typeface="Share Tech Mono" pitchFamily="34" charset="0"/>
                <a:ea typeface="Share Tech Mono" pitchFamily="34" charset="-122"/>
                <a:cs typeface="Share Tech Mono" pitchFamily="34" charset="-120"/>
              </a:rPr>
              <a:t>01</a:t>
            </a:r>
            <a:endParaRPr lang="en-US" sz="1900" dirty="0"/>
          </a:p>
        </p:txBody>
      </p:sp>
      <p:sp>
        <p:nvSpPr>
          <p:cNvPr id="7" name="Text 4"/>
          <p:cNvSpPr/>
          <p:nvPr/>
        </p:nvSpPr>
        <p:spPr>
          <a:xfrm>
            <a:off x="1866853" y="2304992"/>
            <a:ext cx="4605873" cy="577836"/>
          </a:xfrm>
          <a:prstGeom prst="rect">
            <a:avLst/>
          </a:prstGeom>
          <a:noFill/>
          <a:ln/>
        </p:spPr>
        <p:txBody>
          <a:bodyPr wrap="none" lIns="0" tIns="0" rIns="0" bIns="0" rtlCol="0" anchor="t"/>
          <a:lstStyle/>
          <a:p>
            <a:pPr algn="l" indent="0" marL="0">
              <a:lnSpc>
                <a:spcPts val="3600"/>
              </a:lnSpc>
              <a:buNone/>
            </a:pPr>
            <a:r>
              <a:rPr lang="en-US" sz="3000" dirty="0">
                <a:solidFill>
                  <a:srgbClr val="FFFFFF"/>
                </a:solidFill>
                <a:latin typeface="Anton" pitchFamily="34" charset="0"/>
                <a:ea typeface="Anton" pitchFamily="34" charset="-122"/>
                <a:cs typeface="Anton" pitchFamily="34" charset="-120"/>
              </a:rPr>
              <a:t>CREA AGENTS.MD EN TU REPO</a:t>
            </a:r>
            <a:endParaRPr lang="en-US" sz="3000" dirty="0"/>
          </a:p>
        </p:txBody>
      </p:sp>
      <p:sp>
        <p:nvSpPr>
          <p:cNvPr id="8" name="Shape 5"/>
          <p:cNvSpPr/>
          <p:nvPr/>
        </p:nvSpPr>
        <p:spPr>
          <a:xfrm>
            <a:off x="952476" y="3136822"/>
            <a:ext cx="698483" cy="698483"/>
          </a:xfrm>
          <a:prstGeom prst="roundRect">
            <a:avLst>
              <a:gd name="adj" fmla="val 45455"/>
            </a:avLst>
          </a:prstGeom>
          <a:solidFill>
            <a:srgbClr val="06183A"/>
          </a:solidFill>
          <a:ln/>
        </p:spPr>
      </p:sp>
      <p:sp>
        <p:nvSpPr>
          <p:cNvPr id="9" name="Text 6"/>
          <p:cNvSpPr/>
          <p:nvPr/>
        </p:nvSpPr>
        <p:spPr>
          <a:xfrm>
            <a:off x="1171347" y="3341286"/>
            <a:ext cx="368116" cy="289553"/>
          </a:xfrm>
          <a:prstGeom prst="rect">
            <a:avLst/>
          </a:prstGeom>
          <a:noFill/>
          <a:ln/>
        </p:spPr>
        <p:txBody>
          <a:bodyPr wrap="none" lIns="0" tIns="0" rIns="0" bIns="0" rtlCol="0" anchor="t"/>
          <a:lstStyle/>
          <a:p>
            <a:pPr algn="l" indent="0" marL="0">
              <a:lnSpc>
                <a:spcPts val="2280"/>
              </a:lnSpc>
              <a:buNone/>
            </a:pPr>
            <a:r>
              <a:rPr lang="en-US" sz="1900" dirty="0">
                <a:solidFill>
                  <a:srgbClr val="FFFFFF"/>
                </a:solidFill>
                <a:latin typeface="Share Tech Mono" pitchFamily="34" charset="0"/>
                <a:ea typeface="Share Tech Mono" pitchFamily="34" charset="-122"/>
                <a:cs typeface="Share Tech Mono" pitchFamily="34" charset="-120"/>
              </a:rPr>
              <a:t>02</a:t>
            </a:r>
            <a:endParaRPr lang="en-US" sz="1900" dirty="0"/>
          </a:p>
        </p:txBody>
      </p:sp>
      <p:sp>
        <p:nvSpPr>
          <p:cNvPr id="10" name="Text 7"/>
          <p:cNvSpPr/>
          <p:nvPr/>
        </p:nvSpPr>
        <p:spPr>
          <a:xfrm>
            <a:off x="1866853" y="3257469"/>
            <a:ext cx="5212378" cy="577836"/>
          </a:xfrm>
          <a:prstGeom prst="rect">
            <a:avLst/>
          </a:prstGeom>
          <a:noFill/>
          <a:ln/>
        </p:spPr>
        <p:txBody>
          <a:bodyPr wrap="none" lIns="0" tIns="0" rIns="0" bIns="0" rtlCol="0" anchor="t"/>
          <a:lstStyle/>
          <a:p>
            <a:pPr algn="l" indent="0" marL="0">
              <a:lnSpc>
                <a:spcPts val="3600"/>
              </a:lnSpc>
              <a:buNone/>
            </a:pPr>
            <a:r>
              <a:rPr lang="en-US" sz="3000" dirty="0">
                <a:solidFill>
                  <a:srgbClr val="FFFFFF"/>
                </a:solidFill>
                <a:latin typeface="Anton" pitchFamily="34" charset="0"/>
                <a:ea typeface="Anton" pitchFamily="34" charset="-122"/>
                <a:cs typeface="Anton" pitchFamily="34" charset="-120"/>
              </a:rPr>
              <a:t>ANOTA CADA PREGUNTA REPETIDA</a:t>
            </a:r>
            <a:endParaRPr lang="en-US" sz="3000" dirty="0"/>
          </a:p>
        </p:txBody>
      </p:sp>
      <p:sp>
        <p:nvSpPr>
          <p:cNvPr id="11" name="Shape 8"/>
          <p:cNvSpPr/>
          <p:nvPr/>
        </p:nvSpPr>
        <p:spPr>
          <a:xfrm>
            <a:off x="952476" y="4089298"/>
            <a:ext cx="698483" cy="698483"/>
          </a:xfrm>
          <a:prstGeom prst="roundRect">
            <a:avLst>
              <a:gd name="adj" fmla="val 45455"/>
            </a:avLst>
          </a:prstGeom>
          <a:solidFill>
            <a:srgbClr val="06183A"/>
          </a:solidFill>
          <a:ln/>
        </p:spPr>
      </p:sp>
      <p:sp>
        <p:nvSpPr>
          <p:cNvPr id="12" name="Text 9"/>
          <p:cNvSpPr/>
          <p:nvPr/>
        </p:nvSpPr>
        <p:spPr>
          <a:xfrm>
            <a:off x="1171347" y="4293763"/>
            <a:ext cx="368116" cy="289553"/>
          </a:xfrm>
          <a:prstGeom prst="rect">
            <a:avLst/>
          </a:prstGeom>
          <a:noFill/>
          <a:ln/>
        </p:spPr>
        <p:txBody>
          <a:bodyPr wrap="none" lIns="0" tIns="0" rIns="0" bIns="0" rtlCol="0" anchor="t"/>
          <a:lstStyle/>
          <a:p>
            <a:pPr algn="l" indent="0" marL="0">
              <a:lnSpc>
                <a:spcPts val="2280"/>
              </a:lnSpc>
              <a:buNone/>
            </a:pPr>
            <a:r>
              <a:rPr lang="en-US" sz="1900" dirty="0">
                <a:solidFill>
                  <a:srgbClr val="FFFFFF"/>
                </a:solidFill>
                <a:latin typeface="Share Tech Mono" pitchFamily="34" charset="0"/>
                <a:ea typeface="Share Tech Mono" pitchFamily="34" charset="-122"/>
                <a:cs typeface="Share Tech Mono" pitchFamily="34" charset="-120"/>
              </a:rPr>
              <a:t>03</a:t>
            </a:r>
            <a:endParaRPr lang="en-US" sz="1900" dirty="0"/>
          </a:p>
        </p:txBody>
      </p:sp>
      <p:sp>
        <p:nvSpPr>
          <p:cNvPr id="13" name="Text 10"/>
          <p:cNvSpPr/>
          <p:nvPr/>
        </p:nvSpPr>
        <p:spPr>
          <a:xfrm>
            <a:off x="1866853" y="4209945"/>
            <a:ext cx="4424633" cy="577836"/>
          </a:xfrm>
          <a:prstGeom prst="rect">
            <a:avLst/>
          </a:prstGeom>
          <a:noFill/>
          <a:ln/>
        </p:spPr>
        <p:txBody>
          <a:bodyPr wrap="none" lIns="0" tIns="0" rIns="0" bIns="0" rtlCol="0" anchor="t"/>
          <a:lstStyle/>
          <a:p>
            <a:pPr algn="l" indent="0" marL="0">
              <a:lnSpc>
                <a:spcPts val="3600"/>
              </a:lnSpc>
              <a:buNone/>
            </a:pPr>
            <a:r>
              <a:rPr lang="en-US" sz="3000" dirty="0">
                <a:solidFill>
                  <a:srgbClr val="FFFFFF"/>
                </a:solidFill>
                <a:latin typeface="Anton" pitchFamily="34" charset="0"/>
                <a:ea typeface="Anton" pitchFamily="34" charset="-122"/>
                <a:cs typeface="Anton" pitchFamily="34" charset="-120"/>
              </a:rPr>
              <a:t>PRUEBA UN /GOAL CON TOPE</a:t>
            </a:r>
            <a:endParaRPr lang="en-US" sz="3000" dirty="0"/>
          </a:p>
        </p:txBody>
      </p:sp>
      <p:sp>
        <p:nvSpPr>
          <p:cNvPr id="14" name="Text 11"/>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15" name="Text 12"/>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93A4C2"/>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55000"/>
                  </a:srgbClr>
                </a:solidFill>
                <a:latin typeface="Share Tech Mono" pitchFamily="34" charset="0"/>
                <a:ea typeface="Share Tech Mono" pitchFamily="34" charset="-122"/>
                <a:cs typeface="Share Tech Mono"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Kori, mascota del Student Community Day">    </p:cNvPr>
          <p:cNvPicPr>
            <a:picLocks noChangeAspect="1"/>
          </p:cNvPicPr>
          <p:nvPr/>
        </p:nvPicPr>
        <p:blipFill>
          <a:blip r:embed="rId1"/>
          <a:stretch>
            <a:fillRect/>
          </a:stretch>
        </p:blipFill>
        <p:spPr>
          <a:xfrm>
            <a:off x="1079473" y="2509477"/>
            <a:ext cx="2285943" cy="3395875"/>
          </a:xfrm>
          <a:prstGeom prst="rect">
            <a:avLst/>
          </a:prstGeom>
        </p:spPr>
      </p:pic>
      <p:sp>
        <p:nvSpPr>
          <p:cNvPr id="3" name="Text 0"/>
          <p:cNvSpPr/>
          <p:nvPr/>
        </p:nvSpPr>
        <p:spPr>
          <a:xfrm>
            <a:off x="4286143" y="1215836"/>
            <a:ext cx="3012047" cy="182875"/>
          </a:xfrm>
          <a:prstGeom prst="rect">
            <a:avLst/>
          </a:prstGeom>
          <a:noFill/>
          <a:ln/>
        </p:spPr>
        <p:txBody>
          <a:bodyPr wrap="none" lIns="0" tIns="0" rIns="0" bIns="0" rtlCol="0" anchor="t"/>
          <a:lstStyle/>
          <a:p>
            <a:pPr algn="l" indent="0" marL="0">
              <a:lnSpc>
                <a:spcPts val="1440"/>
              </a:lnSpc>
              <a:buNone/>
            </a:pPr>
            <a:r>
              <a:rPr lang="en-US" sz="1200" spc="380" kern="0" dirty="0">
                <a:solidFill>
                  <a:srgbClr val="FFFFFF">
                    <a:alpha val="90000"/>
                  </a:srgbClr>
                </a:solidFill>
                <a:latin typeface="Share Tech Mono" pitchFamily="34" charset="0"/>
                <a:ea typeface="Share Tech Mono" pitchFamily="34" charset="-122"/>
                <a:cs typeface="Share Tech Mono" pitchFamily="34" charset="-120"/>
              </a:rPr>
              <a:t>GRACIAS · COCHABAMBA</a:t>
            </a:r>
            <a:endParaRPr lang="en-US" sz="1200" dirty="0"/>
          </a:p>
        </p:txBody>
      </p:sp>
      <p:sp>
        <p:nvSpPr>
          <p:cNvPr id="4" name="Text 1"/>
          <p:cNvSpPr/>
          <p:nvPr/>
        </p:nvSpPr>
        <p:spPr>
          <a:xfrm>
            <a:off x="4063898" y="1662611"/>
            <a:ext cx="7390580" cy="2337734"/>
          </a:xfrm>
          <a:prstGeom prst="rect">
            <a:avLst/>
          </a:prstGeom>
          <a:noFill/>
          <a:ln/>
        </p:spPr>
        <p:txBody>
          <a:bodyPr wrap="square" lIns="0" tIns="0" rIns="0" bIns="0" rtlCol="0" anchor="t"/>
          <a:lstStyle/>
          <a:p>
            <a:pPr algn="l" indent="0" marL="0">
              <a:lnSpc>
                <a:spcPts val="5300"/>
              </a:lnSpc>
              <a:buNone/>
            </a:pPr>
            <a:r>
              <a:rPr lang="en-US" sz="5200" spc="30" kern="0" dirty="0">
                <a:solidFill>
                  <a:srgbClr val="FFFFFF"/>
                </a:solidFill>
                <a:latin typeface="Anton" pitchFamily="34" charset="0"/>
                <a:ea typeface="Anton" pitchFamily="34" charset="-122"/>
                <a:cs typeface="Anton" pitchFamily="34" charset="-120"/>
              </a:rPr>
              <a:t>PASAS DE ESCRIBIR CÓDIGO A DISEÑAR EL </a:t>
            </a:r>
            <a:r>
              <a:rPr lang="en-US" sz="5200" spc="30" kern="0" dirty="0">
                <a:solidFill>
                  <a:srgbClr val="FFFFFF"/>
                </a:solidFill>
                <a:latin typeface="Anton" pitchFamily="34" charset="0"/>
                <a:ea typeface="Anton" pitchFamily="34" charset="-122"/>
                <a:cs typeface="Anton" pitchFamily="34" charset="-120"/>
              </a:rPr>
              <a:t>SISTEMA QUE LO ESCRIBE</a:t>
            </a:r>
            <a:endParaRPr lang="en-US" sz="5200" dirty="0"/>
          </a:p>
        </p:txBody>
      </p:sp>
      <p:sp>
        <p:nvSpPr>
          <p:cNvPr id="5" name="Text 2"/>
          <p:cNvSpPr/>
          <p:nvPr/>
        </p:nvSpPr>
        <p:spPr>
          <a:xfrm>
            <a:off x="4063898" y="3962995"/>
            <a:ext cx="7390580" cy="914377"/>
          </a:xfrm>
          <a:prstGeom prst="rect">
            <a:avLst/>
          </a:prstGeom>
          <a:noFill/>
          <a:ln/>
        </p:spPr>
        <p:txBody>
          <a:bodyPr wrap="square" lIns="0" tIns="0" rIns="0" bIns="0" rtlCol="0" anchor="t"/>
          <a:lstStyle/>
          <a:p>
            <a:pPr algn="l" indent="0" marL="0">
              <a:lnSpc>
                <a:spcPts val="2400"/>
              </a:lnSpc>
              <a:buNone/>
            </a:pPr>
            <a:r>
              <a:rPr lang="en-US" sz="1500" dirty="0">
                <a:solidFill>
                  <a:srgbClr val="C9D6EA"/>
                </a:solidFill>
                <a:latin typeface="Arial" pitchFamily="34" charset="0"/>
                <a:ea typeface="Arial" pitchFamily="34" charset="-122"/>
                <a:cs typeface="Arial" pitchFamily="34" charset="-120"/>
              </a:rPr>
              <a:t>Ubica tu nivel y sube uno</a:t>
            </a:r>
            <a:endParaRPr lang="en-US" sz="1500" dirty="0"/>
          </a:p>
          <a:p>
            <a:pPr algn="l" indent="0" marL="0">
              <a:lnSpc>
                <a:spcPts val="2400"/>
              </a:lnSpc>
              <a:buNone/>
            </a:pPr>
            <a:r>
              <a:rPr lang="en-US" sz="1500" dirty="0">
                <a:solidFill>
                  <a:srgbClr val="C9D6EA"/>
                </a:solidFill>
                <a:latin typeface="Arial" pitchFamily="34" charset="0"/>
                <a:ea typeface="Arial" pitchFamily="34" charset="-122"/>
                <a:cs typeface="Arial" pitchFamily="34" charset="-120"/>
              </a:rPr>
              <a:t>Escribe el entorno antes que el código</a:t>
            </a:r>
            <a:endParaRPr lang="en-US" sz="1500" dirty="0"/>
          </a:p>
          <a:p>
            <a:pPr algn="l" indent="0" marL="0">
              <a:lnSpc>
                <a:spcPts val="2400"/>
              </a:lnSpc>
              <a:buNone/>
            </a:pPr>
            <a:r>
              <a:rPr lang="en-US" sz="1500" dirty="0">
                <a:solidFill>
                  <a:srgbClr val="C9D6EA"/>
                </a:solidFill>
                <a:latin typeface="Arial" pitchFamily="34" charset="0"/>
                <a:ea typeface="Arial" pitchFamily="34" charset="-122"/>
                <a:cs typeface="Arial" pitchFamily="34" charset="-120"/>
              </a:rPr>
              <a:t>Diseña loops, orquesta, decide tú</a:t>
            </a:r>
            <a:endParaRPr lang="en-US" sz="1500" dirty="0"/>
          </a:p>
        </p:txBody>
      </p:sp>
      <p:sp>
        <p:nvSpPr>
          <p:cNvPr id="6" name="Text 3"/>
          <p:cNvSpPr/>
          <p:nvPr/>
        </p:nvSpPr>
        <p:spPr>
          <a:xfrm>
            <a:off x="4063898" y="5097077"/>
            <a:ext cx="4646322" cy="259074"/>
          </a:xfrm>
          <a:prstGeom prst="rect">
            <a:avLst/>
          </a:prstGeom>
          <a:noFill/>
          <a:ln/>
        </p:spPr>
        <p:txBody>
          <a:bodyPr wrap="none" lIns="0" tIns="0" rIns="0" bIns="0" rtlCol="0" anchor="t"/>
          <a:lstStyle/>
          <a:p>
            <a:pPr algn="l" indent="0" marL="0">
              <a:lnSpc>
                <a:spcPts val="2040"/>
              </a:lnSpc>
              <a:buNone/>
            </a:pPr>
            <a:r>
              <a:rPr lang="en-US" sz="1700" dirty="0">
                <a:solidFill>
                  <a:srgbClr val="1FD3F5"/>
                </a:solidFill>
                <a:latin typeface="Share Tech Mono" pitchFamily="34" charset="0"/>
                <a:ea typeface="Share Tech Mono" pitchFamily="34" charset="-122"/>
                <a:cs typeface="Share Tech Mono" pitchFamily="34" charset="-120"/>
              </a:rPr>
              <a:t>IG @tokidev.ai · GitHub @tokidev-ai</a:t>
            </a:r>
            <a:endParaRPr lang="en-US" sz="1700" dirty="0"/>
          </a:p>
        </p:txBody>
      </p:sp>
      <p:sp>
        <p:nvSpPr>
          <p:cNvPr id="7" name="Text 4"/>
          <p:cNvSpPr/>
          <p:nvPr/>
        </p:nvSpPr>
        <p:spPr>
          <a:xfrm>
            <a:off x="952476" y="6088228"/>
            <a:ext cx="3693671"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1FD3F5">
                    <a:alpha val="80000"/>
                  </a:srgbClr>
                </a:solidFill>
                <a:latin typeface="Share Tech Mono" pitchFamily="34" charset="0"/>
                <a:ea typeface="Share Tech Mono" pitchFamily="34" charset="-122"/>
                <a:cs typeface="Share Tech Mono" pitchFamily="34" charset="-120"/>
              </a:rPr>
              <a:t>STUDENT COMMUNITY DAY · COCHABAMBA</a:t>
            </a:r>
            <a:endParaRPr lang="en-US" sz="1100" dirty="0"/>
          </a:p>
        </p:txBody>
      </p:sp>
      <p:sp>
        <p:nvSpPr>
          <p:cNvPr id="8" name="Text 5"/>
          <p:cNvSpPr/>
          <p:nvPr/>
        </p:nvSpPr>
        <p:spPr>
          <a:xfrm>
            <a:off x="9339327" y="6088228"/>
            <a:ext cx="2204078" cy="167636"/>
          </a:xfrm>
          <a:prstGeom prst="rect">
            <a:avLst/>
          </a:prstGeom>
          <a:noFill/>
          <a:ln/>
        </p:spPr>
        <p:txBody>
          <a:bodyPr wrap="none" lIns="0" tIns="0" rIns="0" bIns="0" rtlCol="0" anchor="t"/>
          <a:lstStyle/>
          <a:p>
            <a:pPr algn="l" indent="0" marL="0">
              <a:lnSpc>
                <a:spcPts val="1320"/>
              </a:lnSpc>
              <a:buNone/>
            </a:pPr>
            <a:r>
              <a:rPr lang="en-US" sz="1100" spc="150" kern="0" dirty="0">
                <a:solidFill>
                  <a:srgbClr val="FFFFFF">
                    <a:alpha val="60000"/>
                  </a:srgbClr>
                </a:solidFill>
                <a:latin typeface="Share Tech Mono" pitchFamily="34" charset="0"/>
                <a:ea typeface="Share Tech Mono" pitchFamily="34" charset="-122"/>
                <a:cs typeface="Share Tech Mono" pitchFamily="34" charset="-120"/>
              </a:rPr>
              <a:t>RODRIGO TORRICO · </a:t>
            </a:r>
            <a:r>
              <a:rPr lang="en-US" sz="1100" b="1" spc="150" kern="0" dirty="0">
                <a:solidFill>
                  <a:srgbClr val="FFFFFF">
                    <a:alpha val="80000"/>
                  </a:srgbClr>
                </a:solidFill>
                <a:latin typeface="Share Tech Mono" pitchFamily="34" charset="0"/>
                <a:ea typeface="Share Tech Mono" pitchFamily="34" charset="-122"/>
                <a:cs typeface="Share Tech Mono" pitchFamily="34" charset="-120"/>
              </a:rPr>
              <a:t>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pptx-src</dc:title>
  <dc:subject>PptxGenJS Presentation</dc:subject>
  <dc:creator>PptxGenJS</dc:creator>
  <cp:lastModifiedBy>PptxGenJS</cp:lastModifiedBy>
  <cp:revision>1</cp:revision>
  <dcterms:created xsi:type="dcterms:W3CDTF">2026-10-10T13:42:30Z</dcterms:created>
  <dcterms:modified xsi:type="dcterms:W3CDTF">2026-10-10T13:42:30Z</dcterms:modified>
</cp:coreProperties>
</file>